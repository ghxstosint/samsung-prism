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271fc52ad5c4dd7" /><Relationship Type="http://schemas.openxmlformats.org/officeDocument/2006/relationships/extended-properties" Target="/docProps/app.xml" Id="R2c6dc9a1d6014ca8" /><Relationship Type="http://schemas.openxmlformats.org/officeDocument/2006/relationships/officeDocument" Target="/ppt/presentation.xml" Id="R39efef6b2eec4573" /></Relationships>
</file>

<file path=ppt/presentation.xml><?xml version="1.0" encoding="utf-8"?>
<p:presentation xmlns:p="http://schemas.openxmlformats.org/presentationml/2006/main">
  <p:sldMasterIdLst>
    <p:sldMasterId xmlns:r="http://schemas.openxmlformats.org/officeDocument/2006/relationships" id="2147483648" r:id="R0a4de574140342bd"/>
  </p:sldMasterIdLst>
  <p:notesMasterIdLst>
    <p:notesMasterId xmlns:r="http://schemas.openxmlformats.org/officeDocument/2006/relationships" r:id="Rdd4a46294aea425a"/>
  </p:notesMasterIdLst>
  <p:sldIdLst>
    <p:sldId xmlns:r="http://schemas.openxmlformats.org/officeDocument/2006/relationships" id="256" r:id="Rd65c2a88c2e24de7"/>
    <p:sldId xmlns:r="http://schemas.openxmlformats.org/officeDocument/2006/relationships" id="257" r:id="Rf32c3d639e534639"/>
    <p:sldId xmlns:r="http://schemas.openxmlformats.org/officeDocument/2006/relationships" id="258" r:id="Rb1cf7fa4d2b54c9d"/>
    <p:sldId xmlns:r="http://schemas.openxmlformats.org/officeDocument/2006/relationships" id="259" r:id="Rc88840c2a7b24c0e"/>
    <p:sldId xmlns:r="http://schemas.openxmlformats.org/officeDocument/2006/relationships" id="260" r:id="R48dfb05497b34900"/>
    <p:sldId xmlns:r="http://schemas.openxmlformats.org/officeDocument/2006/relationships" id="261" r:id="Rd668500c3b3244ff"/>
    <p:sldId xmlns:r="http://schemas.openxmlformats.org/officeDocument/2006/relationships" id="262" r:id="R80c7b66cf2a94431"/>
    <p:sldId xmlns:r="http://schemas.openxmlformats.org/officeDocument/2006/relationships" id="263" r:id="Ra62b4560b7a346be"/>
    <p:sldId xmlns:r="http://schemas.openxmlformats.org/officeDocument/2006/relationships" id="264" r:id="Rb9aadda883a140b6"/>
    <p:sldId xmlns:r="http://schemas.openxmlformats.org/officeDocument/2006/relationships" id="265" r:id="R7e408dee355c4229"/>
    <p:sldId xmlns:r="http://schemas.openxmlformats.org/officeDocument/2006/relationships" id="266" r:id="R210f0fd703b448df"/>
    <p:sldId xmlns:r="http://schemas.openxmlformats.org/officeDocument/2006/relationships" id="267" r:id="R5831f571b7bf420d"/>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b5a700cd7aff48b9" /><Relationship Type="http://schemas.openxmlformats.org/officeDocument/2006/relationships/slideMaster" Target="/ppt/slideMasters/slideMaster1.xml" Id="R0a4de574140342bd" /><Relationship Type="http://schemas.openxmlformats.org/officeDocument/2006/relationships/notesMaster" Target="/ppt/notesMasters/notesMaster1.xml" Id="Rdd4a46294aea425a" /><Relationship Type="http://schemas.openxmlformats.org/officeDocument/2006/relationships/presProps" Target="/ppt/presProps.xml" Id="R3f20f3c1e02f49b8" /><Relationship Type="http://schemas.openxmlformats.org/officeDocument/2006/relationships/viewProps" Target="/ppt/viewProps.xml" Id="R43a276af91bd41b4" /><Relationship Type="http://schemas.openxmlformats.org/officeDocument/2006/relationships/tableStyles" Target="/ppt/tableStyles.xml" Id="R115d390e34a24d71" /><Relationship Type="http://schemas.openxmlformats.org/officeDocument/2006/relationships/slide" Target="/ppt/slides/slide1.xml" Id="Rd65c2a88c2e24de7" /><Relationship Type="http://schemas.openxmlformats.org/officeDocument/2006/relationships/slide" Target="/ppt/slides/slide2.xml" Id="Rf32c3d639e534639" /><Relationship Type="http://schemas.openxmlformats.org/officeDocument/2006/relationships/slide" Target="/ppt/slides/slide3.xml" Id="Rb1cf7fa4d2b54c9d" /><Relationship Type="http://schemas.openxmlformats.org/officeDocument/2006/relationships/slide" Target="/ppt/slides/slide4.xml" Id="Rc88840c2a7b24c0e" /><Relationship Type="http://schemas.openxmlformats.org/officeDocument/2006/relationships/slide" Target="/ppt/slides/slide5.xml" Id="R48dfb05497b34900" /><Relationship Type="http://schemas.openxmlformats.org/officeDocument/2006/relationships/slide" Target="/ppt/slides/slide6.xml" Id="Rd668500c3b3244ff" /><Relationship Type="http://schemas.openxmlformats.org/officeDocument/2006/relationships/slide" Target="/ppt/slides/slide7.xml" Id="R80c7b66cf2a94431" /><Relationship Type="http://schemas.openxmlformats.org/officeDocument/2006/relationships/slide" Target="/ppt/slides/slide8.xml" Id="Ra62b4560b7a346be" /><Relationship Type="http://schemas.openxmlformats.org/officeDocument/2006/relationships/slide" Target="/ppt/slides/slide9.xml" Id="Rb9aadda883a140b6" /><Relationship Type="http://schemas.openxmlformats.org/officeDocument/2006/relationships/slide" Target="/ppt/slides/slide10.xml" Id="R7e408dee355c4229" /><Relationship Type="http://schemas.openxmlformats.org/officeDocument/2006/relationships/slide" Target="/ppt/slides/slide11.xml" Id="R210f0fd703b448df" /><Relationship Type="http://schemas.openxmlformats.org/officeDocument/2006/relationships/slide" Target="/ppt/slides/slide12.xml" Id="R5831f571b7bf420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9a5237f25114be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ca046862a484f70" /><Relationship Type="http://schemas.openxmlformats.org/officeDocument/2006/relationships/notesMaster" Target="/ppt/notesMasters/notesMaster1.xml" Id="Rbfc321c8ef1a4651" /></Relationships>
</file>

<file path=ppt/notesSlides/_rels/notesSlide2.xml.rels>&#65279;<?xml version="1.0" encoding="utf-8"?><Relationships xmlns="http://schemas.openxmlformats.org/package/2006/relationships"><Relationship Type="http://schemas.openxmlformats.org/officeDocument/2006/relationships/slide" Target="/ppt/slides/slide2.xml" Id="R1b5b2600a1754cb3" /><Relationship Type="http://schemas.openxmlformats.org/officeDocument/2006/relationships/notesMaster" Target="/ppt/notesMasters/notesMaster1.xml" Id="Rd9ff82b544b24a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4407c7719c4aae" /><Relationship Type="http://schemas.openxmlformats.org/officeDocument/2006/relationships/notesMaster" Target="/ppt/notesMasters/notesMaster1.xml" Id="Rd03ce6731bf8456d" /></Relationships>
</file>

<file path=ppt/notesSlides/_rels/notesSlide4.xml.rels>&#65279;<?xml version="1.0" encoding="utf-8"?><Relationships xmlns="http://schemas.openxmlformats.org/package/2006/relationships"><Relationship Type="http://schemas.openxmlformats.org/officeDocument/2006/relationships/slide" Target="/ppt/slides/slide4.xml" Id="R0d86d3fcc2be4917" /><Relationship Type="http://schemas.openxmlformats.org/officeDocument/2006/relationships/notesMaster" Target="/ppt/notesMasters/notesMaster1.xml" Id="R3266afe8c18444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ca12302819d64895" /><Relationship Type="http://schemas.openxmlformats.org/officeDocument/2006/relationships/notesMaster" Target="/ppt/notesMasters/notesMaster1.xml" Id="Rf36d116763e645a3" /></Relationships>
</file>

<file path=ppt/notesSlides/_rels/notesSlide6.xml.rels>&#65279;<?xml version="1.0" encoding="utf-8"?><Relationships xmlns="http://schemas.openxmlformats.org/package/2006/relationships"><Relationship Type="http://schemas.openxmlformats.org/officeDocument/2006/relationships/slide" Target="/ppt/slides/slide6.xml" Id="R45df09f613f54aa7" /><Relationship Type="http://schemas.openxmlformats.org/officeDocument/2006/relationships/notesMaster" Target="/ppt/notesMasters/notesMaster1.xml" Id="R53011cb1db2a4463" /></Relationships>
</file>

<file path=ppt/notesSlides/_rels/notesSlide7.xml.rels>&#65279;<?xml version="1.0" encoding="utf-8"?><Relationships xmlns="http://schemas.openxmlformats.org/package/2006/relationships"><Relationship Type="http://schemas.openxmlformats.org/officeDocument/2006/relationships/slide" Target="/ppt/slides/slide7.xml" Id="Reb215bde50774685" /><Relationship Type="http://schemas.openxmlformats.org/officeDocument/2006/relationships/notesMaster" Target="/ppt/notesMasters/notesMaster1.xml" Id="R20e4f48eed9b4992" /></Relationships>
</file>

<file path=ppt/notesSlides/_rels/notesSlide8.xml.rels>&#65279;<?xml version="1.0" encoding="utf-8"?><Relationships xmlns="http://schemas.openxmlformats.org/package/2006/relationships"><Relationship Type="http://schemas.openxmlformats.org/officeDocument/2006/relationships/slide" Target="/ppt/slides/slide8.xml" Id="Rd5e685701b354d2c" /><Relationship Type="http://schemas.openxmlformats.org/officeDocument/2006/relationships/notesMaster" Target="/ppt/notesMasters/notesMaster1.xml" Id="R9bc9da676cc94eeb" /></Relationships>
</file>

<file path=ppt/notesSlides/_rels/notesSlide9.xml.rels>&#65279;<?xml version="1.0" encoding="utf-8"?><Relationships xmlns="http://schemas.openxmlformats.org/package/2006/relationships"><Relationship Type="http://schemas.openxmlformats.org/officeDocument/2006/relationships/slide" Target="/ppt/slides/slide9.xml" Id="Rfa6f017cc3f3484f" /><Relationship Type="http://schemas.openxmlformats.org/officeDocument/2006/relationships/notesMaster" Target="/ppt/notesMasters/notesMaster1.xml" Id="R9e55949c9dd94eb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a1928efc6bb43c7" /><Relationship Type="http://schemas.openxmlformats.org/officeDocument/2006/relationships/notesMaster" Target="/ppt/notesMasters/notesMaster1.xml" Id="Rfd59c7401d4847c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b0ed6e145484e05" /><Relationship Type="http://schemas.openxmlformats.org/officeDocument/2006/relationships/notesMaster" Target="/ppt/notesMasters/notesMaster1.xml" Id="R62e6960f46f14d9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2a3ed81f82e4631" /><Relationship Type="http://schemas.openxmlformats.org/officeDocument/2006/relationships/notesMaster" Target="/ppt/notesMasters/notesMaster1.xml" Id="R30541d9087ab446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team fields before submission. Official requirements source: Samsung PRISM Generative AI Hackathon 3rd Edition overview, pages 11–13.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Theme 2 guide, sections 1–6; supplied hackathon overview, page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Theme 2 guide: zero URL leaks, catalog integrity, no hallucinated steps, pure JSON delivery, and graceful fallbacks. RAG grounding: Lewis et al., NeurIPS 2020, https://papers.nips.cc/paper/2020/hash/6b493230205f780e1bc26945df7481e5-Abstract.html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basis: hybrid retrieval and RRF, Cormack et al., SIGIR 2009, https://doi.org/10.1145/1571941.1572114; constrained decoding, Scholak et al., EMNLP 2021, https://aclanthology.org/2021.emnlp-main.779/; zero-shot dense retrieval caveats, Ren et al., Findings of EMNLP 2023, https://aclanthology.org/2023.findings-emnlp.1057/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is from the working local prototype. Suggested video examples: multi-issue screen flicker + battery drain, cached battery paraphrase, unknown complaint.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core demo behavior works without external model access. Environment variables can configure an OpenAI-compatible model endpoint for the proposal layer.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Targets come from the supplied Theme 2 guide. The 15-minute baseline and millions-of-interactions scale come from the same source. No savings claim is made before official-volume testing.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results generated by scripts/benchmark.py on 33 paraphrases from the included demonstration fixtures. Do not compare these figures with hidden or official data. Semantic caching context: Liu et al., ICLR 2026 submission/paper, https://openreview.net/pdf/3b13fe693b16e8f2abb20689166e3d10217afe15.pdf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submission deadline and release-tag requirement come from the supplied hackathon overview, pages 12–13. Required tag: PRISM_GENAI_HACKATHON_Y2026.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Feasibility evidence comes from the included application, Docker configuration, 13-test suite, benchmark harness, and official-data adapter. Viability claims describe the implemented architecture; no unverified savings claim is made.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https://github.com/GhxstOSINT/Samsung-Prism. Release tag verified on the remote. Remaining requirements come from the supplied hackathon overview, pages 11–13.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GitHub: https://github.com/GhxstOSINT/Samsung-Prism. Add the final demo link to the cover and submission form before sending.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d305b976a83448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913e65279164a1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c523f42d4104fe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1e1a340eedb43b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5a2c76c02e5425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02a3faf793f45e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3b0a4f29f594b9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e7ead3664c5496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cca43078a674b2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e988ffaeed747df"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680a55247c243dd"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5931159c7bb8403c"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A2CFE64-7CE6-4299-B8FE-939866A3EB6B}"/>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09E4360C-492F-4E2E-B967-599B2BD31D70}"/>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56870CDB-78C3-4602-B35C-A826CBF2091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AF27EEE-1B67-445E-AA5D-351EC91D1DEB}" type="datetimeFigureOut">
              <a:t>08-09-2026</a:t>
            </a:fld>
            <a:endParaRPr/>
          </a:p>
        </p:txBody>
      </p:sp>
      <p:sp>
        <p:nvSpPr>
          <p:cNvPr id="5" name="Footer Placeholder 4">
            <a:extLst xmlns:a="http://schemas.openxmlformats.org/drawingml/2006/main">
              <a:ext uri="{FF2B5EF4-FFF2-40B4-BE49-F238E27FC236}">
                <a16:creationId xmlns:a16="http://schemas.microsoft.com/office/drawing/2014/main" id="{F585EF81-E96A-4C8D-A4F0-A9DF05C49CC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9FA2448-68BE-42AE-8001-48ECE62DC43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F5B04A4-2082-4D7E-8466-9BA22C990A7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D2C5E08-CE8A-45BE-8C3E-C04A49CC8A6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65FCCB0C-95AB-4F7A-955D-2DC18750BFD4}"/>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FE96DA85-2FDE-4136-B9F6-AF0965475E5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AF27EEE-1B67-445E-AA5D-351EC91D1DEB}" type="datetimeFigureOut">
              <a:t>08-09-2026</a:t>
            </a:fld>
            <a:endParaRPr/>
          </a:p>
        </p:txBody>
      </p:sp>
      <p:sp>
        <p:nvSpPr>
          <p:cNvPr id="5" name="Footer Placeholder 4">
            <a:extLst xmlns:a="http://schemas.openxmlformats.org/drawingml/2006/main">
              <a:ext uri="{FF2B5EF4-FFF2-40B4-BE49-F238E27FC236}">
                <a16:creationId xmlns:a16="http://schemas.microsoft.com/office/drawing/2014/main" id="{299B0367-ACE7-48B9-82C8-A7BFD1F98E9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C09A210-6017-4F71-9E78-B2C329B4A7E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F5B04A4-2082-4D7E-8466-9BA22C990A78}"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1CAE6C5-6752-4963-B842-280808B201DB}"/>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FEA6DFC-697D-4605-86C0-8572E022BEC1}"/>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CA341469-A18C-498E-BACC-28BCBFE904B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AF27EEE-1B67-445E-AA5D-351EC91D1DEB}" type="datetimeFigureOut">
              <a:t>08-09-2026</a:t>
            </a:fld>
            <a:endParaRPr/>
          </a:p>
        </p:txBody>
      </p:sp>
      <p:sp>
        <p:nvSpPr>
          <p:cNvPr id="5" name="Footer Placeholder 4">
            <a:extLst xmlns:a="http://schemas.openxmlformats.org/drawingml/2006/main">
              <a:ext uri="{FF2B5EF4-FFF2-40B4-BE49-F238E27FC236}">
                <a16:creationId xmlns:a16="http://schemas.microsoft.com/office/drawing/2014/main" id="{FAED5D3B-1983-426F-A1AE-7470C43BB0E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135ABB1-45F2-4FEA-BB5A-3B053892DBC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F5B04A4-2082-4D7E-8466-9BA22C990A78}"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2A3F4AE-F142-401B-A5D1-4A52FF92CA0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BC7C9BD1-2876-4C52-83CF-1CBA9D931B3C}"/>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6CE624D8-76A7-478F-ACA3-5749DEFD0E0C}"/>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0F29A939-0957-4E96-B38D-0B2E39D413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AF27EEE-1B67-445E-AA5D-351EC91D1DEB}" type="datetimeFigureOut">
              <a:t>08-09-2026</a:t>
            </a:fld>
            <a:endParaRPr/>
          </a:p>
        </p:txBody>
      </p:sp>
      <p:sp>
        <p:nvSpPr>
          <p:cNvPr id="6" name="Footer Placeholder 5">
            <a:extLst xmlns:a="http://schemas.openxmlformats.org/drawingml/2006/main">
              <a:ext uri="{FF2B5EF4-FFF2-40B4-BE49-F238E27FC236}">
                <a16:creationId xmlns:a16="http://schemas.microsoft.com/office/drawing/2014/main" id="{C89D44E1-B8BA-490F-B30A-538CC4D48FF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184BB79-7CA5-414E-B5B6-6A8E9AEE4A9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F5B04A4-2082-4D7E-8466-9BA22C990A78}"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B586CE8-8BA4-4FB1-ACAA-E38F8ED7F745}"/>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A2570902-F321-482A-924A-FF9A87CA5D6E}"/>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885B6F67-E437-4FE8-851B-B016F33CFE99}"/>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37CE7897-2D17-49F8-8762-68F8D5794FB6}"/>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163AE8E8-43BB-400D-8934-6D6B21D3A58E}"/>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2FDB6608-03F3-45EF-80BD-C6E305C0712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AF27EEE-1B67-445E-AA5D-351EC91D1DEB}" type="datetimeFigureOut">
              <a:t>08-09-2026</a:t>
            </a:fld>
            <a:endParaRPr/>
          </a:p>
        </p:txBody>
      </p:sp>
      <p:sp>
        <p:nvSpPr>
          <p:cNvPr id="8" name="Footer Placeholder 7">
            <a:extLst xmlns:a="http://schemas.openxmlformats.org/drawingml/2006/main">
              <a:ext uri="{FF2B5EF4-FFF2-40B4-BE49-F238E27FC236}">
                <a16:creationId xmlns:a16="http://schemas.microsoft.com/office/drawing/2014/main" id="{E665D75D-3AD4-4D0E-A5BC-9000973FD8E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7706A546-DC61-467F-A112-3AC0277BB9A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F5B04A4-2082-4D7E-8466-9BA22C990A78}"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2CC8549-E392-4F05-B762-B5370E51C92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C1059880-A67D-4A24-9138-E937AE75075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AF27EEE-1B67-445E-AA5D-351EC91D1DEB}" type="datetimeFigureOut">
              <a:t>08-09-2026</a:t>
            </a:fld>
            <a:endParaRPr/>
          </a:p>
        </p:txBody>
      </p:sp>
      <p:sp>
        <p:nvSpPr>
          <p:cNvPr id="4" name="Footer Placeholder 3">
            <a:extLst xmlns:a="http://schemas.openxmlformats.org/drawingml/2006/main">
              <a:ext uri="{FF2B5EF4-FFF2-40B4-BE49-F238E27FC236}">
                <a16:creationId xmlns:a16="http://schemas.microsoft.com/office/drawing/2014/main" id="{01BF6EC7-BFAB-4137-9343-C66B7829AB5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8FA6B929-B579-4261-8171-35357AE9A33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F5B04A4-2082-4D7E-8466-9BA22C990A78}"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0CBAFEDF-BA35-4A7C-9388-604C048D57D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AF27EEE-1B67-445E-AA5D-351EC91D1DEB}" type="datetimeFigureOut">
              <a:t>08-09-2026</a:t>
            </a:fld>
            <a:endParaRPr/>
          </a:p>
        </p:txBody>
      </p:sp>
      <p:sp>
        <p:nvSpPr>
          <p:cNvPr id="3" name="Footer Placeholder 2">
            <a:extLst xmlns:a="http://schemas.openxmlformats.org/drawingml/2006/main">
              <a:ext uri="{FF2B5EF4-FFF2-40B4-BE49-F238E27FC236}">
                <a16:creationId xmlns:a16="http://schemas.microsoft.com/office/drawing/2014/main" id="{11C80271-5700-43CC-A9BA-B2AAB47B214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7EA712EA-BE6D-4AE5-B09E-215DE5B0EE9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F5B04A4-2082-4D7E-8466-9BA22C990A78}"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02A6235-A416-4C23-BE8E-8FC1CF0EC17E}"/>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B4A2C36B-7DDF-4371-9F0A-6E5B64554F5E}"/>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813FA19A-E15E-47EA-B9B9-5F7FD0AA0B7C}"/>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9E84724-CA93-4332-A03F-0909AC5249A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AF27EEE-1B67-445E-AA5D-351EC91D1DEB}" type="datetimeFigureOut">
              <a:t>08-09-2026</a:t>
            </a:fld>
            <a:endParaRPr/>
          </a:p>
        </p:txBody>
      </p:sp>
      <p:sp>
        <p:nvSpPr>
          <p:cNvPr id="6" name="Footer Placeholder 5">
            <a:extLst xmlns:a="http://schemas.openxmlformats.org/drawingml/2006/main">
              <a:ext uri="{FF2B5EF4-FFF2-40B4-BE49-F238E27FC236}">
                <a16:creationId xmlns:a16="http://schemas.microsoft.com/office/drawing/2014/main" id="{E403302F-D853-499A-BB91-3BD5366E677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34AD427-BF9D-4A47-AF08-E4983B90C6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F5B04A4-2082-4D7E-8466-9BA22C990A78}"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3C1B540-7747-44F5-A3A4-69F051F36320}"/>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FA4392B5-0943-4B18-9708-C9FA86F83539}"/>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547DFA04-BB4C-4DC0-9831-EB32549F5EAE}"/>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101BDBD-01E1-44D7-AB93-513FF196A2C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AF27EEE-1B67-445E-AA5D-351EC91D1DEB}" type="datetimeFigureOut">
              <a:t>08-09-2026</a:t>
            </a:fld>
            <a:endParaRPr/>
          </a:p>
        </p:txBody>
      </p:sp>
      <p:sp>
        <p:nvSpPr>
          <p:cNvPr id="6" name="Footer Placeholder 5">
            <a:extLst xmlns:a="http://schemas.openxmlformats.org/drawingml/2006/main">
              <a:ext uri="{FF2B5EF4-FFF2-40B4-BE49-F238E27FC236}">
                <a16:creationId xmlns:a16="http://schemas.microsoft.com/office/drawing/2014/main" id="{D87D7BDB-9CCD-44F3-A4FB-D4BAE589BE3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7ABC8D8A-A70C-4D57-8271-DCF5EEFC33A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F5B04A4-2082-4D7E-8466-9BA22C990A78}"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25A63EB-C66D-4D2D-9928-25D57CFDCDD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3D91A17B-5319-4265-82A2-5D286CFAFD86}"/>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E972F85-7902-4426-947E-3509F7A06CB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AF27EEE-1B67-445E-AA5D-351EC91D1DEB}" type="datetimeFigureOut">
              <a:t>08-09-2026</a:t>
            </a:fld>
            <a:endParaRPr/>
          </a:p>
        </p:txBody>
      </p:sp>
      <p:sp>
        <p:nvSpPr>
          <p:cNvPr id="5" name="Footer Placeholder 4">
            <a:extLst xmlns:a="http://schemas.openxmlformats.org/drawingml/2006/main">
              <a:ext uri="{FF2B5EF4-FFF2-40B4-BE49-F238E27FC236}">
                <a16:creationId xmlns:a16="http://schemas.microsoft.com/office/drawing/2014/main" id="{FD08658F-7DA3-40F3-B6FA-CF740F858EB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F6B0DE9-130B-4DA8-9A0C-06A295C9D82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F5B04A4-2082-4D7E-8466-9BA22C990A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954594E2-CBC8-4A0C-A110-E3B5A301CF62}"/>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8CFBD2EA-CB7C-4CAB-855D-57F791910445}"/>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D2348B0-3CBB-41FA-A8EC-5DFC833D7EC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AF27EEE-1B67-445E-AA5D-351EC91D1DEB}" type="datetimeFigureOut">
              <a:t>08-09-2026</a:t>
            </a:fld>
            <a:endParaRPr/>
          </a:p>
        </p:txBody>
      </p:sp>
      <p:sp>
        <p:nvSpPr>
          <p:cNvPr id="5" name="Footer Placeholder 4">
            <a:extLst xmlns:a="http://schemas.openxmlformats.org/drawingml/2006/main">
              <a:ext uri="{FF2B5EF4-FFF2-40B4-BE49-F238E27FC236}">
                <a16:creationId xmlns:a16="http://schemas.microsoft.com/office/drawing/2014/main" id="{1A7E08DA-D399-4DC8-89B1-C4EBC64DC98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FDA6177-D647-4C5F-BA43-C02A1390F47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F5B04A4-2082-4D7E-8466-9BA22C990A78}" type="slidenum">
              <a:t>‹#›</a:t>
            </a:fld>
            <a:endParaRPr/>
          </a:p>
        </p:txBody>
      </p:sp>
    </p:spTree>
  </p:cSld>
</p:sldLayout>
</file>

<file path=ppt/slideLayouts/slideLayout12.xml><?xml version="1.0" encoding="utf-8"?>
<p:sldLayout xmlns:p="http://schemas.openxmlformats.org/presentationml/2006/main">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7736d71fbee4e5f" /><Relationship Type="http://schemas.openxmlformats.org/officeDocument/2006/relationships/slideLayout" Target="/ppt/slideLayouts/slideLayout1.xml" Id="R85d99f113f2840a6" /><Relationship Type="http://schemas.openxmlformats.org/officeDocument/2006/relationships/slideLayout" Target="/ppt/slideLayouts/slideLayout2.xml" Id="R21100fbac0b24041" /><Relationship Type="http://schemas.openxmlformats.org/officeDocument/2006/relationships/slideLayout" Target="/ppt/slideLayouts/slideLayout3.xml" Id="R6cefcc40fc9049c9" /><Relationship Type="http://schemas.openxmlformats.org/officeDocument/2006/relationships/slideLayout" Target="/ppt/slideLayouts/slideLayout4.xml" Id="Rbba7b12894674a94" /><Relationship Type="http://schemas.openxmlformats.org/officeDocument/2006/relationships/slideLayout" Target="/ppt/slideLayouts/slideLayout5.xml" Id="Raeb23519a4fd4065" /><Relationship Type="http://schemas.openxmlformats.org/officeDocument/2006/relationships/slideLayout" Target="/ppt/slideLayouts/slideLayout6.xml" Id="R6f2c917b3b3343e3" /><Relationship Type="http://schemas.openxmlformats.org/officeDocument/2006/relationships/slideLayout" Target="/ppt/slideLayouts/slideLayout7.xml" Id="R7f924732554f419b" /><Relationship Type="http://schemas.openxmlformats.org/officeDocument/2006/relationships/slideLayout" Target="/ppt/slideLayouts/slideLayout8.xml" Id="R8036814b77824edd" /><Relationship Type="http://schemas.openxmlformats.org/officeDocument/2006/relationships/slideLayout" Target="/ppt/slideLayouts/slideLayout9.xml" Id="Ra591a35f90ed4429" /><Relationship Type="http://schemas.openxmlformats.org/officeDocument/2006/relationships/slideLayout" Target="/ppt/slideLayouts/slideLayout10.xml" Id="R2c65258fa7154871" /><Relationship Type="http://schemas.openxmlformats.org/officeDocument/2006/relationships/slideLayout" Target="/ppt/slideLayouts/slideLayout11.xml" Id="R47775074255444b8" /><Relationship Type="http://schemas.openxmlformats.org/officeDocument/2006/relationships/slideLayout" Target="/ppt/slideLayouts/slideLayout12.xml" Id="Rc6826bfb1c864ee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0CE67A62-7E64-4BE9-8EDF-4904E871A047}"/>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F8CA73B9-1A82-4479-978C-9C873CC677B8}"/>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F9977FC6-3D78-48A7-A3DB-BFC7C0EA3E8E}"/>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2AF27EEE-1B67-445E-AA5D-351EC91D1DEB}" type="datetimeFigureOut">
              <a:t>08-09-2026</a:t>
            </a:fld>
            <a:endParaRPr/>
          </a:p>
        </p:txBody>
      </p:sp>
      <p:sp>
        <p:nvSpPr>
          <p:cNvPr id="5" name="Footer Placeholder 4">
            <a:extLst xmlns:a="http://schemas.openxmlformats.org/drawingml/2006/main">
              <a:ext uri="{FF2B5EF4-FFF2-40B4-BE49-F238E27FC236}">
                <a16:creationId xmlns:a16="http://schemas.microsoft.com/office/drawing/2014/main" id="{27CDC877-1137-446E-919A-C66E313317C6}"/>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A258D39-C9B6-4DA9-9C05-38A0ECD4CE48}"/>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F5B04A4-2082-4D7E-8466-9BA22C990A78}"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5d99f113f2840a6"/>
    <p:sldLayoutId xmlns:r="http://schemas.openxmlformats.org/officeDocument/2006/relationships" id="2147483650" r:id="R21100fbac0b24041"/>
    <p:sldLayoutId xmlns:r="http://schemas.openxmlformats.org/officeDocument/2006/relationships" id="2147483651" r:id="R6cefcc40fc9049c9"/>
    <p:sldLayoutId xmlns:r="http://schemas.openxmlformats.org/officeDocument/2006/relationships" id="2147483652" r:id="Rbba7b12894674a94"/>
    <p:sldLayoutId xmlns:r="http://schemas.openxmlformats.org/officeDocument/2006/relationships" id="2147483653" r:id="Raeb23519a4fd4065"/>
    <p:sldLayoutId xmlns:r="http://schemas.openxmlformats.org/officeDocument/2006/relationships" id="2147483654" r:id="R6f2c917b3b3343e3"/>
    <p:sldLayoutId xmlns:r="http://schemas.openxmlformats.org/officeDocument/2006/relationships" id="2147483655" r:id="R7f924732554f419b"/>
    <p:sldLayoutId xmlns:r="http://schemas.openxmlformats.org/officeDocument/2006/relationships" id="2147483656" r:id="R8036814b77824edd"/>
    <p:sldLayoutId xmlns:r="http://schemas.openxmlformats.org/officeDocument/2006/relationships" id="2147483657" r:id="Ra591a35f90ed4429"/>
    <p:sldLayoutId xmlns:r="http://schemas.openxmlformats.org/officeDocument/2006/relationships" id="2147483658" r:id="R2c65258fa7154871"/>
    <p:sldLayoutId xmlns:r="http://schemas.openxmlformats.org/officeDocument/2006/relationships" id="2147483659" r:id="R47775074255444b8"/>
    <p:sldLayoutId xmlns:r="http://schemas.openxmlformats.org/officeDocument/2006/relationships" id="2147483660" r:id="Rc6826bfb1c864eec"/>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2.xml" Id="R0fcef611657b4c35" /><Relationship Type="http://schemas.openxmlformats.org/officeDocument/2006/relationships/image" Target="/ppt/media/image.png" Id="R909efdc9e09c4008" /><Relationship Type="http://schemas.openxmlformats.org/officeDocument/2006/relationships/notesSlide" Target="/ppt/notesSlides/notesSlide1.xml" Id="R784945c3468a4ffe"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e46576d244e145c4" /><Relationship Type="http://schemas.openxmlformats.org/officeDocument/2006/relationships/notesSlide" Target="/ppt/notesSlides/notesSlide2.xml" Id="R4524c193ead349f7"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7e59543f6d7f4ab5" /><Relationship Type="http://schemas.openxmlformats.org/officeDocument/2006/relationships/notesSlide" Target="/ppt/notesSlides/notesSlide3.xml" Id="R1a4978c8ad1546fc"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d849d1a98d904365" /><Relationship Type="http://schemas.openxmlformats.org/officeDocument/2006/relationships/notesSlide" Target="/ppt/notesSlides/notesSlide4.xml" Id="R2d874b2ee230498a"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43c0dd64868249e2" /><Relationship Type="http://schemas.openxmlformats.org/officeDocument/2006/relationships/image" Target="/ppt/media/image2.png" Id="Rbe5805cb1b684c8a" /><Relationship Type="http://schemas.openxmlformats.org/officeDocument/2006/relationships/notesSlide" Target="/ppt/notesSlides/notesSlide5.xml" Id="Rdc6187c741f04d59"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c3baf6ce92844916" /><Relationship Type="http://schemas.openxmlformats.org/officeDocument/2006/relationships/notesSlide" Target="/ppt/notesSlides/notesSlide6.xml" Id="Re3821b10bf674c43"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7820dc9ed0714765" /><Relationship Type="http://schemas.openxmlformats.org/officeDocument/2006/relationships/notesSlide" Target="/ppt/notesSlides/notesSlide7.xml" Id="Rd5822b5dd82444f8"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8a91d2c7500c40d8" /><Relationship Type="http://schemas.openxmlformats.org/officeDocument/2006/relationships/notesSlide" Target="/ppt/notesSlides/notesSlide8.xml" Id="Rffa58f55d2e046f3"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e68d962821d44a4a" /><Relationship Type="http://schemas.openxmlformats.org/officeDocument/2006/relationships/notesSlide" Target="/ppt/notesSlides/notesSlide9.xml" Id="Rf7f3f4919adb44f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ae1cebf6c9bb4ec4" /><Relationship Type="http://schemas.openxmlformats.org/officeDocument/2006/relationships/notesSlide" Target="/ppt/notesSlides/notesSlide10.xml" Id="R02273ffa38ba464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e37b6b42573c4588" /><Relationship Type="http://schemas.openxmlformats.org/officeDocument/2006/relationships/notesSlide" Target="/ppt/notesSlides/notesSlide11.xml" Id="R03be74623da04c7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2.xml" Id="Re97f5d72f5d3442f" /><Relationship Type="http://schemas.openxmlformats.org/officeDocument/2006/relationships/notesSlide" Target="/ppt/notesSlides/notesSlide12.xml" Id="Rcf7d52ddc9c74d3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0AA3F4B-AE21-4401-9DCB-203B39FAE85A}"/>
              </a:ext>
            </a:extLst>
          </p:cNvPr>
          <p:cNvSpPr>
            <a:spLocks xmlns:a="http://schemas.openxmlformats.org/drawingml/2006/main" noGrp="1"/>
          </p:cNvSpPr>
          <p:nvPr/>
        </p:nvSpPr>
        <p:spPr>
          <a:xfrm xmlns:a="http://schemas.openxmlformats.org/drawingml/2006/main">
            <a:off x="777240" y="676656"/>
            <a:ext cx="2423160" cy="347472"/>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2700">
            <a:solidFill>
              <a:srgbClr val="D9D3F0"/>
            </a:solidFill>
            <a:prstDash val="solid"/>
          </a:ln>
        </p:spPr>
      </p:sp>
      <p:sp>
        <p:nvSpPr>
          <p:cNvPr id="3" name="Text 1">
            <a:extLst xmlns:a="http://schemas.openxmlformats.org/drawingml/2006/main">
              <a:ext uri="{FF2B5EF4-FFF2-40B4-BE49-F238E27FC236}">
                <a16:creationId xmlns:a16="http://schemas.microsoft.com/office/drawing/2014/main" id="{042526D9-927B-4CEA-82FD-42769FB3FEE9}"/>
              </a:ext>
            </a:extLst>
          </p:cNvPr>
          <p:cNvSpPr>
            <a:spLocks xmlns:a="http://schemas.openxmlformats.org/drawingml/2006/main" noGrp="1"/>
          </p:cNvSpPr>
          <p:nvPr/>
        </p:nvSpPr>
        <p:spPr>
          <a:xfrm xmlns:a="http://schemas.openxmlformats.org/drawingml/2006/main">
            <a:off x="777240" y="676656"/>
            <a:ext cx="24231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spc="110">
                <a:solidFill>
                  <a:srgbClr val="6D28D9"/>
                </a:solidFill>
                <a:latin typeface="Arial"/>
                <a:ea typeface="Arial"/>
                <a:cs typeface="Arial"/>
              </a:rPr>
              <a:t>SAMSUNG PRISM</a:t>
            </a:r>
            <a:endParaRPr sz="1100"/>
          </a:p>
        </p:txBody>
      </p:sp>
      <p:sp>
        <p:nvSpPr>
          <p:cNvPr id="4" name="Text 2">
            <a:extLst xmlns:a="http://schemas.openxmlformats.org/drawingml/2006/main">
              <a:ext uri="{FF2B5EF4-FFF2-40B4-BE49-F238E27FC236}">
                <a16:creationId xmlns:a16="http://schemas.microsoft.com/office/drawing/2014/main" id="{AE23C9B3-C227-44FF-B3D9-0CEE54015ACE}"/>
              </a:ext>
            </a:extLst>
          </p:cNvPr>
          <p:cNvSpPr>
            <a:spLocks xmlns:a="http://schemas.openxmlformats.org/drawingml/2006/main" noGrp="1"/>
          </p:cNvSpPr>
          <p:nvPr/>
        </p:nvSpPr>
        <p:spPr>
          <a:xfrm xmlns:a="http://schemas.openxmlformats.org/drawingml/2006/main">
            <a:off x="777240" y="1207008"/>
            <a:ext cx="612648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defRPr sz="4500" b="1">
                <a:solidFill>
                  <a:srgbClr val="14142B"/>
                </a:solidFill>
                <a:latin typeface="Arial"/>
                <a:ea typeface="Arial"/>
                <a:cs typeface="Arial"/>
              </a:defRPr>
            </a:pPr>
            <a:r>
              <a:rPr sz="4500" b="1">
                <a:solidFill>
                  <a:srgbClr val="14142B"/>
                </a:solidFill>
                <a:latin typeface="Arial"/>
                <a:ea typeface="Arial"/>
                <a:cs typeface="Arial"/>
              </a:rPr>
              <a:t>GuideRail</a:t>
            </a:r>
            <a:endParaRPr sz="5000"/>
          </a:p>
        </p:txBody>
      </p:sp>
      <p:sp>
        <p:nvSpPr>
          <p:cNvPr id="5" name="Text 3">
            <a:extLst xmlns:a="http://schemas.openxmlformats.org/drawingml/2006/main">
              <a:ext uri="{FF2B5EF4-FFF2-40B4-BE49-F238E27FC236}">
                <a16:creationId xmlns:a16="http://schemas.microsoft.com/office/drawing/2014/main" id="{8B6729CD-6A28-4446-B368-FAFDA8BECF30}"/>
              </a:ext>
            </a:extLst>
          </p:cNvPr>
          <p:cNvSpPr>
            <a:spLocks xmlns:a="http://schemas.openxmlformats.org/drawingml/2006/main" noGrp="1"/>
          </p:cNvSpPr>
          <p:nvPr/>
        </p:nvSpPr>
        <p:spPr>
          <a:xfrm xmlns:a="http://schemas.openxmlformats.org/drawingml/2006/main">
            <a:off x="777240" y="1901952"/>
            <a:ext cx="612648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78095"/>
          </a:bodyPr>
          <a:lstStyle xmlns:a="http://schemas.openxmlformats.org/drawingml/2006/main"/>
          <a:p xmlns:a="http://schemas.openxmlformats.org/drawingml/2006/main">
            <a:pPr marL="0" indent="0">
              <a:buNone/>
              <a:defRPr sz="3150" b="1">
                <a:solidFill>
                  <a:srgbClr val="6D28D9"/>
                </a:solidFill>
                <a:latin typeface="Arial"/>
                <a:ea typeface="Arial"/>
                <a:cs typeface="Arial"/>
              </a:defRPr>
            </a:pPr>
            <a:r>
              <a:rPr sz="3150" b="1">
                <a:solidFill>
                  <a:srgbClr val="6D28D9"/>
                </a:solidFill>
                <a:latin typeface="Arial"/>
                <a:ea typeface="Arial"/>
                <a:cs typeface="Arial"/>
              </a:rPr>
              <a:t>Smart Guided</a:t>
            </a:r>
            <a:endParaRPr sz="5000"/>
          </a:p>
          <a:p xmlns:a="http://schemas.openxmlformats.org/drawingml/2006/main">
            <a:pPr marL="0" indent="0">
              <a:buNone/>
              <a:defRPr sz="3150" b="1">
                <a:solidFill>
                  <a:srgbClr val="6D28D9"/>
                </a:solidFill>
                <a:latin typeface="Arial"/>
                <a:ea typeface="Arial"/>
                <a:cs typeface="Arial"/>
              </a:defRPr>
            </a:pPr>
            <a:r>
              <a:rPr sz="3150" b="1">
                <a:solidFill>
                  <a:srgbClr val="6D28D9"/>
                </a:solidFill>
                <a:latin typeface="Arial"/>
                <a:ea typeface="Arial"/>
                <a:cs typeface="Arial"/>
              </a:rPr>
              <a:t>Troubleshooting</a:t>
            </a:r>
            <a:endParaRPr sz="5000"/>
          </a:p>
        </p:txBody>
      </p:sp>
      <p:sp>
        <p:nvSpPr>
          <p:cNvPr id="6" name="Text 4">
            <a:extLst xmlns:a="http://schemas.openxmlformats.org/drawingml/2006/main">
              <a:ext uri="{FF2B5EF4-FFF2-40B4-BE49-F238E27FC236}">
                <a16:creationId xmlns:a16="http://schemas.microsoft.com/office/drawing/2014/main" id="{2BD51C75-4AF2-4B0A-8646-8B229DFFD4F0}"/>
              </a:ext>
            </a:extLst>
          </p:cNvPr>
          <p:cNvSpPr>
            <a:spLocks xmlns:a="http://schemas.openxmlformats.org/drawingml/2006/main" noGrp="1"/>
          </p:cNvSpPr>
          <p:nvPr/>
        </p:nvSpPr>
        <p:spPr>
          <a:xfrm xmlns:a="http://schemas.openxmlformats.org/drawingml/2006/main">
            <a:off x="777240" y="2724912"/>
            <a:ext cx="61264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14142B"/>
                </a:solidFill>
                <a:latin typeface="Arial"/>
                <a:ea typeface="Arial"/>
                <a:cs typeface="Arial"/>
              </a:rPr>
              <a:t>Theme 02   2026 – 27</a:t>
            </a:r>
            <a:endParaRPr sz="2500"/>
          </a:p>
        </p:txBody>
      </p:sp>
      <p:sp>
        <p:nvSpPr>
          <p:cNvPr id="7" name="Text 5">
            <a:extLst xmlns:a="http://schemas.openxmlformats.org/drawingml/2006/main">
              <a:ext uri="{FF2B5EF4-FFF2-40B4-BE49-F238E27FC236}">
                <a16:creationId xmlns:a16="http://schemas.microsoft.com/office/drawing/2014/main" id="{B76C5767-4D9F-4AB3-A63C-08954D80CA20}"/>
              </a:ext>
            </a:extLst>
          </p:cNvPr>
          <p:cNvSpPr>
            <a:spLocks xmlns:a="http://schemas.openxmlformats.org/drawingml/2006/main" noGrp="1"/>
          </p:cNvSpPr>
          <p:nvPr/>
        </p:nvSpPr>
        <p:spPr>
          <a:xfrm xmlns:a="http://schemas.openxmlformats.org/drawingml/2006/main">
            <a:off x="777240" y="3310128"/>
            <a:ext cx="585216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53856"/>
          </a:bodyPr>
          <a:lstStyle xmlns:a="http://schemas.openxmlformats.org/drawingml/2006/main"/>
          <a:p xmlns:a="http://schemas.openxmlformats.org/drawingml/2006/main">
            <a:pPr marL="177800" indent="-177800">
              <a:spcAft>
                <a:spcPts val="500"/>
              </a:spcAft>
              <a:buSzPct val="100000"/>
              <a:buChar char="•"/>
              <a:defRPr sz="1275">
                <a:solidFill>
                  <a:srgbClr val="63637E"/>
                </a:solidFill>
                <a:latin typeface="Calibri"/>
                <a:ea typeface="Calibri"/>
                <a:cs typeface="Calibri"/>
              </a:defRPr>
            </a:pPr>
            <a:r>
              <a:rPr sz="1275">
                <a:solidFill>
                  <a:srgbClr val="63637E"/>
                </a:solidFill>
                <a:latin typeface="Calibri"/>
                <a:ea typeface="Calibri"/>
                <a:cs typeface="Calibri"/>
              </a:rPr>
              <a:t>Team Name - [ADD]</a:t>
            </a:r>
          </a:p>
          <a:p xmlns:a="http://schemas.openxmlformats.org/drawingml/2006/main">
            <a:pPr marL="177800" indent="-177800">
              <a:spcAft>
                <a:spcPts val="500"/>
              </a:spcAft>
              <a:buSzPct val="100000"/>
              <a:buChar char="•"/>
              <a:defRPr sz="1275">
                <a:solidFill>
                  <a:srgbClr val="63637E"/>
                </a:solidFill>
                <a:latin typeface="Calibri"/>
                <a:ea typeface="Calibri"/>
                <a:cs typeface="Calibri"/>
              </a:defRPr>
            </a:pPr>
            <a:r>
              <a:rPr sz="1275">
                <a:solidFill>
                  <a:srgbClr val="63637E"/>
                </a:solidFill>
                <a:latin typeface="Calibri"/>
                <a:ea typeface="Calibri"/>
                <a:cs typeface="Calibri"/>
              </a:rPr>
              <a:t>College Name - [ADD]</a:t>
            </a:r>
          </a:p>
          <a:p xmlns:a="http://schemas.openxmlformats.org/drawingml/2006/main">
            <a:pPr marL="177800" indent="-177800">
              <a:spcAft>
                <a:spcPts val="500"/>
              </a:spcAft>
              <a:buSzPct val="100000"/>
              <a:buChar char="•"/>
              <a:defRPr sz="1275">
                <a:solidFill>
                  <a:srgbClr val="63637E"/>
                </a:solidFill>
                <a:latin typeface="Calibri"/>
                <a:ea typeface="Calibri"/>
                <a:cs typeface="Calibri"/>
              </a:defRPr>
            </a:pPr>
            <a:r>
              <a:rPr sz="1275">
                <a:solidFill>
                  <a:srgbClr val="63637E"/>
                </a:solidFill>
                <a:latin typeface="Calibri"/>
                <a:ea typeface="Calibri"/>
                <a:cs typeface="Calibri"/>
              </a:rPr>
              <a:t>Members - [ADD NAMES AND EMAILS]</a:t>
            </a:r>
          </a:p>
          <a:p xmlns:a="http://schemas.openxmlformats.org/drawingml/2006/main">
            <a:pPr marL="177800" indent="-177800">
              <a:spcAft>
                <a:spcPts val="500"/>
              </a:spcAft>
              <a:buSzPct val="100000"/>
              <a:buChar char="•"/>
              <a:defRPr sz="1275">
                <a:solidFill>
                  <a:srgbClr val="63637E"/>
                </a:solidFill>
                <a:latin typeface="Calibri"/>
                <a:ea typeface="Calibri"/>
                <a:cs typeface="Calibri"/>
              </a:defRPr>
            </a:pPr>
            <a:r>
              <a:rPr sz="1275">
                <a:solidFill>
                  <a:srgbClr val="63637E"/>
                </a:solidFill>
                <a:latin typeface="Calibri"/>
                <a:ea typeface="Calibri"/>
                <a:cs typeface="Calibri"/>
              </a:rPr>
              <a:t>GitHub - github.com/GhxstOSINT/Samsung-Prism</a:t>
            </a:r>
          </a:p>
          <a:p xmlns:a="http://schemas.openxmlformats.org/drawingml/2006/main">
            <a:pPr marL="177800" indent="-177800">
              <a:spcAft>
                <a:spcPts val="500"/>
              </a:spcAft>
              <a:buSzPct val="100000"/>
              <a:buChar char="•"/>
              <a:defRPr sz="1275">
                <a:solidFill>
                  <a:srgbClr val="63637E"/>
                </a:solidFill>
                <a:latin typeface="Calibri"/>
                <a:ea typeface="Calibri"/>
                <a:cs typeface="Calibri"/>
              </a:defRPr>
            </a:pPr>
            <a:r>
              <a:rPr sz="1275">
                <a:solidFill>
                  <a:srgbClr val="63637E"/>
                </a:solidFill>
                <a:latin typeface="Calibri"/>
                <a:ea typeface="Calibri"/>
                <a:cs typeface="Calibri"/>
              </a:rPr>
              <a:t>Demo - [ADD VIDEO LINK]</a:t>
            </a:r>
          </a:p>
        </p:txBody>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909efdc9e09c4008"/>
          <a:stretch xmlns:a="http://schemas.openxmlformats.org/drawingml/2006/main">
            <a:fillRect l="0" t="0" r="0" b="0"/>
          </a:stretch>
        </p:blipFill>
        <p:spPr>
          <a:xfrm xmlns:a="http://schemas.openxmlformats.org/drawingml/2006/main">
            <a:off x="7059168" y="1051560"/>
            <a:ext cx="4572000" cy="4572000"/>
          </a:xfrm>
          <a:prstGeom xmlns:a="http://schemas.openxmlformats.org/drawingml/2006/main" prst="rect">
            <a:avLst/>
          </a:prstGeom>
        </p:spPr>
      </p:pic>
    </p:spTree>
    <p:extLst>
      <p:ext uri="{BB962C8B-B14F-4D97-AF65-F5344CB8AC3E}">
        <p14:creationId xmlns:p14="http://schemas.microsoft.com/office/powerpoint/2010/main" val="199938320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353DB3-FB86-4452-A4FB-E7F4BEA62856}"/>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pPr>
              <a:defRPr sz="3000" b="1">
                <a:solidFill>
                  <a:srgbClr val="704EA6"/>
                </a:solidFill>
                <a:latin typeface="Calibri"/>
                <a:ea typeface="Calibri"/>
                <a:cs typeface="Calibri"/>
              </a:defRPr>
            </a:pPr>
            <a:r>
              <a:rPr sz="3000" b="1">
                <a:solidFill>
                  <a:srgbClr val="704EA6"/>
                </a:solidFill>
                <a:latin typeface="Calibri"/>
                <a:ea typeface="Calibri"/>
                <a:cs typeface="Calibri"/>
              </a:rPr>
              <a:t>Theme 02  Smart Guided Troubleshooting</a:t>
            </a:r>
          </a:p>
        </p:txBody>
      </p:sp>
      <p:sp>
        <p:nvSpPr>
          <p:cNvPr id="3" name="Content Placeholder 2">
            <a:extLst xmlns:a="http://schemas.openxmlformats.org/drawingml/2006/main">
              <a:ext uri="{FF2B5EF4-FFF2-40B4-BE49-F238E27FC236}">
                <a16:creationId xmlns:a16="http://schemas.microsoft.com/office/drawing/2014/main" id="{539AB598-5650-4E46-905A-9096F4C50C3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sp>
        <p:nvSpPr>
          <p:cNvPr id="4" name="">
            <a:extLst xmlns:a="http://schemas.openxmlformats.org/drawingml/2006/main">
              <a:ext uri="{FF2B5EF4-FFF2-40B4-BE49-F238E27FC236}">
                <a16:creationId xmlns:a16="http://schemas.microsoft.com/office/drawing/2014/main" id="{A5D9B232-54CA-4EE3-B662-3E94BC989F60}"/>
              </a:ext>
            </a:extLst>
          </p:cNvPr>
          <p:cNvSpPr>
            <a:spLocks xmlns:a="http://schemas.openxmlformats.org/drawingml/2006/main" noGrp="1"/>
          </p:cNvSpPr>
          <p:nvPr/>
        </p:nvSpPr>
        <p:spPr>
          <a:xfrm xmlns:a="http://schemas.openxmlformats.org/drawingml/2006/main">
            <a:off x="857250" y="1762125"/>
            <a:ext cx="676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00" b="0">
                <a:solidFill>
                  <a:srgbClr val="14142B"/>
                </a:solidFill>
                <a:latin typeface="Calibri"/>
                <a:ea typeface="Calibri"/>
                <a:cs typeface="Calibri"/>
              </a:defRPr>
            </a:pPr>
            <a:r>
              <a:rPr sz="1800" b="0">
                <a:solidFill>
                  <a:srgbClr val="14142B"/>
                </a:solidFill>
                <a:latin typeface="Calibri"/>
                <a:ea typeface="Calibri"/>
                <a:cs typeface="Calibri"/>
              </a:rPr>
              <a:t>Customers describe several symptoms in everyday language. Support agents currently translate them into technical issues, assemble steps, and tell users where to navigate. The supplied brief estimates roughly 15 minutes per scenario across millions of interactions.</a:t>
            </a:r>
          </a:p>
        </p:txBody>
      </p:sp>
      <p:sp>
        <p:nvSpPr>
          <p:cNvPr id="5" name="">
            <a:extLst xmlns:a="http://schemas.openxmlformats.org/drawingml/2006/main">
              <a:ext uri="{FF2B5EF4-FFF2-40B4-BE49-F238E27FC236}">
                <a16:creationId xmlns:a16="http://schemas.microsoft.com/office/drawing/2014/main" id="{388ACEDD-1D7E-4265-97D6-45D361C240FF}"/>
              </a:ext>
            </a:extLst>
          </p:cNvPr>
          <p:cNvSpPr>
            <a:spLocks xmlns:a="http://schemas.openxmlformats.org/drawingml/2006/main" noGrp="1"/>
          </p:cNvSpPr>
          <p:nvPr/>
        </p:nvSpPr>
        <p:spPr>
          <a:xfrm xmlns:a="http://schemas.openxmlformats.org/drawingml/2006/main">
            <a:off x="8096250" y="1809750"/>
            <a:ext cx="3190875" cy="1143000"/>
          </a:xfrm>
          <a:prstGeom xmlns:a="http://schemas.openxmlformats.org/drawingml/2006/main" prst="roundRect">
            <a:avLst>
              <a:gd name="adj" fmla="val 10000"/>
            </a:avLst>
          </a:prstGeom>
          <a:solidFill xmlns:a="http://schemas.openxmlformats.org/drawingml/2006/main">
            <a:srgbClr val="F5F2FB"/>
          </a:solidFill>
          <a:ln xmlns:a="http://schemas.openxmlformats.org/drawingml/2006/main" w="11430">
            <a:solidFill>
              <a:srgbClr val="D9D3F0"/>
            </a:solidFill>
            <a:prstDash val="solid"/>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14142B"/>
                </a:solidFill>
                <a:latin typeface="Calibri"/>
                <a:ea typeface="Calibri"/>
                <a:cs typeface="Calibri"/>
              </a:defRPr>
            </a:pPr>
            <a:r>
              <a:rPr sz="1500" b="1">
                <a:solidFill>
                  <a:srgbClr val="14142B"/>
                </a:solidFill>
                <a:latin typeface="Calibri"/>
                <a:ea typeface="Calibri"/>
                <a:cs typeface="Calibri"/>
              </a:rPr>
              <a:t>Required output</a:t>
            </a:r>
          </a:p>
          <a:p xmlns:a="http://schemas.openxmlformats.org/drawingml/2006/main">
            <a:pPr algn="l">
              <a:defRPr sz="1500" b="1">
                <a:solidFill>
                  <a:srgbClr val="14142B"/>
                </a:solidFill>
                <a:latin typeface="Calibri"/>
                <a:ea typeface="Calibri"/>
                <a:cs typeface="Calibri"/>
              </a:defRPr>
            </a:pPr>
            <a:r>
              <a:rPr sz="1500" b="1">
                <a:solidFill>
                  <a:srgbClr val="14142B"/>
                </a:solidFill>
                <a:latin typeface="Calibri"/>
                <a:ea typeface="Calibri"/>
                <a:cs typeface="Calibri"/>
              </a:rPr>
              <a:t>REST API with ordered JSON actions, steps, and exact in-app Settings deeplinks</a:t>
            </a:r>
          </a:p>
        </p:txBody>
      </p:sp>
      <p:sp>
        <p:nvSpPr>
          <p:cNvPr id="6" name="">
            <a:extLst xmlns:a="http://schemas.openxmlformats.org/drawingml/2006/main">
              <a:ext uri="{FF2B5EF4-FFF2-40B4-BE49-F238E27FC236}">
                <a16:creationId xmlns:a16="http://schemas.microsoft.com/office/drawing/2014/main" id="{A0839AFD-A1B2-4C4E-8AFA-7DD4028E1C16}"/>
              </a:ext>
            </a:extLst>
          </p:cNvPr>
          <p:cNvSpPr>
            <a:spLocks xmlns:a="http://schemas.openxmlformats.org/drawingml/2006/main" noGrp="1"/>
          </p:cNvSpPr>
          <p:nvPr/>
        </p:nvSpPr>
        <p:spPr>
          <a:xfrm xmlns:a="http://schemas.openxmlformats.org/drawingml/2006/main">
            <a:off x="857250" y="338137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725" b="1">
                <a:solidFill>
                  <a:srgbClr val="704EA6"/>
                </a:solidFill>
                <a:latin typeface="Calibri"/>
                <a:ea typeface="Calibri"/>
                <a:cs typeface="Calibri"/>
              </a:defRPr>
            </a:pPr>
            <a:r>
              <a:rPr sz="1725" b="1">
                <a:solidFill>
                  <a:srgbClr val="704EA6"/>
                </a:solidFill>
                <a:latin typeface="Calibri"/>
                <a:ea typeface="Calibri"/>
                <a:cs typeface="Calibri"/>
              </a:rPr>
              <a:t>Four non-negotiable targets</a:t>
            </a:r>
          </a:p>
        </p:txBody>
      </p:sp>
      <p:sp>
        <p:nvSpPr>
          <p:cNvPr id="7" name="">
            <a:extLst xmlns:a="http://schemas.openxmlformats.org/drawingml/2006/main">
              <a:ext uri="{FF2B5EF4-FFF2-40B4-BE49-F238E27FC236}">
                <a16:creationId xmlns:a16="http://schemas.microsoft.com/office/drawing/2014/main" id="{10817745-C506-44DA-98D0-6819BE38FBDC}"/>
              </a:ext>
            </a:extLst>
          </p:cNvPr>
          <p:cNvSpPr>
            <a:spLocks xmlns:a="http://schemas.openxmlformats.org/drawingml/2006/main" noGrp="1"/>
          </p:cNvSpPr>
          <p:nvPr/>
        </p:nvSpPr>
        <p:spPr>
          <a:xfrm xmlns:a="http://schemas.openxmlformats.org/drawingml/2006/main">
            <a:off x="857250" y="3857625"/>
            <a:ext cx="9810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4E5068"/>
                </a:solidFill>
                <a:latin typeface="Calibri"/>
                <a:ea typeface="Calibri"/>
                <a:cs typeface="Calibri"/>
              </a:defRPr>
            </a:pPr>
            <a:r>
              <a:rPr sz="1650" b="0">
                <a:solidFill>
                  <a:srgbClr val="4E5068"/>
                </a:solidFill>
                <a:latin typeface="Calibri"/>
                <a:ea typeface="Calibri"/>
                <a:cs typeface="Calibri"/>
              </a:rPr>
              <a:t>1  Query enrichment for vague complaints</a:t>
            </a:r>
          </a:p>
          <a:p xmlns:a="http://schemas.openxmlformats.org/drawingml/2006/main">
            <a:pPr algn="l">
              <a:defRPr sz="1650" b="0">
                <a:solidFill>
                  <a:srgbClr val="4E5068"/>
                </a:solidFill>
                <a:latin typeface="Calibri"/>
                <a:ea typeface="Calibri"/>
                <a:cs typeface="Calibri"/>
              </a:defRPr>
            </a:pPr>
            <a:r>
              <a:rPr sz="1650" b="0">
                <a:solidFill>
                  <a:srgbClr val="4E5068"/>
                </a:solidFill>
                <a:latin typeface="Calibri"/>
                <a:ea typeface="Calibri"/>
                <a:cs typeface="Calibri"/>
              </a:rPr>
              <a:t>2  Two-stage structure and mapping pipeline</a:t>
            </a:r>
          </a:p>
          <a:p xmlns:a="http://schemas.openxmlformats.org/drawingml/2006/main">
            <a:pPr algn="l">
              <a:defRPr sz="1650" b="0">
                <a:solidFill>
                  <a:srgbClr val="4E5068"/>
                </a:solidFill>
                <a:latin typeface="Calibri"/>
                <a:ea typeface="Calibri"/>
                <a:cs typeface="Calibri"/>
              </a:defRPr>
            </a:pPr>
            <a:r>
              <a:rPr sz="1650" b="0">
                <a:solidFill>
                  <a:srgbClr val="4E5068"/>
                </a:solidFill>
                <a:latin typeface="Calibri"/>
                <a:ea typeface="Calibri"/>
                <a:cs typeface="Calibri"/>
              </a:rPr>
              <a:t>3  Reusable catalog design for 10k+ scenarios</a:t>
            </a:r>
          </a:p>
          <a:p xmlns:a="http://schemas.openxmlformats.org/drawingml/2006/main">
            <a:pPr algn="l">
              <a:defRPr sz="1650" b="0">
                <a:solidFill>
                  <a:srgbClr val="4E5068"/>
                </a:solidFill>
                <a:latin typeface="Calibri"/>
                <a:ea typeface="Calibri"/>
                <a:cs typeface="Calibri"/>
              </a:defRPr>
            </a:pPr>
            <a:r>
              <a:rPr sz="1650" b="0">
                <a:solidFill>
                  <a:srgbClr val="4E5068"/>
                </a:solidFill>
                <a:latin typeface="Calibri"/>
                <a:ea typeface="Calibri"/>
                <a:cs typeface="Calibri"/>
              </a:rPr>
              <a:t>4  Prevalidated cache at or below 300 ms P95</a:t>
            </a:r>
          </a:p>
        </p:txBody>
      </p:sp>
    </p:spTree>
    <p:extLst>
      <p:ext uri="{BB962C8B-B14F-4D97-AF65-F5344CB8AC3E}">
        <p14:creationId xmlns:p14="http://schemas.microsoft.com/office/powerpoint/2010/main" val="25647885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353DB3-FB86-4452-A4FB-E7F4BEA62856}"/>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pPr>
              <a:defRPr sz="3000" b="1">
                <a:solidFill>
                  <a:srgbClr val="704EA6"/>
                </a:solidFill>
                <a:latin typeface="Calibri"/>
                <a:ea typeface="Calibri"/>
                <a:cs typeface="Calibri"/>
              </a:defRPr>
            </a:pPr>
            <a:r>
              <a:rPr sz="3000" b="1">
                <a:solidFill>
                  <a:srgbClr val="704EA6"/>
                </a:solidFill>
                <a:latin typeface="Calibri"/>
                <a:ea typeface="Calibri"/>
                <a:cs typeface="Calibri"/>
              </a:rPr>
              <a:t>Existing approaches leave safety and scale gaps</a:t>
            </a:r>
          </a:p>
        </p:txBody>
      </p:sp>
      <p:sp>
        <p:nvSpPr>
          <p:cNvPr id="3" name="Content Placeholder 2">
            <a:extLst xmlns:a="http://schemas.openxmlformats.org/drawingml/2006/main">
              <a:ext uri="{FF2B5EF4-FFF2-40B4-BE49-F238E27FC236}">
                <a16:creationId xmlns:a16="http://schemas.microsoft.com/office/drawing/2014/main" id="{539AB598-5650-4E46-905A-9096F4C50C3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sp>
        <p:nvSpPr>
          <p:cNvPr id="4" name="">
            <a:extLst xmlns:a="http://schemas.openxmlformats.org/drawingml/2006/main">
              <a:ext uri="{FF2B5EF4-FFF2-40B4-BE49-F238E27FC236}">
                <a16:creationId xmlns:a16="http://schemas.microsoft.com/office/drawing/2014/main" id="{B76B003D-635F-4537-A445-FB0784B2E58B}"/>
              </a:ext>
            </a:extLst>
          </p:cNvPr>
          <p:cNvSpPr>
            <a:spLocks xmlns:a="http://schemas.openxmlformats.org/drawingml/2006/main" noGrp="1"/>
          </p:cNvSpPr>
          <p:nvPr/>
        </p:nvSpPr>
        <p:spPr>
          <a:xfrm xmlns:a="http://schemas.openxmlformats.org/drawingml/2006/main">
            <a:off x="857250" y="1762125"/>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667"/>
          </a:bodyPr>
          <a:lstStyle xmlns:a="http://schemas.openxmlformats.org/drawingml/2006/main"/>
          <a:p xmlns:a="http://schemas.openxmlformats.org/drawingml/2006/main">
            <a:pPr algn="l">
              <a:defRPr sz="1875" b="1">
                <a:solidFill>
                  <a:srgbClr val="704EA6"/>
                </a:solidFill>
                <a:latin typeface="Calibri"/>
                <a:ea typeface="Calibri"/>
                <a:cs typeface="Calibri"/>
              </a:defRPr>
            </a:pPr>
            <a:r>
              <a:rPr sz="1875" b="1">
                <a:solidFill>
                  <a:srgbClr val="704EA6"/>
                </a:solidFill>
                <a:latin typeface="Calibri"/>
                <a:ea typeface="Calibri"/>
                <a:cs typeface="Calibri"/>
              </a:rPr>
              <a:t>Manual support workflow</a:t>
            </a:r>
          </a:p>
        </p:txBody>
      </p:sp>
      <p:sp>
        <p:nvSpPr>
          <p:cNvPr id="5" name="">
            <a:extLst xmlns:a="http://schemas.openxmlformats.org/drawingml/2006/main">
              <a:ext uri="{FF2B5EF4-FFF2-40B4-BE49-F238E27FC236}">
                <a16:creationId xmlns:a16="http://schemas.microsoft.com/office/drawing/2014/main" id="{24E0713D-B7DB-4EBB-BA19-DF3D3EE67EB4}"/>
              </a:ext>
            </a:extLst>
          </p:cNvPr>
          <p:cNvSpPr>
            <a:spLocks xmlns:a="http://schemas.openxmlformats.org/drawingml/2006/main" noGrp="1"/>
          </p:cNvSpPr>
          <p:nvPr/>
        </p:nvSpPr>
        <p:spPr>
          <a:xfrm xmlns:a="http://schemas.openxmlformats.org/drawingml/2006/main">
            <a:off x="857250" y="2238375"/>
            <a:ext cx="3143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4E5068"/>
                </a:solidFill>
                <a:latin typeface="Calibri"/>
                <a:ea typeface="Calibri"/>
                <a:cs typeface="Calibri"/>
              </a:defRPr>
            </a:pPr>
            <a:r>
              <a:rPr sz="1500" b="0">
                <a:solidFill>
                  <a:srgbClr val="4E5068"/>
                </a:solidFill>
                <a:latin typeface="Calibri"/>
                <a:ea typeface="Calibri"/>
                <a:cs typeface="Calibri"/>
              </a:rPr>
              <a:t>Agents search unstructured articles, interpret symptoms, order steps, then explain Settings navigation. The guide reports about 15 minutes per scenario.</a:t>
            </a:r>
          </a:p>
        </p:txBody>
      </p:sp>
      <p:sp>
        <p:nvSpPr>
          <p:cNvPr id="6" name="">
            <a:extLst xmlns:a="http://schemas.openxmlformats.org/drawingml/2006/main">
              <a:ext uri="{FF2B5EF4-FFF2-40B4-BE49-F238E27FC236}">
                <a16:creationId xmlns:a16="http://schemas.microsoft.com/office/drawing/2014/main" id="{D78D9ED0-6DF9-4F23-BE13-F42C1EB24885}"/>
              </a:ext>
            </a:extLst>
          </p:cNvPr>
          <p:cNvSpPr>
            <a:spLocks xmlns:a="http://schemas.openxmlformats.org/drawingml/2006/main" noGrp="1"/>
          </p:cNvSpPr>
          <p:nvPr/>
        </p:nvSpPr>
        <p:spPr>
          <a:xfrm xmlns:a="http://schemas.openxmlformats.org/drawingml/2006/main">
            <a:off x="4524375" y="1762125"/>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667"/>
          </a:bodyPr>
          <a:lstStyle xmlns:a="http://schemas.openxmlformats.org/drawingml/2006/main"/>
          <a:p xmlns:a="http://schemas.openxmlformats.org/drawingml/2006/main">
            <a:pPr algn="l">
              <a:defRPr sz="1875" b="1">
                <a:solidFill>
                  <a:srgbClr val="704EA6"/>
                </a:solidFill>
                <a:latin typeface="Calibri"/>
                <a:ea typeface="Calibri"/>
                <a:cs typeface="Calibri"/>
              </a:defRPr>
            </a:pPr>
            <a:r>
              <a:rPr sz="1875" b="1">
                <a:solidFill>
                  <a:srgbClr val="704EA6"/>
                </a:solidFill>
                <a:latin typeface="Calibri"/>
                <a:ea typeface="Calibri"/>
                <a:cs typeface="Calibri"/>
              </a:rPr>
              <a:t>Generic LLM answer</a:t>
            </a:r>
          </a:p>
        </p:txBody>
      </p:sp>
      <p:sp>
        <p:nvSpPr>
          <p:cNvPr id="7" name="">
            <a:extLst xmlns:a="http://schemas.openxmlformats.org/drawingml/2006/main">
              <a:ext uri="{FF2B5EF4-FFF2-40B4-BE49-F238E27FC236}">
                <a16:creationId xmlns:a16="http://schemas.microsoft.com/office/drawing/2014/main" id="{C72214EE-364A-4E1D-B22E-F3EE3A518F36}"/>
              </a:ext>
            </a:extLst>
          </p:cNvPr>
          <p:cNvSpPr>
            <a:spLocks xmlns:a="http://schemas.openxmlformats.org/drawingml/2006/main" noGrp="1"/>
          </p:cNvSpPr>
          <p:nvPr/>
        </p:nvSpPr>
        <p:spPr>
          <a:xfrm xmlns:a="http://schemas.openxmlformats.org/drawingml/2006/main">
            <a:off x="4524375" y="2238375"/>
            <a:ext cx="3143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4E5068"/>
                </a:solidFill>
                <a:latin typeface="Calibri"/>
                <a:ea typeface="Calibri"/>
                <a:cs typeface="Calibri"/>
              </a:defRPr>
            </a:pPr>
            <a:r>
              <a:rPr sz="1500" b="0">
                <a:solidFill>
                  <a:srgbClr val="4E5068"/>
                </a:solidFill>
                <a:latin typeface="Calibri"/>
                <a:ea typeface="Calibri"/>
                <a:cs typeface="Calibri"/>
              </a:rPr>
              <a:t>Fluent text can invent steps, leak web links, choose a parent Settings screen, or generate a URI that never existed in the catalog.</a:t>
            </a:r>
          </a:p>
        </p:txBody>
      </p:sp>
      <p:sp>
        <p:nvSpPr>
          <p:cNvPr id="8" name="">
            <a:extLst xmlns:a="http://schemas.openxmlformats.org/drawingml/2006/main">
              <a:ext uri="{FF2B5EF4-FFF2-40B4-BE49-F238E27FC236}">
                <a16:creationId xmlns:a16="http://schemas.microsoft.com/office/drawing/2014/main" id="{A45CBBFD-6201-49C2-9CFE-D6F01E884BDB}"/>
              </a:ext>
            </a:extLst>
          </p:cNvPr>
          <p:cNvSpPr>
            <a:spLocks xmlns:a="http://schemas.openxmlformats.org/drawingml/2006/main" noGrp="1"/>
          </p:cNvSpPr>
          <p:nvPr/>
        </p:nvSpPr>
        <p:spPr>
          <a:xfrm xmlns:a="http://schemas.openxmlformats.org/drawingml/2006/main">
            <a:off x="8191500" y="1762125"/>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667"/>
          </a:bodyPr>
          <a:lstStyle xmlns:a="http://schemas.openxmlformats.org/drawingml/2006/main"/>
          <a:p xmlns:a="http://schemas.openxmlformats.org/drawingml/2006/main">
            <a:pPr algn="l">
              <a:defRPr sz="1875" b="1">
                <a:solidFill>
                  <a:srgbClr val="0D6A4B"/>
                </a:solidFill>
                <a:latin typeface="Calibri"/>
                <a:ea typeface="Calibri"/>
                <a:cs typeface="Calibri"/>
              </a:defRPr>
            </a:pPr>
            <a:r>
              <a:rPr sz="1875" b="1">
                <a:solidFill>
                  <a:srgbClr val="0D6A4B"/>
                </a:solidFill>
                <a:latin typeface="Calibri"/>
                <a:ea typeface="Calibri"/>
                <a:cs typeface="Calibri"/>
              </a:rPr>
              <a:t>GuideRail boundary</a:t>
            </a:r>
          </a:p>
        </p:txBody>
      </p:sp>
      <p:sp>
        <p:nvSpPr>
          <p:cNvPr id="9" name="">
            <a:extLst xmlns:a="http://schemas.openxmlformats.org/drawingml/2006/main">
              <a:ext uri="{FF2B5EF4-FFF2-40B4-BE49-F238E27FC236}">
                <a16:creationId xmlns:a16="http://schemas.microsoft.com/office/drawing/2014/main" id="{909CC3C0-AE26-4C6E-A8DD-D03ACB47C4D6}"/>
              </a:ext>
            </a:extLst>
          </p:cNvPr>
          <p:cNvSpPr>
            <a:spLocks xmlns:a="http://schemas.openxmlformats.org/drawingml/2006/main" noGrp="1"/>
          </p:cNvSpPr>
          <p:nvPr/>
        </p:nvSpPr>
        <p:spPr>
          <a:xfrm xmlns:a="http://schemas.openxmlformats.org/drawingml/2006/main">
            <a:off x="8191500" y="2238375"/>
            <a:ext cx="3143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4E5068"/>
                </a:solidFill>
                <a:latin typeface="Calibri"/>
                <a:ea typeface="Calibri"/>
                <a:cs typeface="Calibri"/>
              </a:defRPr>
            </a:pPr>
            <a:r>
              <a:rPr sz="1500" b="0">
                <a:solidFill>
                  <a:srgbClr val="4E5068"/>
                </a:solidFill>
                <a:latin typeface="Calibri"/>
                <a:ea typeface="Calibri"/>
                <a:cs typeface="Calibri"/>
              </a:rPr>
              <a:t>The model may propose. Retrieval and deterministic validators decide what can leave the API or enter the fast cache.</a:t>
            </a:r>
          </a:p>
        </p:txBody>
      </p:sp>
      <p:sp>
        <p:nvSpPr>
          <p:cNvPr id="10" name="">
            <a:extLst xmlns:a="http://schemas.openxmlformats.org/drawingml/2006/main">
              <a:ext uri="{FF2B5EF4-FFF2-40B4-BE49-F238E27FC236}">
                <a16:creationId xmlns:a16="http://schemas.microsoft.com/office/drawing/2014/main" id="{55646FF1-CF79-411D-9F28-9A95BDE67A56}"/>
              </a:ext>
            </a:extLst>
          </p:cNvPr>
          <p:cNvSpPr>
            <a:spLocks xmlns:a="http://schemas.openxmlformats.org/drawingml/2006/main" noGrp="1"/>
          </p:cNvSpPr>
          <p:nvPr/>
        </p:nvSpPr>
        <p:spPr>
          <a:xfrm xmlns:a="http://schemas.openxmlformats.org/drawingml/2006/main">
            <a:off x="857250" y="4333875"/>
            <a:ext cx="10382250" cy="0"/>
          </a:xfrm>
          <a:prstGeom xmlns:a="http://schemas.openxmlformats.org/drawingml/2006/main" prst="line">
            <a:avLst/>
          </a:prstGeom>
          <a:noFill xmlns:a="http://schemas.openxmlformats.org/drawingml/2006/main"/>
          <a:ln xmlns:a="http://schemas.openxmlformats.org/drawingml/2006/main" w="19050">
            <a:solidFill>
              <a:srgbClr val="14142B"/>
            </a:solidFill>
            <a:prstDash val="solid"/>
          </a:ln>
        </p:spPr>
      </p:sp>
      <p:sp>
        <p:nvSpPr>
          <p:cNvPr id="11" name="">
            <a:extLst xmlns:a="http://schemas.openxmlformats.org/drawingml/2006/main">
              <a:ext uri="{FF2B5EF4-FFF2-40B4-BE49-F238E27FC236}">
                <a16:creationId xmlns:a16="http://schemas.microsoft.com/office/drawing/2014/main" id="{D4B2AC22-498B-4B88-9744-CCB65C676D57}"/>
              </a:ext>
            </a:extLst>
          </p:cNvPr>
          <p:cNvSpPr>
            <a:spLocks xmlns:a="http://schemas.openxmlformats.org/drawingml/2006/main" noGrp="1"/>
          </p:cNvSpPr>
          <p:nvPr/>
        </p:nvSpPr>
        <p:spPr>
          <a:xfrm xmlns:a="http://schemas.openxmlformats.org/drawingml/2006/main">
            <a:off x="857250" y="461962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725" b="1">
                <a:solidFill>
                  <a:srgbClr val="14142B"/>
                </a:solidFill>
                <a:latin typeface="Calibri"/>
                <a:ea typeface="Calibri"/>
                <a:cs typeface="Calibri"/>
              </a:defRPr>
            </a:pPr>
            <a:r>
              <a:rPr sz="1725" b="1">
                <a:solidFill>
                  <a:srgbClr val="14142B"/>
                </a:solidFill>
                <a:latin typeface="Calibri"/>
                <a:ea typeface="Calibri"/>
                <a:cs typeface="Calibri"/>
              </a:rPr>
              <a:t>Design consequence: low confidence returns a named no_match or no_siis_context fallback instead of guessed remediation.</a:t>
            </a:r>
          </a:p>
        </p:txBody>
      </p:sp>
    </p:spTree>
    <p:extLst>
      <p:ext uri="{BB962C8B-B14F-4D97-AF65-F5344CB8AC3E}">
        <p14:creationId xmlns:p14="http://schemas.microsoft.com/office/powerpoint/2010/main" val="1549970416"/>
      </p:ext>
    </p:extLst>
  </p:cSld>
</p:sld>
</file>

<file path=ppt/slides/slide4.xml><?xml version="1.0" encoding="utf-8"?>
<p:sld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cxnSp>
        <p:nvCxnSpPr>
          <p:cNvPr id="15" name=""/>
          <p:cNvCxnSpPr>
            <a:stCxn xmlns:a="http://schemas.openxmlformats.org/drawingml/2006/main" id="7" idx="3"/>
            <a:endCxn xmlns:a="http://schemas.openxmlformats.org/drawingml/2006/main" id="8" idx="1"/>
          </p:cNvCxnSpPr>
          <p:nvPr/>
        </p:nvCxnSpPr>
        <p:spPr>
          <a:xfrm xmlns:a="http://schemas.openxmlformats.org/drawingml/2006/main">
            <a:off x="9048750" y="2833688"/>
            <a:ext cx="381000" cy="0"/>
          </a:xfrm>
          <a:prstGeom xmlns:a="http://schemas.openxmlformats.org/drawingml/2006/main" prst="straightConnector1">
            <a:avLst/>
          </a:prstGeom>
          <a:ln xmlns:a="http://schemas.openxmlformats.org/drawingml/2006/main" w="19050">
            <a:solidFill>
              <a:srgbClr val="704EA6"/>
            </a:solidFill>
            <a:prstDash val="solid"/>
            <a:tailEnd type="triangle" w="sm" len="sm"/>
          </a:ln>
        </p:spPr>
      </p:cxnSp>
      <p:cxnSp>
        <p:nvCxnSpPr>
          <p:cNvPr id="16" name=""/>
          <p:cNvCxnSpPr>
            <a:stCxn xmlns:a="http://schemas.openxmlformats.org/drawingml/2006/main" id="6" idx="3"/>
            <a:endCxn xmlns:a="http://schemas.openxmlformats.org/drawingml/2006/main" id="7" idx="1"/>
          </p:cNvCxnSpPr>
          <p:nvPr/>
        </p:nvCxnSpPr>
        <p:spPr>
          <a:xfrm xmlns:a="http://schemas.openxmlformats.org/drawingml/2006/main">
            <a:off x="6858000" y="2833688"/>
            <a:ext cx="381000" cy="0"/>
          </a:xfrm>
          <a:prstGeom xmlns:a="http://schemas.openxmlformats.org/drawingml/2006/main" prst="straightConnector1">
            <a:avLst/>
          </a:prstGeom>
          <a:ln xmlns:a="http://schemas.openxmlformats.org/drawingml/2006/main" w="19050">
            <a:solidFill>
              <a:srgbClr val="704EA6"/>
            </a:solidFill>
            <a:prstDash val="solid"/>
            <a:tailEnd type="triangle" w="sm" len="sm"/>
          </a:ln>
        </p:spPr>
      </p:cxnSp>
      <p:cxnSp>
        <p:nvCxnSpPr>
          <p:cNvPr id="17" name=""/>
          <p:cNvCxnSpPr>
            <a:stCxn xmlns:a="http://schemas.openxmlformats.org/drawingml/2006/main" id="5" idx="3"/>
            <a:endCxn xmlns:a="http://schemas.openxmlformats.org/drawingml/2006/main" id="6" idx="1"/>
          </p:cNvCxnSpPr>
          <p:nvPr/>
        </p:nvCxnSpPr>
        <p:spPr>
          <a:xfrm xmlns:a="http://schemas.openxmlformats.org/drawingml/2006/main">
            <a:off x="4667250" y="2833688"/>
            <a:ext cx="381000" cy="0"/>
          </a:xfrm>
          <a:prstGeom xmlns:a="http://schemas.openxmlformats.org/drawingml/2006/main" prst="straightConnector1">
            <a:avLst/>
          </a:prstGeom>
          <a:ln xmlns:a="http://schemas.openxmlformats.org/drawingml/2006/main" w="19050">
            <a:solidFill>
              <a:srgbClr val="704EA6"/>
            </a:solidFill>
            <a:prstDash val="solid"/>
            <a:tailEnd type="triangle" w="sm" len="sm"/>
          </a:ln>
        </p:spPr>
      </p:cxn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2476500" y="2833688"/>
            <a:ext cx="381000" cy="0"/>
          </a:xfrm>
          <a:prstGeom xmlns:a="http://schemas.openxmlformats.org/drawingml/2006/main" prst="straightConnector1">
            <a:avLst/>
          </a:prstGeom>
          <a:ln xmlns:a="http://schemas.openxmlformats.org/drawingml/2006/main" w="19050">
            <a:solidFill>
              <a:srgbClr val="704EA6"/>
            </a:solidFill>
            <a:prstDash val="solid"/>
            <a:tailEnd type="triangle" w="sm" len="sm"/>
          </a:ln>
        </p:spPr>
      </p:cxnSp>
      <p:sp>
        <p:nvSpPr>
          <p:cNvPr id="2" name="Title 1">
            <a:extLst xmlns:a="http://schemas.openxmlformats.org/drawingml/2006/main">
              <a:ext uri="{FF2B5EF4-FFF2-40B4-BE49-F238E27FC236}">
                <a16:creationId xmlns:a16="http://schemas.microsoft.com/office/drawing/2014/main" id="{51353DB3-FB86-4452-A4FB-E7F4BEA62856}"/>
              </a:ext>
            </a:extLst>
          </p:cNvPr>
          <p:cNvSpPr>
            <a:spLocks xmlns:a="http://schemas.openxmlformats.org/drawingml/2006/main" noGrp="1"/>
          </p:cNvSpPr>
          <p:nvPr>
            <p:ph type="title" idx="0"/>
          </p:nvPr>
        </p:nvSpPr>
        <p:spPr>
          <a:xfrm xmlns:a="http://schemas.openxmlformats.org/drawingml/2006/main">
            <a:off x="909917" y="266513"/>
            <a:ext cx="10515600" cy="1325563"/>
          </a:xfrm>
        </p:spPr>
        <p:txBody>
          <a:bodyPr xmlns:a="http://schemas.openxmlformats.org/drawingml/2006/main">
            <a:normAutofit fontScale="100000"/>
          </a:bodyPr>
          <a:lstStyle xmlns:a="http://schemas.openxmlformats.org/drawingml/2006/main"/>
          <a:p xmlns:a="http://schemas.openxmlformats.org/drawingml/2006/main">
            <a:pPr>
              <a:defRPr sz="3150" b="1">
                <a:solidFill>
                  <a:srgbClr val="704EA6"/>
                </a:solidFill>
                <a:latin typeface="Calibri"/>
                <a:ea typeface="Calibri"/>
                <a:cs typeface="Calibri"/>
              </a:defRPr>
            </a:pPr>
            <a:r>
              <a:rPr sz="3150" b="1">
                <a:solidFill>
                  <a:srgbClr val="704EA6"/>
                </a:solidFill>
                <a:latin typeface="Calibri"/>
                <a:ea typeface="Calibri"/>
                <a:cs typeface="Calibri"/>
              </a:rPr>
              <a:t>Architectural workflow</a:t>
            </a:r>
          </a:p>
        </p:txBody>
      </p:sp>
      <p:sp>
        <p:nvSpPr>
          <p:cNvPr id="3" name="Content Placeholder 2">
            <a:extLst xmlns:a="http://schemas.openxmlformats.org/drawingml/2006/main">
              <a:ext uri="{FF2B5EF4-FFF2-40B4-BE49-F238E27FC236}">
                <a16:creationId xmlns:a16="http://schemas.microsoft.com/office/drawing/2014/main" id="{539AB598-5650-4E46-905A-9096F4C50C3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sp>
        <p:nvSpPr>
          <p:cNvPr id="4" name="">
            <a:extLst xmlns:a="http://schemas.openxmlformats.org/drawingml/2006/main">
              <a:ext uri="{FF2B5EF4-FFF2-40B4-BE49-F238E27FC236}">
                <a16:creationId xmlns:a16="http://schemas.microsoft.com/office/drawing/2014/main" id="{D9EAE452-362C-436A-A45F-EEC3030E4998}"/>
              </a:ext>
            </a:extLst>
          </p:cNvPr>
          <p:cNvSpPr>
            <a:spLocks xmlns:a="http://schemas.openxmlformats.org/drawingml/2006/main" noGrp="1"/>
          </p:cNvSpPr>
          <p:nvPr/>
        </p:nvSpPr>
        <p:spPr>
          <a:xfrm xmlns:a="http://schemas.openxmlformats.org/drawingml/2006/main">
            <a:off x="666750" y="2333625"/>
            <a:ext cx="1809750"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11430">
            <a:solidFill>
              <a:srgbClr val="D9D3F0"/>
            </a:solid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14142B"/>
                </a:solidFill>
                <a:latin typeface="Calibri"/>
                <a:ea typeface="Calibri"/>
                <a:cs typeface="Calibri"/>
              </a:defRPr>
            </a:pPr>
            <a:r>
              <a:rPr sz="1350" b="1">
                <a:solidFill>
                  <a:srgbClr val="14142B"/>
                </a:solidFill>
                <a:latin typeface="Calibri"/>
                <a:ea typeface="Calibri"/>
                <a:cs typeface="Calibri"/>
              </a:rPr>
              <a:t>Raw complaint</a:t>
            </a:r>
          </a:p>
          <a:p xmlns:a="http://schemas.openxmlformats.org/drawingml/2006/main">
            <a:pPr algn="l">
              <a:defRPr sz="1350" b="1">
                <a:solidFill>
                  <a:srgbClr val="14142B"/>
                </a:solidFill>
                <a:latin typeface="Calibri"/>
                <a:ea typeface="Calibri"/>
                <a:cs typeface="Calibri"/>
              </a:defRPr>
            </a:pPr>
            <a:r>
              <a:rPr sz="1350" b="1">
                <a:solidFill>
                  <a:srgbClr val="14142B"/>
                </a:solidFill>
                <a:latin typeface="Calibri"/>
                <a:ea typeface="Calibri"/>
                <a:cs typeface="Calibri"/>
              </a:rPr>
              <a:t>+ optional SIIS text</a:t>
            </a:r>
          </a:p>
        </p:txBody>
      </p:sp>
      <p:sp>
        <p:nvSpPr>
          <p:cNvPr id="5" name="">
            <a:extLst xmlns:a="http://schemas.openxmlformats.org/drawingml/2006/main">
              <a:ext uri="{FF2B5EF4-FFF2-40B4-BE49-F238E27FC236}">
                <a16:creationId xmlns:a16="http://schemas.microsoft.com/office/drawing/2014/main" id="{F4DC49AE-11A7-4261-9AF3-B63496B822EF}"/>
              </a:ext>
            </a:extLst>
          </p:cNvPr>
          <p:cNvSpPr>
            <a:spLocks xmlns:a="http://schemas.openxmlformats.org/drawingml/2006/main" noGrp="1"/>
          </p:cNvSpPr>
          <p:nvPr/>
        </p:nvSpPr>
        <p:spPr>
          <a:xfrm xmlns:a="http://schemas.openxmlformats.org/drawingml/2006/main">
            <a:off x="2857500" y="2333625"/>
            <a:ext cx="1809750" cy="1000125"/>
          </a:xfrm>
          <a:prstGeom xmlns:a="http://schemas.openxmlformats.org/drawingml/2006/main" prst="roundRect">
            <a:avLst>
              <a:gd name="adj" fmla="val 11429"/>
            </a:avLst>
          </a:prstGeom>
          <a:solidFill xmlns:a="http://schemas.openxmlformats.org/drawingml/2006/main">
            <a:srgbClr val="F5F2FB"/>
          </a:solidFill>
          <a:ln xmlns:a="http://schemas.openxmlformats.org/drawingml/2006/main" w="11430">
            <a:solidFill>
              <a:srgbClr val="D9D3F0"/>
            </a:solid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4142B"/>
                </a:solidFill>
                <a:latin typeface="Calibri"/>
                <a:ea typeface="Calibri"/>
                <a:cs typeface="Calibri"/>
              </a:defRPr>
            </a:pPr>
            <a:r>
              <a:rPr sz="1350" b="0">
                <a:solidFill>
                  <a:srgbClr val="14142B"/>
                </a:solidFill>
                <a:latin typeface="Calibri"/>
                <a:ea typeface="Calibri"/>
                <a:cs typeface="Calibri"/>
              </a:rPr>
              <a:t>Stage 1 model</a:t>
            </a:r>
          </a:p>
          <a:p xmlns:a="http://schemas.openxmlformats.org/drawingml/2006/main">
            <a:pPr algn="l">
              <a:defRPr sz="1350" b="0">
                <a:solidFill>
                  <a:srgbClr val="14142B"/>
                </a:solidFill>
                <a:latin typeface="Calibri"/>
                <a:ea typeface="Calibri"/>
                <a:cs typeface="Calibri"/>
              </a:defRPr>
            </a:pPr>
            <a:r>
              <a:rPr sz="1350" b="0">
                <a:solidFill>
                  <a:srgbClr val="14142B"/>
                </a:solidFill>
                <a:latin typeface="Calibri"/>
                <a:ea typeface="Calibri"/>
                <a:cs typeface="Calibri"/>
              </a:rPr>
              <a:t>issue structure +</a:t>
            </a:r>
          </a:p>
          <a:p xmlns:a="http://schemas.openxmlformats.org/drawingml/2006/main">
            <a:pPr algn="l">
              <a:defRPr sz="1350" b="0">
                <a:solidFill>
                  <a:srgbClr val="14142B"/>
                </a:solidFill>
                <a:latin typeface="Calibri"/>
                <a:ea typeface="Calibri"/>
                <a:cs typeface="Calibri"/>
              </a:defRPr>
            </a:pPr>
            <a:r>
              <a:rPr sz="1350" b="0">
                <a:solidFill>
                  <a:srgbClr val="14142B"/>
                </a:solidFill>
                <a:latin typeface="Calibri"/>
                <a:ea typeface="Calibri"/>
                <a:cs typeface="Calibri"/>
              </a:rPr>
              <a:t>8–10 paraphrases</a:t>
            </a:r>
          </a:p>
        </p:txBody>
      </p:sp>
      <p:sp>
        <p:nvSpPr>
          <p:cNvPr id="6" name="">
            <a:extLst xmlns:a="http://schemas.openxmlformats.org/drawingml/2006/main">
              <a:ext uri="{FF2B5EF4-FFF2-40B4-BE49-F238E27FC236}">
                <a16:creationId xmlns:a16="http://schemas.microsoft.com/office/drawing/2014/main" id="{446D72D3-C493-467A-82F6-3EF6DAAABBFB}"/>
              </a:ext>
            </a:extLst>
          </p:cNvPr>
          <p:cNvSpPr>
            <a:spLocks xmlns:a="http://schemas.openxmlformats.org/drawingml/2006/main" noGrp="1"/>
          </p:cNvSpPr>
          <p:nvPr/>
        </p:nvSpPr>
        <p:spPr>
          <a:xfrm xmlns:a="http://schemas.openxmlformats.org/drawingml/2006/main">
            <a:off x="5048250" y="2333625"/>
            <a:ext cx="1809750" cy="1000125"/>
          </a:xfrm>
          <a:prstGeom xmlns:a="http://schemas.openxmlformats.org/drawingml/2006/main" prst="roundRect">
            <a:avLst>
              <a:gd name="adj" fmla="val 11429"/>
            </a:avLst>
          </a:prstGeom>
          <a:solidFill xmlns:a="http://schemas.openxmlformats.org/drawingml/2006/main">
            <a:srgbClr val="F5F2FB"/>
          </a:solidFill>
          <a:ln xmlns:a="http://schemas.openxmlformats.org/drawingml/2006/main" w="11430">
            <a:solidFill>
              <a:srgbClr val="D9D3F0"/>
            </a:solid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4142B"/>
                </a:solidFill>
                <a:latin typeface="Calibri"/>
                <a:ea typeface="Calibri"/>
                <a:cs typeface="Calibri"/>
              </a:defRPr>
            </a:pPr>
            <a:r>
              <a:rPr sz="1350" b="0">
                <a:solidFill>
                  <a:srgbClr val="14142B"/>
                </a:solidFill>
                <a:latin typeface="Calibri"/>
                <a:ea typeface="Calibri"/>
                <a:cs typeface="Calibri"/>
              </a:rPr>
              <a:t>Hybrid retrieval</a:t>
            </a:r>
          </a:p>
          <a:p xmlns:a="http://schemas.openxmlformats.org/drawingml/2006/main">
            <a:pPr algn="l">
              <a:defRPr sz="1350" b="0">
                <a:solidFill>
                  <a:srgbClr val="14142B"/>
                </a:solidFill>
                <a:latin typeface="Calibri"/>
                <a:ea typeface="Calibri"/>
                <a:cs typeface="Calibri"/>
              </a:defRPr>
            </a:pPr>
            <a:r>
              <a:rPr sz="1350" b="0">
                <a:solidFill>
                  <a:srgbClr val="14142B"/>
                </a:solidFill>
                <a:latin typeface="Calibri"/>
                <a:ea typeface="Calibri"/>
                <a:cs typeface="Calibri"/>
              </a:rPr>
              <a:t>reference text +</a:t>
            </a:r>
          </a:p>
          <a:p xmlns:a="http://schemas.openxmlformats.org/drawingml/2006/main">
            <a:pPr algn="l">
              <a:defRPr sz="1350" b="0">
                <a:solidFill>
                  <a:srgbClr val="14142B"/>
                </a:solidFill>
                <a:latin typeface="Calibri"/>
                <a:ea typeface="Calibri"/>
                <a:cs typeface="Calibri"/>
              </a:defRPr>
            </a:pPr>
            <a:r>
              <a:rPr sz="1350" b="0">
                <a:solidFill>
                  <a:srgbClr val="14142B"/>
                </a:solidFill>
                <a:latin typeface="Calibri"/>
                <a:ea typeface="Calibri"/>
                <a:cs typeface="Calibri"/>
              </a:rPr>
              <a:t>deeplink candidates</a:t>
            </a:r>
          </a:p>
        </p:txBody>
      </p:sp>
      <p:sp>
        <p:nvSpPr>
          <p:cNvPr id="7" name="">
            <a:extLst xmlns:a="http://schemas.openxmlformats.org/drawingml/2006/main">
              <a:ext uri="{FF2B5EF4-FFF2-40B4-BE49-F238E27FC236}">
                <a16:creationId xmlns:a16="http://schemas.microsoft.com/office/drawing/2014/main" id="{CC986482-44B9-4767-9D3C-8CC5B82BCCBB}"/>
              </a:ext>
            </a:extLst>
          </p:cNvPr>
          <p:cNvSpPr>
            <a:spLocks xmlns:a="http://schemas.openxmlformats.org/drawingml/2006/main" noGrp="1"/>
          </p:cNvSpPr>
          <p:nvPr/>
        </p:nvSpPr>
        <p:spPr>
          <a:xfrm xmlns:a="http://schemas.openxmlformats.org/drawingml/2006/main">
            <a:off x="7239000" y="2333625"/>
            <a:ext cx="1809750" cy="1000125"/>
          </a:xfrm>
          <a:prstGeom xmlns:a="http://schemas.openxmlformats.org/drawingml/2006/main" prst="roundRect">
            <a:avLst>
              <a:gd name="adj" fmla="val 11429"/>
            </a:avLst>
          </a:prstGeom>
          <a:solidFill xmlns:a="http://schemas.openxmlformats.org/drawingml/2006/main">
            <a:srgbClr val="F5F2FB"/>
          </a:solidFill>
          <a:ln xmlns:a="http://schemas.openxmlformats.org/drawingml/2006/main" w="11430">
            <a:solidFill>
              <a:srgbClr val="D9D3F0"/>
            </a:solid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4142B"/>
                </a:solidFill>
                <a:latin typeface="Calibri"/>
                <a:ea typeface="Calibri"/>
                <a:cs typeface="Calibri"/>
              </a:defRPr>
            </a:pPr>
            <a:r>
              <a:rPr sz="1350" b="0">
                <a:solidFill>
                  <a:srgbClr val="14142B"/>
                </a:solidFill>
                <a:latin typeface="Calibri"/>
                <a:ea typeface="Calibri"/>
                <a:cs typeface="Calibri"/>
              </a:rPr>
              <a:t>Stage 2 model</a:t>
            </a:r>
          </a:p>
          <a:p xmlns:a="http://schemas.openxmlformats.org/drawingml/2006/main">
            <a:pPr algn="l">
              <a:defRPr sz="1350" b="0">
                <a:solidFill>
                  <a:srgbClr val="14142B"/>
                </a:solidFill>
                <a:latin typeface="Calibri"/>
                <a:ea typeface="Calibri"/>
                <a:cs typeface="Calibri"/>
              </a:defRPr>
            </a:pPr>
            <a:r>
              <a:rPr sz="1350" b="0">
                <a:solidFill>
                  <a:srgbClr val="14142B"/>
                </a:solidFill>
                <a:latin typeface="Calibri"/>
                <a:ea typeface="Calibri"/>
                <a:cs typeface="Calibri"/>
              </a:rPr>
              <a:t>actions, steps,</a:t>
            </a:r>
          </a:p>
          <a:p xmlns:a="http://schemas.openxmlformats.org/drawingml/2006/main">
            <a:pPr algn="l">
              <a:defRPr sz="1350" b="0">
                <a:solidFill>
                  <a:srgbClr val="14142B"/>
                </a:solidFill>
                <a:latin typeface="Calibri"/>
                <a:ea typeface="Calibri"/>
                <a:cs typeface="Calibri"/>
              </a:defRPr>
            </a:pPr>
            <a:r>
              <a:rPr sz="1350" b="0">
                <a:solidFill>
                  <a:srgbClr val="14142B"/>
                </a:solidFill>
                <a:latin typeface="Calibri"/>
                <a:ea typeface="Calibri"/>
                <a:cs typeface="Calibri"/>
              </a:rPr>
              <a:t>allowed catalog URIs</a:t>
            </a:r>
          </a:p>
        </p:txBody>
      </p:sp>
      <p:sp>
        <p:nvSpPr>
          <p:cNvPr id="8" name="">
            <a:extLst xmlns:a="http://schemas.openxmlformats.org/drawingml/2006/main">
              <a:ext uri="{FF2B5EF4-FFF2-40B4-BE49-F238E27FC236}">
                <a16:creationId xmlns:a16="http://schemas.microsoft.com/office/drawing/2014/main" id="{0E53C378-4402-4DE3-BDCD-6B7C4B183EF7}"/>
              </a:ext>
            </a:extLst>
          </p:cNvPr>
          <p:cNvSpPr>
            <a:spLocks xmlns:a="http://schemas.openxmlformats.org/drawingml/2006/main" noGrp="1"/>
          </p:cNvSpPr>
          <p:nvPr/>
        </p:nvSpPr>
        <p:spPr>
          <a:xfrm xmlns:a="http://schemas.openxmlformats.org/drawingml/2006/main">
            <a:off x="9429750" y="2333625"/>
            <a:ext cx="2095500" cy="1000125"/>
          </a:xfrm>
          <a:prstGeom xmlns:a="http://schemas.openxmlformats.org/drawingml/2006/main" prst="roundRect">
            <a:avLst>
              <a:gd name="adj" fmla="val 11429"/>
            </a:avLst>
          </a:prstGeom>
          <a:solidFill xmlns:a="http://schemas.openxmlformats.org/drawingml/2006/main">
            <a:srgbClr val="EEF8F3"/>
          </a:solidFill>
          <a:ln xmlns:a="http://schemas.openxmlformats.org/drawingml/2006/main" w="11430">
            <a:solidFill>
              <a:srgbClr val="99CDB8"/>
            </a:solid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14142B"/>
                </a:solidFill>
                <a:latin typeface="Calibri"/>
                <a:ea typeface="Calibri"/>
                <a:cs typeface="Calibri"/>
              </a:defRPr>
            </a:pPr>
            <a:r>
              <a:rPr sz="1350" b="1">
                <a:solidFill>
                  <a:srgbClr val="14142B"/>
                </a:solidFill>
                <a:latin typeface="Calibri"/>
                <a:ea typeface="Calibri"/>
                <a:cs typeface="Calibri"/>
              </a:rPr>
              <a:t>Validation gate</a:t>
            </a:r>
          </a:p>
          <a:p xmlns:a="http://schemas.openxmlformats.org/drawingml/2006/main">
            <a:pPr algn="l">
              <a:defRPr sz="1350" b="1">
                <a:solidFill>
                  <a:srgbClr val="14142B"/>
                </a:solidFill>
                <a:latin typeface="Calibri"/>
                <a:ea typeface="Calibri"/>
                <a:cs typeface="Calibri"/>
              </a:defRPr>
            </a:pPr>
            <a:r>
              <a:rPr sz="1350" b="1">
                <a:solidFill>
                  <a:srgbClr val="14142B"/>
                </a:solidFill>
                <a:latin typeface="Calibri"/>
                <a:ea typeface="Calibri"/>
                <a:cs typeface="Calibri"/>
              </a:rPr>
              <a:t>verified plan or</a:t>
            </a:r>
          </a:p>
          <a:p xmlns:a="http://schemas.openxmlformats.org/drawingml/2006/main">
            <a:pPr algn="l">
              <a:defRPr sz="1350" b="1">
                <a:solidFill>
                  <a:srgbClr val="14142B"/>
                </a:solidFill>
                <a:latin typeface="Calibri"/>
                <a:ea typeface="Calibri"/>
                <a:cs typeface="Calibri"/>
              </a:defRPr>
            </a:pPr>
            <a:r>
              <a:rPr sz="1350" b="1">
                <a:solidFill>
                  <a:srgbClr val="14142B"/>
                </a:solidFill>
                <a:latin typeface="Calibri"/>
                <a:ea typeface="Calibri"/>
                <a:cs typeface="Calibri"/>
              </a:rPr>
              <a:t>named fallback</a:t>
            </a:r>
          </a:p>
        </p:txBody>
      </p:sp>
      <p:sp>
        <p:nvSpPr>
          <p:cNvPr id="13" name="">
            <a:extLst xmlns:a="http://schemas.openxmlformats.org/drawingml/2006/main">
              <a:ext uri="{FF2B5EF4-FFF2-40B4-BE49-F238E27FC236}">
                <a16:creationId xmlns:a16="http://schemas.microsoft.com/office/drawing/2014/main" id="{978B84A4-08B1-46D0-9C3C-8B1AC4B1EB75}"/>
              </a:ext>
            </a:extLst>
          </p:cNvPr>
          <p:cNvSpPr>
            <a:spLocks xmlns:a="http://schemas.openxmlformats.org/drawingml/2006/main" noGrp="1"/>
          </p:cNvSpPr>
          <p:nvPr/>
        </p:nvSpPr>
        <p:spPr>
          <a:xfrm xmlns:a="http://schemas.openxmlformats.org/drawingml/2006/main">
            <a:off x="2857500" y="4048125"/>
            <a:ext cx="6191250" cy="762000"/>
          </a:xfrm>
          <a:prstGeom xmlns:a="http://schemas.openxmlformats.org/drawingml/2006/main" prst="roundRect">
            <a:avLst>
              <a:gd name="adj" fmla="val 15000"/>
            </a:avLst>
          </a:prstGeom>
          <a:solidFill xmlns:a="http://schemas.openxmlformats.org/drawingml/2006/main">
            <a:srgbClr val="F5F2FB"/>
          </a:solidFill>
          <a:ln xmlns:a="http://schemas.openxmlformats.org/drawingml/2006/main" w="11430">
            <a:solidFill>
              <a:srgbClr val="D9D3F0"/>
            </a:solidFill>
            <a:prstDash val="solid"/>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14142B"/>
                </a:solidFill>
                <a:latin typeface="Calibri"/>
                <a:ea typeface="Calibri"/>
                <a:cs typeface="Calibri"/>
              </a:defRPr>
            </a:pPr>
            <a:r>
              <a:rPr sz="1500" b="1">
                <a:solidFill>
                  <a:srgbClr val="14142B"/>
                </a:solidFill>
                <a:latin typeface="Calibri"/>
                <a:ea typeface="Calibri"/>
                <a:cs typeface="Calibri"/>
              </a:rPr>
              <a:t>Fast path: only validated plans are admitted. Exact and semantic paraphrase matches return without another model call.</a:t>
            </a:r>
          </a:p>
        </p:txBody>
      </p:sp>
      <p:sp>
        <p:nvSpPr>
          <p:cNvPr id="14" name="">
            <a:extLst xmlns:a="http://schemas.openxmlformats.org/drawingml/2006/main">
              <a:ext uri="{FF2B5EF4-FFF2-40B4-BE49-F238E27FC236}">
                <a16:creationId xmlns:a16="http://schemas.microsoft.com/office/drawing/2014/main" id="{E1C726D5-D1F9-41A4-B878-5BDD372B6858}"/>
              </a:ext>
            </a:extLst>
          </p:cNvPr>
          <p:cNvSpPr>
            <a:spLocks xmlns:a="http://schemas.openxmlformats.org/drawingml/2006/main" noGrp="1"/>
          </p:cNvSpPr>
          <p:nvPr/>
        </p:nvSpPr>
        <p:spPr>
          <a:xfrm xmlns:a="http://schemas.openxmlformats.org/drawingml/2006/main">
            <a:off x="2857500" y="500062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75" b="0">
                <a:solidFill>
                  <a:srgbClr val="4E5068"/>
                </a:solidFill>
                <a:latin typeface="Calibri"/>
                <a:ea typeface="Calibri"/>
                <a:cs typeface="Calibri"/>
              </a:defRPr>
            </a:pPr>
            <a:r>
              <a:rPr sz="1275" b="0">
                <a:solidFill>
                  <a:srgbClr val="4E5068"/>
                </a:solidFill>
                <a:latin typeface="Calibri"/>
                <a:ea typeface="Calibri"/>
                <a:cs typeface="Calibri"/>
              </a:rPr>
              <a:t>A configured model performs issue structuring and evidence-constrained plan generation. The deterministic gate stays authoritative.</a:t>
            </a:r>
          </a:p>
        </p:txBody>
      </p:sp>
    </p:spTree>
    <p:extLst>
      <p:ext uri="{BB962C8B-B14F-4D97-AF65-F5344CB8AC3E}">
        <p14:creationId xmlns:p14="http://schemas.microsoft.com/office/powerpoint/2010/main" val="2579789072"/>
      </p:ext>
    </p:extLst>
  </p:cSld>
  <p:clrMapOvr>
    <a:overrideClrMapping xmlns:a="http://schemas.openxmlformats.org/drawingml/2006/main" bg1="lt1" tx1="dk1" bg2="lt2" tx2="dk2" accent1="accent1" accent2="accent2" accent3="accent3" accent4="accent4" accent5="accent5" accent6="accent6" hlink="hlink" folHlink="folHlink"/>
  </p:clrMapOvr>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353DB3-FB86-4452-A4FB-E7F4BEA62856}"/>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pPr>
              <a:defRPr sz="3150" b="1">
                <a:solidFill>
                  <a:srgbClr val="704EA6"/>
                </a:solidFill>
                <a:latin typeface="Calibri"/>
                <a:ea typeface="Calibri"/>
                <a:cs typeface="Calibri"/>
              </a:defRPr>
            </a:pPr>
            <a:r>
              <a:rPr sz="3150" b="1">
                <a:solidFill>
                  <a:srgbClr val="704EA6"/>
                </a:solidFill>
                <a:latin typeface="Calibri"/>
                <a:ea typeface="Calibri"/>
                <a:cs typeface="Calibri"/>
              </a:rPr>
              <a:t>Working prototype walkthrough</a:t>
            </a:r>
          </a:p>
        </p:txBody>
      </p:sp>
      <p:sp>
        <p:nvSpPr>
          <p:cNvPr id="3" name="Content Placeholder 2">
            <a:extLst xmlns:a="http://schemas.openxmlformats.org/drawingml/2006/main">
              <a:ext uri="{FF2B5EF4-FFF2-40B4-BE49-F238E27FC236}">
                <a16:creationId xmlns:a16="http://schemas.microsoft.com/office/drawing/2014/main" id="{539AB598-5650-4E46-905A-9096F4C50C3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e5805cb1b684c8a"/>
          <a:stretch xmlns:a="http://schemas.openxmlformats.org/drawingml/2006/main"/>
        </p:blipFill>
        <p:spPr>
          <a:xfrm xmlns:a="http://schemas.openxmlformats.org/drawingml/2006/main">
            <a:off x="2777443" y="1476375"/>
            <a:ext cx="2636613" cy="4476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75F10DA-FA88-472B-A91B-8A6C44781B1E}"/>
              </a:ext>
            </a:extLst>
          </p:cNvPr>
          <p:cNvSpPr>
            <a:spLocks xmlns:a="http://schemas.openxmlformats.org/drawingml/2006/main" noGrp="1"/>
          </p:cNvSpPr>
          <p:nvPr/>
        </p:nvSpPr>
        <p:spPr>
          <a:xfrm xmlns:a="http://schemas.openxmlformats.org/drawingml/2006/main">
            <a:off x="8048625" y="171450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1">
                <a:solidFill>
                  <a:srgbClr val="704EA6"/>
                </a:solidFill>
                <a:latin typeface="Calibri"/>
                <a:ea typeface="Calibri"/>
                <a:cs typeface="Calibri"/>
              </a:defRPr>
            </a:pPr>
            <a:r>
              <a:rPr sz="1875" b="1">
                <a:solidFill>
                  <a:srgbClr val="704EA6"/>
                </a:solidFill>
                <a:latin typeface="Calibri"/>
                <a:ea typeface="Calibri"/>
                <a:cs typeface="Calibri"/>
              </a:rPr>
              <a:t>Demo sequence</a:t>
            </a:r>
          </a:p>
        </p:txBody>
      </p:sp>
      <p:sp>
        <p:nvSpPr>
          <p:cNvPr id="6" name="">
            <a:extLst xmlns:a="http://schemas.openxmlformats.org/drawingml/2006/main">
              <a:ext uri="{FF2B5EF4-FFF2-40B4-BE49-F238E27FC236}">
                <a16:creationId xmlns:a16="http://schemas.microsoft.com/office/drawing/2014/main" id="{C55FC328-92AC-40A1-8D58-6F5347BFC9E2}"/>
              </a:ext>
            </a:extLst>
          </p:cNvPr>
          <p:cNvSpPr>
            <a:spLocks xmlns:a="http://schemas.openxmlformats.org/drawingml/2006/main" noGrp="1"/>
          </p:cNvSpPr>
          <p:nvPr/>
        </p:nvSpPr>
        <p:spPr>
          <a:xfrm xmlns:a="http://schemas.openxmlformats.org/drawingml/2006/main">
            <a:off x="8048625" y="2238375"/>
            <a:ext cx="323850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45"/>
          </a:bodyPr>
          <a:lstStyle xmlns:a="http://schemas.openxmlformats.org/drawingml/2006/main"/>
          <a:p xmlns:a="http://schemas.openxmlformats.org/drawingml/2006/main">
            <a:pPr algn="l">
              <a:defRPr sz="1500" b="0">
                <a:solidFill>
                  <a:srgbClr val="4E5068"/>
                </a:solidFill>
                <a:latin typeface="Calibri"/>
                <a:ea typeface="Calibri"/>
                <a:cs typeface="Calibri"/>
              </a:defRPr>
            </a:pPr>
            <a:r>
              <a:rPr sz="1500" b="0">
                <a:solidFill>
                  <a:srgbClr val="4E5068"/>
                </a:solidFill>
                <a:latin typeface="Calibri"/>
                <a:ea typeface="Calibri"/>
                <a:cs typeface="Calibri"/>
              </a:rPr>
              <a:t>1  Enter one vague or multi-issue complaint</a:t>
            </a:r>
          </a:p>
          <a:p xmlns:a="http://schemas.openxmlformats.org/drawingml/2006/main">
            <a:r>
              <a:t/>
            </a:r>
          </a:p>
          <a:p xmlns:a="http://schemas.openxmlformats.org/drawingml/2006/main">
            <a:pPr algn="l">
              <a:defRPr sz="1500" b="0">
                <a:solidFill>
                  <a:srgbClr val="4E5068"/>
                </a:solidFill>
                <a:latin typeface="Calibri"/>
                <a:ea typeface="Calibri"/>
                <a:cs typeface="Calibri"/>
              </a:defRPr>
            </a:pPr>
            <a:r>
              <a:rPr sz="1500" b="0">
                <a:solidFill>
                  <a:srgbClr val="4E5068"/>
                </a:solidFill>
                <a:latin typeface="Calibri"/>
                <a:ea typeface="Calibri"/>
                <a:cs typeface="Calibri"/>
              </a:rPr>
              <a:t>2  Inspect normalized terms and evidence trace</a:t>
            </a:r>
          </a:p>
          <a:p xmlns:a="http://schemas.openxmlformats.org/drawingml/2006/main">
            <a:r>
              <a:t/>
            </a:r>
          </a:p>
          <a:p xmlns:a="http://schemas.openxmlformats.org/drawingml/2006/main">
            <a:pPr algn="l">
              <a:defRPr sz="1500" b="0">
                <a:solidFill>
                  <a:srgbClr val="4E5068"/>
                </a:solidFill>
                <a:latin typeface="Calibri"/>
                <a:ea typeface="Calibri"/>
                <a:cs typeface="Calibri"/>
              </a:defRPr>
            </a:pPr>
            <a:r>
              <a:rPr sz="1500" b="0">
                <a:solidFill>
                  <a:srgbClr val="4E5068"/>
                </a:solidFill>
                <a:latin typeface="Calibri"/>
                <a:ea typeface="Calibri"/>
                <a:cs typeface="Calibri"/>
              </a:rPr>
              <a:t>3  Open one-tap Settings deeplinks in JSON</a:t>
            </a:r>
          </a:p>
          <a:p xmlns:a="http://schemas.openxmlformats.org/drawingml/2006/main">
            <a:r>
              <a:t/>
            </a:r>
          </a:p>
          <a:p xmlns:a="http://schemas.openxmlformats.org/drawingml/2006/main">
            <a:pPr algn="l">
              <a:defRPr sz="1500" b="0">
                <a:solidFill>
                  <a:srgbClr val="4E5068"/>
                </a:solidFill>
                <a:latin typeface="Calibri"/>
                <a:ea typeface="Calibri"/>
                <a:cs typeface="Calibri"/>
              </a:defRPr>
            </a:pPr>
            <a:r>
              <a:rPr sz="1500" b="0">
                <a:solidFill>
                  <a:srgbClr val="4E5068"/>
                </a:solidFill>
                <a:latin typeface="Calibri"/>
                <a:ea typeface="Calibri"/>
                <a:cs typeface="Calibri"/>
              </a:rPr>
              <a:t>4  Repeat a paraphrase for the validated fast path</a:t>
            </a:r>
          </a:p>
          <a:p xmlns:a="http://schemas.openxmlformats.org/drawingml/2006/main">
            <a:r>
              <a:t/>
            </a:r>
          </a:p>
          <a:p xmlns:a="http://schemas.openxmlformats.org/drawingml/2006/main">
            <a:pPr algn="l">
              <a:defRPr sz="1500" b="0">
                <a:solidFill>
                  <a:srgbClr val="4E5068"/>
                </a:solidFill>
                <a:latin typeface="Calibri"/>
                <a:ea typeface="Calibri"/>
                <a:cs typeface="Calibri"/>
              </a:defRPr>
            </a:pPr>
            <a:r>
              <a:rPr sz="1500" b="0">
                <a:solidFill>
                  <a:srgbClr val="4E5068"/>
                </a:solidFill>
                <a:latin typeface="Calibri"/>
                <a:ea typeface="Calibri"/>
                <a:cs typeface="Calibri"/>
              </a:rPr>
              <a:t>5  Submit an unknown query and verify fail-closed behavior</a:t>
            </a:r>
          </a:p>
        </p:txBody>
      </p:sp>
    </p:spTree>
    <p:extLst>
      <p:ext uri="{BB962C8B-B14F-4D97-AF65-F5344CB8AC3E}">
        <p14:creationId xmlns:p14="http://schemas.microsoft.com/office/powerpoint/2010/main" val="11782449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353DB3-FB86-4452-A4FB-E7F4BEA62856}"/>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pPr>
              <a:defRPr sz="3150" b="1">
                <a:solidFill>
                  <a:srgbClr val="704EA6"/>
                </a:solidFill>
                <a:latin typeface="Calibri"/>
                <a:ea typeface="Calibri"/>
                <a:cs typeface="Calibri"/>
              </a:defRPr>
            </a:pPr>
            <a:r>
              <a:rPr sz="3150" b="1">
                <a:solidFill>
                  <a:srgbClr val="704EA6"/>
                </a:solidFill>
                <a:latin typeface="Calibri"/>
                <a:ea typeface="Calibri"/>
                <a:cs typeface="Calibri"/>
              </a:rPr>
              <a:t>Technology stack</a:t>
            </a:r>
            <a:endParaRPr b="1">
              <a:solidFill>
                <a:srgbClr val="704EA6"/>
              </a:solidFill>
            </a:endParaRPr>
          </a:p>
        </p:txBody>
      </p:sp>
      <p:sp>
        <p:nvSpPr>
          <p:cNvPr id="3" name="Content Placeholder 2">
            <a:extLst xmlns:a="http://schemas.openxmlformats.org/drawingml/2006/main">
              <a:ext uri="{FF2B5EF4-FFF2-40B4-BE49-F238E27FC236}">
                <a16:creationId xmlns:a16="http://schemas.microsoft.com/office/drawing/2014/main" id="{539AB598-5650-4E46-905A-9096F4C50C3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sp>
        <p:nvSpPr>
          <p:cNvPr id="4" name="">
            <a:extLst xmlns:a="http://schemas.openxmlformats.org/drawingml/2006/main">
              <a:ext uri="{FF2B5EF4-FFF2-40B4-BE49-F238E27FC236}">
                <a16:creationId xmlns:a16="http://schemas.microsoft.com/office/drawing/2014/main" id="{285D5CD2-B335-442F-A085-C62A56E40C3C}"/>
              </a:ext>
            </a:extLst>
          </p:cNvPr>
          <p:cNvSpPr>
            <a:spLocks xmlns:a="http://schemas.openxmlformats.org/drawingml/2006/main" noGrp="1"/>
          </p:cNvSpPr>
          <p:nvPr/>
        </p:nvSpPr>
        <p:spPr>
          <a:xfrm xmlns:a="http://schemas.openxmlformats.org/drawingml/2006/main">
            <a:off x="857250" y="1714500"/>
            <a:ext cx="4857750" cy="1066800"/>
          </a:xfrm>
          <a:prstGeom xmlns:a="http://schemas.openxmlformats.org/drawingml/2006/main" prst="roundRect">
            <a:avLst>
              <a:gd name="adj" fmla="val 10714"/>
            </a:avLst>
          </a:prstGeom>
          <a:solidFill xmlns:a="http://schemas.openxmlformats.org/drawingml/2006/main">
            <a:srgbClr val="F7F5FB"/>
          </a:solidFill>
          <a:ln xmlns:a="http://schemas.openxmlformats.org/drawingml/2006/main" w="11430">
            <a:solidFill>
              <a:srgbClr val="D9D3F0"/>
            </a:solid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14142B"/>
                </a:solidFill>
                <a:latin typeface="Calibri"/>
                <a:ea typeface="Calibri"/>
                <a:cs typeface="Calibri"/>
              </a:defRPr>
            </a:pPr>
            <a:r>
              <a:rPr sz="1425" b="0">
                <a:solidFill>
                  <a:srgbClr val="14142B"/>
                </a:solidFill>
                <a:latin typeface="Calibri"/>
                <a:ea typeface="Calibri"/>
                <a:cs typeface="Calibri"/>
              </a:rPr>
              <a:t>API and schema</a:t>
            </a:r>
          </a:p>
          <a:p xmlns:a="http://schemas.openxmlformats.org/drawingml/2006/main">
            <a:pPr algn="l">
              <a:defRPr sz="1425" b="0">
                <a:solidFill>
                  <a:srgbClr val="14142B"/>
                </a:solidFill>
                <a:latin typeface="Calibri"/>
                <a:ea typeface="Calibri"/>
                <a:cs typeface="Calibri"/>
              </a:defRPr>
            </a:pPr>
            <a:r>
              <a:rPr sz="1425" b="0">
                <a:solidFill>
                  <a:srgbClr val="14142B"/>
                </a:solidFill>
                <a:latin typeface="Calibri"/>
                <a:ea typeface="Calibri"/>
                <a:cs typeface="Calibri"/>
              </a:rPr>
              <a:t>Python 3.10–3.12, stdlib threaded HTTP server, Pydantic v2</a:t>
            </a:r>
          </a:p>
        </p:txBody>
      </p:sp>
      <p:sp>
        <p:nvSpPr>
          <p:cNvPr id="5" name="">
            <a:extLst xmlns:a="http://schemas.openxmlformats.org/drawingml/2006/main">
              <a:ext uri="{FF2B5EF4-FFF2-40B4-BE49-F238E27FC236}">
                <a16:creationId xmlns:a16="http://schemas.microsoft.com/office/drawing/2014/main" id="{01B259E2-CF89-42E7-B629-B4B084C549AD}"/>
              </a:ext>
            </a:extLst>
          </p:cNvPr>
          <p:cNvSpPr>
            <a:spLocks xmlns:a="http://schemas.openxmlformats.org/drawingml/2006/main" noGrp="1"/>
          </p:cNvSpPr>
          <p:nvPr/>
        </p:nvSpPr>
        <p:spPr>
          <a:xfrm xmlns:a="http://schemas.openxmlformats.org/drawingml/2006/main">
            <a:off x="6191250" y="1714500"/>
            <a:ext cx="4857750" cy="1066800"/>
          </a:xfrm>
          <a:prstGeom xmlns:a="http://schemas.openxmlformats.org/drawingml/2006/main" prst="roundRect">
            <a:avLst>
              <a:gd name="adj" fmla="val 10714"/>
            </a:avLst>
          </a:prstGeom>
          <a:solidFill xmlns:a="http://schemas.openxmlformats.org/drawingml/2006/main">
            <a:srgbClr val="F7F5FB"/>
          </a:solidFill>
          <a:ln xmlns:a="http://schemas.openxmlformats.org/drawingml/2006/main" w="11430">
            <a:solidFill>
              <a:srgbClr val="D9D3F0"/>
            </a:solid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14142B"/>
                </a:solidFill>
                <a:latin typeface="Calibri"/>
                <a:ea typeface="Calibri"/>
                <a:cs typeface="Calibri"/>
              </a:defRPr>
            </a:pPr>
            <a:r>
              <a:rPr sz="1425" b="0">
                <a:solidFill>
                  <a:srgbClr val="14142B"/>
                </a:solidFill>
                <a:latin typeface="Calibri"/>
                <a:ea typeface="Calibri"/>
                <a:cs typeface="Calibri"/>
              </a:rPr>
              <a:t>Retrieval</a:t>
            </a:r>
          </a:p>
          <a:p xmlns:a="http://schemas.openxmlformats.org/drawingml/2006/main">
            <a:pPr algn="l">
              <a:defRPr sz="1425" b="0">
                <a:solidFill>
                  <a:srgbClr val="14142B"/>
                </a:solidFill>
                <a:latin typeface="Calibri"/>
                <a:ea typeface="Calibri"/>
                <a:cs typeface="Calibri"/>
              </a:defRPr>
            </a:pPr>
            <a:r>
              <a:rPr sz="1425" b="0">
                <a:solidFill>
                  <a:srgbClr val="14142B"/>
                </a:solidFill>
                <a:latin typeface="Calibri"/>
                <a:ea typeface="Calibri"/>
                <a:cs typeface="Calibri"/>
              </a:rPr>
              <a:t>BM25-style lexical scoring, concept overlap, replaceable dense index adapter</a:t>
            </a:r>
          </a:p>
        </p:txBody>
      </p:sp>
      <p:sp>
        <p:nvSpPr>
          <p:cNvPr id="6" name="">
            <a:extLst xmlns:a="http://schemas.openxmlformats.org/drawingml/2006/main">
              <a:ext uri="{FF2B5EF4-FFF2-40B4-BE49-F238E27FC236}">
                <a16:creationId xmlns:a16="http://schemas.microsoft.com/office/drawing/2014/main" id="{355B5E3A-236E-4660-BE5A-4962395EE68C}"/>
              </a:ext>
            </a:extLst>
          </p:cNvPr>
          <p:cNvSpPr>
            <a:spLocks xmlns:a="http://schemas.openxmlformats.org/drawingml/2006/main" noGrp="1"/>
          </p:cNvSpPr>
          <p:nvPr/>
        </p:nvSpPr>
        <p:spPr>
          <a:xfrm xmlns:a="http://schemas.openxmlformats.org/drawingml/2006/main">
            <a:off x="857250" y="3095625"/>
            <a:ext cx="4857750" cy="10668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11430">
            <a:solidFill>
              <a:srgbClr val="D9D3F0"/>
            </a:solid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14142B"/>
                </a:solidFill>
                <a:latin typeface="Calibri"/>
                <a:ea typeface="Calibri"/>
                <a:cs typeface="Calibri"/>
              </a:defRPr>
            </a:pPr>
            <a:r>
              <a:rPr sz="1425" b="0">
                <a:solidFill>
                  <a:srgbClr val="14142B"/>
                </a:solidFill>
                <a:latin typeface="Calibri"/>
                <a:ea typeface="Calibri"/>
                <a:cs typeface="Calibri"/>
              </a:rPr>
              <a:t>Safety</a:t>
            </a:r>
          </a:p>
          <a:p xmlns:a="http://schemas.openxmlformats.org/drawingml/2006/main">
            <a:pPr algn="l">
              <a:defRPr sz="1425" b="0">
                <a:solidFill>
                  <a:srgbClr val="14142B"/>
                </a:solidFill>
                <a:latin typeface="Calibri"/>
                <a:ea typeface="Calibri"/>
                <a:cs typeface="Calibri"/>
              </a:defRPr>
            </a:pPr>
            <a:r>
              <a:rPr sz="1425" b="0">
                <a:solidFill>
                  <a:srgbClr val="14142B"/>
                </a:solidFill>
                <a:latin typeface="Calibri"/>
                <a:ea typeface="Calibri"/>
                <a:cs typeface="Calibri"/>
              </a:rPr>
              <a:t>Exact catalog lookup, evidence check, URL rejection, action hierarchy validation</a:t>
            </a:r>
          </a:p>
        </p:txBody>
      </p:sp>
      <p:sp>
        <p:nvSpPr>
          <p:cNvPr id="7" name="">
            <a:extLst xmlns:a="http://schemas.openxmlformats.org/drawingml/2006/main">
              <a:ext uri="{FF2B5EF4-FFF2-40B4-BE49-F238E27FC236}">
                <a16:creationId xmlns:a16="http://schemas.microsoft.com/office/drawing/2014/main" id="{EC1B7687-6901-4CA8-8A32-6A70F7552F2A}"/>
              </a:ext>
            </a:extLst>
          </p:cNvPr>
          <p:cNvSpPr>
            <a:spLocks xmlns:a="http://schemas.openxmlformats.org/drawingml/2006/main" noGrp="1"/>
          </p:cNvSpPr>
          <p:nvPr/>
        </p:nvSpPr>
        <p:spPr>
          <a:xfrm xmlns:a="http://schemas.openxmlformats.org/drawingml/2006/main">
            <a:off x="6191250" y="3095625"/>
            <a:ext cx="4857750" cy="10668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11430">
            <a:solidFill>
              <a:srgbClr val="D9D3F0"/>
            </a:solid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14142B"/>
                </a:solidFill>
                <a:latin typeface="Calibri"/>
                <a:ea typeface="Calibri"/>
                <a:cs typeface="Calibri"/>
              </a:defRPr>
            </a:pPr>
            <a:r>
              <a:rPr sz="1425" b="0">
                <a:solidFill>
                  <a:srgbClr val="14142B"/>
                </a:solidFill>
                <a:latin typeface="Calibri"/>
                <a:ea typeface="Calibri"/>
                <a:cs typeface="Calibri"/>
              </a:rPr>
              <a:t>Fast path</a:t>
            </a:r>
          </a:p>
          <a:p xmlns:a="http://schemas.openxmlformats.org/drawingml/2006/main">
            <a:pPr algn="l">
              <a:defRPr sz="1425" b="0">
                <a:solidFill>
                  <a:srgbClr val="14142B"/>
                </a:solidFill>
                <a:latin typeface="Calibri"/>
                <a:ea typeface="Calibri"/>
                <a:cs typeface="Calibri"/>
              </a:defRPr>
            </a:pPr>
            <a:r>
              <a:rPr sz="1425" b="0">
                <a:solidFill>
                  <a:srgbClr val="14142B"/>
                </a:solidFill>
                <a:latin typeface="Calibri"/>
                <a:ea typeface="Calibri"/>
                <a:cs typeface="Calibri"/>
              </a:rPr>
              <a:t>Thread-safe semantic cache prewarmed with validated paraphrases</a:t>
            </a:r>
          </a:p>
        </p:txBody>
      </p:sp>
      <p:sp>
        <p:nvSpPr>
          <p:cNvPr id="8" name="">
            <a:extLst xmlns:a="http://schemas.openxmlformats.org/drawingml/2006/main">
              <a:ext uri="{FF2B5EF4-FFF2-40B4-BE49-F238E27FC236}">
                <a16:creationId xmlns:a16="http://schemas.microsoft.com/office/drawing/2014/main" id="{6D08071E-17C9-4FB6-948C-CF138BC43513}"/>
              </a:ext>
            </a:extLst>
          </p:cNvPr>
          <p:cNvSpPr>
            <a:spLocks xmlns:a="http://schemas.openxmlformats.org/drawingml/2006/main" noGrp="1"/>
          </p:cNvSpPr>
          <p:nvPr/>
        </p:nvSpPr>
        <p:spPr>
          <a:xfrm xmlns:a="http://schemas.openxmlformats.org/drawingml/2006/main">
            <a:off x="857250" y="4476750"/>
            <a:ext cx="4857750" cy="1066800"/>
          </a:xfrm>
          <a:prstGeom xmlns:a="http://schemas.openxmlformats.org/drawingml/2006/main" prst="roundRect">
            <a:avLst>
              <a:gd name="adj" fmla="val 10714"/>
            </a:avLst>
          </a:prstGeom>
          <a:solidFill xmlns:a="http://schemas.openxmlformats.org/drawingml/2006/main">
            <a:srgbClr val="F7F5FB"/>
          </a:solidFill>
          <a:ln xmlns:a="http://schemas.openxmlformats.org/drawingml/2006/main" w="11430">
            <a:solidFill>
              <a:srgbClr val="D9D3F0"/>
            </a:solid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14142B"/>
                </a:solidFill>
                <a:latin typeface="Calibri"/>
                <a:ea typeface="Calibri"/>
                <a:cs typeface="Calibri"/>
              </a:defRPr>
            </a:pPr>
            <a:r>
              <a:rPr sz="1425" b="0">
                <a:solidFill>
                  <a:srgbClr val="14142B"/>
                </a:solidFill>
                <a:latin typeface="Calibri"/>
                <a:ea typeface="Calibri"/>
                <a:cs typeface="Calibri"/>
              </a:rPr>
              <a:t>Interface</a:t>
            </a:r>
          </a:p>
          <a:p xmlns:a="http://schemas.openxmlformats.org/drawingml/2006/main">
            <a:pPr algn="l">
              <a:defRPr sz="1425" b="0">
                <a:solidFill>
                  <a:srgbClr val="14142B"/>
                </a:solidFill>
                <a:latin typeface="Calibri"/>
                <a:ea typeface="Calibri"/>
                <a:cs typeface="Calibri"/>
              </a:defRPr>
            </a:pPr>
            <a:r>
              <a:rPr sz="1425" b="0">
                <a:solidFill>
                  <a:srgbClr val="14142B"/>
                </a:solidFill>
                <a:latin typeface="Calibri"/>
                <a:ea typeface="Calibri"/>
                <a:cs typeface="Calibri"/>
              </a:rPr>
              <a:t>Responsive HTML, CSS, and JavaScript using the same REST endpoint</a:t>
            </a:r>
          </a:p>
        </p:txBody>
      </p:sp>
      <p:sp>
        <p:nvSpPr>
          <p:cNvPr id="9" name="">
            <a:extLst xmlns:a="http://schemas.openxmlformats.org/drawingml/2006/main">
              <a:ext uri="{FF2B5EF4-FFF2-40B4-BE49-F238E27FC236}">
                <a16:creationId xmlns:a16="http://schemas.microsoft.com/office/drawing/2014/main" id="{9A47F157-7EDA-4EB7-B87F-AAE058167FF8}"/>
              </a:ext>
            </a:extLst>
          </p:cNvPr>
          <p:cNvSpPr>
            <a:spLocks xmlns:a="http://schemas.openxmlformats.org/drawingml/2006/main" noGrp="1"/>
          </p:cNvSpPr>
          <p:nvPr/>
        </p:nvSpPr>
        <p:spPr>
          <a:xfrm xmlns:a="http://schemas.openxmlformats.org/drawingml/2006/main">
            <a:off x="6191250" y="4476750"/>
            <a:ext cx="4857750" cy="1066800"/>
          </a:xfrm>
          <a:prstGeom xmlns:a="http://schemas.openxmlformats.org/drawingml/2006/main" prst="roundRect">
            <a:avLst>
              <a:gd name="adj" fmla="val 10714"/>
            </a:avLst>
          </a:prstGeom>
          <a:solidFill xmlns:a="http://schemas.openxmlformats.org/drawingml/2006/main">
            <a:srgbClr val="F7F5FB"/>
          </a:solidFill>
          <a:ln xmlns:a="http://schemas.openxmlformats.org/drawingml/2006/main" w="11430">
            <a:solidFill>
              <a:srgbClr val="D9D3F0"/>
            </a:solid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14142B"/>
                </a:solidFill>
                <a:latin typeface="Calibri"/>
                <a:ea typeface="Calibri"/>
                <a:cs typeface="Calibri"/>
              </a:defRPr>
            </a:pPr>
            <a:r>
              <a:rPr sz="1425" b="0">
                <a:solidFill>
                  <a:srgbClr val="14142B"/>
                </a:solidFill>
                <a:latin typeface="Calibri"/>
                <a:ea typeface="Calibri"/>
                <a:cs typeface="Calibri"/>
              </a:rPr>
              <a:t>Delivery</a:t>
            </a:r>
          </a:p>
          <a:p xmlns:a="http://schemas.openxmlformats.org/drawingml/2006/main">
            <a:pPr algn="l">
              <a:defRPr sz="1425" b="0">
                <a:solidFill>
                  <a:srgbClr val="14142B"/>
                </a:solidFill>
                <a:latin typeface="Calibri"/>
                <a:ea typeface="Calibri"/>
                <a:cs typeface="Calibri"/>
              </a:defRPr>
            </a:pPr>
            <a:r>
              <a:rPr sz="1425" b="0">
                <a:solidFill>
                  <a:srgbClr val="14142B"/>
                </a:solidFill>
                <a:latin typeface="Calibri"/>
                <a:ea typeface="Calibri"/>
                <a:cs typeface="Calibri"/>
              </a:rPr>
              <a:t>Docker, unittest suite, benchmark harness, AI disclosure, 12-slide deck</a:t>
            </a:r>
          </a:p>
        </p:txBody>
      </p:sp>
    </p:spTree>
    <p:extLst>
      <p:ext uri="{BB962C8B-B14F-4D97-AF65-F5344CB8AC3E}">
        <p14:creationId xmlns:p14="http://schemas.microsoft.com/office/powerpoint/2010/main" val="372482880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353DB3-FB86-4452-A4FB-E7F4BEA62856}"/>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pPr>
              <a:defRPr sz="3150" b="1">
                <a:solidFill>
                  <a:srgbClr val="704EA6"/>
                </a:solidFill>
                <a:latin typeface="Calibri"/>
                <a:ea typeface="Calibri"/>
                <a:cs typeface="Calibri"/>
              </a:defRPr>
            </a:pPr>
            <a:r>
              <a:rPr sz="3150" b="1">
                <a:solidFill>
                  <a:srgbClr val="704EA6"/>
                </a:solidFill>
                <a:latin typeface="Calibri"/>
                <a:ea typeface="Calibri"/>
                <a:cs typeface="Calibri"/>
              </a:rPr>
              <a:t>Benefits and measurable value</a:t>
            </a:r>
            <a:endParaRPr b="1">
              <a:solidFill>
                <a:srgbClr val="704EA6"/>
              </a:solidFill>
            </a:endParaRPr>
          </a:p>
        </p:txBody>
      </p:sp>
      <p:sp>
        <p:nvSpPr>
          <p:cNvPr id="3" name="Content Placeholder 2">
            <a:extLst xmlns:a="http://schemas.openxmlformats.org/drawingml/2006/main">
              <a:ext uri="{FF2B5EF4-FFF2-40B4-BE49-F238E27FC236}">
                <a16:creationId xmlns:a16="http://schemas.microsoft.com/office/drawing/2014/main" id="{539AB598-5650-4E46-905A-9096F4C50C3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sp>
        <p:nvSpPr>
          <p:cNvPr id="4" name="">
            <a:extLst xmlns:a="http://schemas.openxmlformats.org/drawingml/2006/main">
              <a:ext uri="{FF2B5EF4-FFF2-40B4-BE49-F238E27FC236}">
                <a16:creationId xmlns:a16="http://schemas.microsoft.com/office/drawing/2014/main" id="{708F3433-310C-4B58-B452-6623A633DE11}"/>
              </a:ext>
            </a:extLst>
          </p:cNvPr>
          <p:cNvSpPr>
            <a:spLocks xmlns:a="http://schemas.openxmlformats.org/drawingml/2006/main" noGrp="1"/>
          </p:cNvSpPr>
          <p:nvPr/>
        </p:nvSpPr>
        <p:spPr>
          <a:xfrm xmlns:a="http://schemas.openxmlformats.org/drawingml/2006/main">
            <a:off x="857250" y="1809750"/>
            <a:ext cx="3143250" cy="1428750"/>
          </a:xfrm>
          <a:prstGeom xmlns:a="http://schemas.openxmlformats.org/drawingml/2006/main" prst="roundRect">
            <a:avLst>
              <a:gd name="adj" fmla="val 8000"/>
            </a:avLst>
          </a:prstGeom>
          <a:solidFill xmlns:a="http://schemas.openxmlformats.org/drawingml/2006/main">
            <a:srgbClr val="F5F2FB"/>
          </a:solidFill>
          <a:ln xmlns:a="http://schemas.openxmlformats.org/drawingml/2006/main" w="11430">
            <a:solidFill>
              <a:srgbClr val="D9D3F0"/>
            </a:solidFill>
            <a:prstDash val="solid"/>
          </a:ln>
        </p:spPr>
        <p:txBody>
          <a:bodyPr xmlns:a="http://schemas.openxmlformats.org/drawingml/2006/main">
            <a:normAutofit fontScale="100000"/>
          </a:bodyPr>
          <a:lstStyle xmlns:a="http://schemas.openxmlformats.org/drawingml/2006/main"/>
          <a:p xmlns:a="http://schemas.openxmlformats.org/drawingml/2006/main">
            <a:pPr algn="l">
              <a:defRPr sz="1575" b="0">
                <a:solidFill>
                  <a:srgbClr val="14142B"/>
                </a:solidFill>
                <a:latin typeface="Calibri"/>
                <a:ea typeface="Calibri"/>
                <a:cs typeface="Calibri"/>
              </a:defRPr>
            </a:pPr>
            <a:r>
              <a:rPr sz="1575" b="0">
                <a:solidFill>
                  <a:srgbClr val="14142B"/>
                </a:solidFill>
                <a:latin typeface="Calibri"/>
                <a:ea typeface="Calibri"/>
                <a:cs typeface="Calibri"/>
              </a:rPr>
              <a:t>Customer benefit</a:t>
            </a:r>
          </a:p>
          <a:p xmlns:a="http://schemas.openxmlformats.org/drawingml/2006/main">
            <a:pPr algn="l">
              <a:defRPr sz="1575" b="0">
                <a:solidFill>
                  <a:srgbClr val="14142B"/>
                </a:solidFill>
                <a:latin typeface="Calibri"/>
                <a:ea typeface="Calibri"/>
                <a:cs typeface="Calibri"/>
              </a:defRPr>
            </a:pPr>
            <a:r>
              <a:rPr sz="1575" b="0">
                <a:solidFill>
                  <a:srgbClr val="14142B"/>
                </a:solidFill>
                <a:latin typeface="Calibri"/>
                <a:ea typeface="Calibri"/>
                <a:cs typeface="Calibri"/>
              </a:rPr>
              <a:t>Exact Settings routes reduce navigation effort. Multi-issue complaints receive separate ordered plans.</a:t>
            </a:r>
          </a:p>
        </p:txBody>
      </p:sp>
      <p:sp>
        <p:nvSpPr>
          <p:cNvPr id="5" name="">
            <a:extLst xmlns:a="http://schemas.openxmlformats.org/drawingml/2006/main">
              <a:ext uri="{FF2B5EF4-FFF2-40B4-BE49-F238E27FC236}">
                <a16:creationId xmlns:a16="http://schemas.microsoft.com/office/drawing/2014/main" id="{2CCD343A-0541-433D-BCE4-FCE69363DE51}"/>
              </a:ext>
            </a:extLst>
          </p:cNvPr>
          <p:cNvSpPr>
            <a:spLocks xmlns:a="http://schemas.openxmlformats.org/drawingml/2006/main" noGrp="1"/>
          </p:cNvSpPr>
          <p:nvPr/>
        </p:nvSpPr>
        <p:spPr>
          <a:xfrm xmlns:a="http://schemas.openxmlformats.org/drawingml/2006/main">
            <a:off x="4524375" y="1809750"/>
            <a:ext cx="3143250" cy="1428750"/>
          </a:xfrm>
          <a:prstGeom xmlns:a="http://schemas.openxmlformats.org/drawingml/2006/main" prst="roundRect">
            <a:avLst>
              <a:gd name="adj" fmla="val 8000"/>
            </a:avLst>
          </a:prstGeom>
          <a:solidFill xmlns:a="http://schemas.openxmlformats.org/drawingml/2006/main">
            <a:srgbClr val="F5F2FB"/>
          </a:solidFill>
          <a:ln xmlns:a="http://schemas.openxmlformats.org/drawingml/2006/main" w="11430">
            <a:solidFill>
              <a:srgbClr val="D9D3F0"/>
            </a:solidFill>
            <a:prstDash val="solid"/>
          </a:ln>
        </p:spPr>
        <p:txBody>
          <a:bodyPr xmlns:a="http://schemas.openxmlformats.org/drawingml/2006/main">
            <a:normAutofit fontScale="100000"/>
          </a:bodyPr>
          <a:lstStyle xmlns:a="http://schemas.openxmlformats.org/drawingml/2006/main"/>
          <a:p xmlns:a="http://schemas.openxmlformats.org/drawingml/2006/main">
            <a:pPr algn="l">
              <a:defRPr sz="1575" b="0">
                <a:solidFill>
                  <a:srgbClr val="14142B"/>
                </a:solidFill>
                <a:latin typeface="Calibri"/>
                <a:ea typeface="Calibri"/>
                <a:cs typeface="Calibri"/>
              </a:defRPr>
            </a:pPr>
            <a:r>
              <a:rPr sz="1575" b="0">
                <a:solidFill>
                  <a:srgbClr val="14142B"/>
                </a:solidFill>
                <a:latin typeface="Calibri"/>
                <a:ea typeface="Calibri"/>
                <a:cs typeface="Calibri"/>
              </a:rPr>
              <a:t>Support benefit</a:t>
            </a:r>
          </a:p>
          <a:p xmlns:a="http://schemas.openxmlformats.org/drawingml/2006/main">
            <a:pPr algn="l">
              <a:defRPr sz="1575" b="0">
                <a:solidFill>
                  <a:srgbClr val="14142B"/>
                </a:solidFill>
                <a:latin typeface="Calibri"/>
                <a:ea typeface="Calibri"/>
                <a:cs typeface="Calibri"/>
              </a:defRPr>
            </a:pPr>
            <a:r>
              <a:rPr sz="1575" b="0">
                <a:solidFill>
                  <a:srgbClr val="14142B"/>
                </a:solidFill>
                <a:latin typeface="Calibri"/>
                <a:ea typeface="Calibri"/>
                <a:cs typeface="Calibri"/>
              </a:rPr>
              <a:t>Grounded steps improve consistency. Evidence IDs and named fallbacks make every response auditable.</a:t>
            </a:r>
          </a:p>
        </p:txBody>
      </p:sp>
      <p:sp>
        <p:nvSpPr>
          <p:cNvPr id="6" name="">
            <a:extLst xmlns:a="http://schemas.openxmlformats.org/drawingml/2006/main">
              <a:ext uri="{FF2B5EF4-FFF2-40B4-BE49-F238E27FC236}">
                <a16:creationId xmlns:a16="http://schemas.microsoft.com/office/drawing/2014/main" id="{C5FECAEE-EF79-4F5F-A2B4-E367371AB175}"/>
              </a:ext>
            </a:extLst>
          </p:cNvPr>
          <p:cNvSpPr>
            <a:spLocks xmlns:a="http://schemas.openxmlformats.org/drawingml/2006/main" noGrp="1"/>
          </p:cNvSpPr>
          <p:nvPr/>
        </p:nvSpPr>
        <p:spPr>
          <a:xfrm xmlns:a="http://schemas.openxmlformats.org/drawingml/2006/main">
            <a:off x="8191500" y="1809750"/>
            <a:ext cx="3143250" cy="1428750"/>
          </a:xfrm>
          <a:prstGeom xmlns:a="http://schemas.openxmlformats.org/drawingml/2006/main" prst="roundRect">
            <a:avLst>
              <a:gd name="adj" fmla="val 8000"/>
            </a:avLst>
          </a:prstGeom>
          <a:solidFill xmlns:a="http://schemas.openxmlformats.org/drawingml/2006/main">
            <a:srgbClr val="F5F2FB"/>
          </a:solidFill>
          <a:ln xmlns:a="http://schemas.openxmlformats.org/drawingml/2006/main" w="11430">
            <a:solidFill>
              <a:srgbClr val="D9D3F0"/>
            </a:solidFill>
            <a:prstDash val="solid"/>
          </a:ln>
        </p:spPr>
        <p:txBody>
          <a:bodyPr xmlns:a="http://schemas.openxmlformats.org/drawingml/2006/main">
            <a:normAutofit fontScale="100000"/>
          </a:bodyPr>
          <a:lstStyle xmlns:a="http://schemas.openxmlformats.org/drawingml/2006/main"/>
          <a:p xmlns:a="http://schemas.openxmlformats.org/drawingml/2006/main">
            <a:pPr algn="l">
              <a:defRPr sz="1575" b="0">
                <a:solidFill>
                  <a:srgbClr val="14142B"/>
                </a:solidFill>
                <a:latin typeface="Calibri"/>
                <a:ea typeface="Calibri"/>
                <a:cs typeface="Calibri"/>
              </a:defRPr>
            </a:pPr>
            <a:r>
              <a:rPr sz="1575" b="0">
                <a:solidFill>
                  <a:srgbClr val="14142B"/>
                </a:solidFill>
                <a:latin typeface="Calibri"/>
                <a:ea typeface="Calibri"/>
                <a:cs typeface="Calibri"/>
              </a:rPr>
              <a:t>Platform benefit</a:t>
            </a:r>
          </a:p>
          <a:p xmlns:a="http://schemas.openxmlformats.org/drawingml/2006/main">
            <a:pPr algn="l">
              <a:defRPr sz="1575" b="0">
                <a:solidFill>
                  <a:srgbClr val="14142B"/>
                </a:solidFill>
                <a:latin typeface="Calibri"/>
                <a:ea typeface="Calibri"/>
                <a:cs typeface="Calibri"/>
              </a:defRPr>
            </a:pPr>
            <a:r>
              <a:rPr sz="1575" b="0">
                <a:solidFill>
                  <a:srgbClr val="14142B"/>
                </a:solidFill>
                <a:latin typeface="Calibri"/>
                <a:ea typeface="Calibri"/>
                <a:cs typeface="Calibri"/>
              </a:rPr>
              <a:t>Validated caching reduces repeat latency and model usage. The data-driven catalog supports new scenarios without new code paths.</a:t>
            </a:r>
          </a:p>
        </p:txBody>
      </p:sp>
      <p:sp>
        <p:nvSpPr>
          <p:cNvPr id="7" name="">
            <a:extLst xmlns:a="http://schemas.openxmlformats.org/drawingml/2006/main">
              <a:ext uri="{FF2B5EF4-FFF2-40B4-BE49-F238E27FC236}">
                <a16:creationId xmlns:a16="http://schemas.microsoft.com/office/drawing/2014/main" id="{63335D01-9656-4AAC-BC01-7B5E9A6492E1}"/>
              </a:ext>
            </a:extLst>
          </p:cNvPr>
          <p:cNvSpPr>
            <a:spLocks xmlns:a="http://schemas.openxmlformats.org/drawingml/2006/main" noGrp="1"/>
          </p:cNvSpPr>
          <p:nvPr/>
        </p:nvSpPr>
        <p:spPr>
          <a:xfrm xmlns:a="http://schemas.openxmlformats.org/drawingml/2006/main">
            <a:off x="857250" y="3762375"/>
            <a:ext cx="10477500" cy="0"/>
          </a:xfrm>
          <a:prstGeom xmlns:a="http://schemas.openxmlformats.org/drawingml/2006/main" prst="line">
            <a:avLst/>
          </a:prstGeom>
          <a:noFill xmlns:a="http://schemas.openxmlformats.org/drawingml/2006/main"/>
          <a:ln xmlns:a="http://schemas.openxmlformats.org/drawingml/2006/main" w="19050">
            <a:solidFill>
              <a:srgbClr val="14142B"/>
            </a:solidFill>
            <a:prstDash val="solid"/>
          </a:ln>
        </p:spPr>
      </p:sp>
      <p:sp>
        <p:nvSpPr>
          <p:cNvPr id="8" name="">
            <a:extLst xmlns:a="http://schemas.openxmlformats.org/drawingml/2006/main">
              <a:ext uri="{FF2B5EF4-FFF2-40B4-BE49-F238E27FC236}">
                <a16:creationId xmlns:a16="http://schemas.microsoft.com/office/drawing/2014/main" id="{CFC01BB3-0130-4DB6-94EC-FD7A8BB59D2D}"/>
              </a:ext>
            </a:extLst>
          </p:cNvPr>
          <p:cNvSpPr>
            <a:spLocks xmlns:a="http://schemas.openxmlformats.org/drawingml/2006/main" noGrp="1"/>
          </p:cNvSpPr>
          <p:nvPr/>
        </p:nvSpPr>
        <p:spPr>
          <a:xfrm xmlns:a="http://schemas.openxmlformats.org/drawingml/2006/main">
            <a:off x="857250" y="409575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00" b="1">
                <a:solidFill>
                  <a:srgbClr val="704EA6"/>
                </a:solidFill>
                <a:latin typeface="Calibri"/>
                <a:ea typeface="Calibri"/>
                <a:cs typeface="Calibri"/>
              </a:defRPr>
            </a:pPr>
            <a:r>
              <a:rPr sz="1800" b="1">
                <a:solidFill>
                  <a:srgbClr val="704EA6"/>
                </a:solidFill>
                <a:latin typeface="Calibri"/>
                <a:ea typeface="Calibri"/>
                <a:cs typeface="Calibri"/>
              </a:rPr>
              <a:t>What to prove on official data</a:t>
            </a:r>
          </a:p>
        </p:txBody>
      </p:sp>
      <p:sp>
        <p:nvSpPr>
          <p:cNvPr id="9" name="">
            <a:extLst xmlns:a="http://schemas.openxmlformats.org/drawingml/2006/main">
              <a:ext uri="{FF2B5EF4-FFF2-40B4-BE49-F238E27FC236}">
                <a16:creationId xmlns:a16="http://schemas.microsoft.com/office/drawing/2014/main" id="{939E3897-1C58-4271-9E8C-E77336D5FF5C}"/>
              </a:ext>
            </a:extLst>
          </p:cNvPr>
          <p:cNvSpPr>
            <a:spLocks xmlns:a="http://schemas.openxmlformats.org/drawingml/2006/main" noGrp="1"/>
          </p:cNvSpPr>
          <p:nvPr/>
        </p:nvSpPr>
        <p:spPr>
          <a:xfrm xmlns:a="http://schemas.openxmlformats.org/drawingml/2006/main">
            <a:off x="857250" y="4619625"/>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14142B"/>
                </a:solidFill>
                <a:latin typeface="Calibri"/>
                <a:ea typeface="Calibri"/>
                <a:cs typeface="Calibri"/>
              </a:defRPr>
            </a:pPr>
            <a:r>
              <a:rPr sz="1650" b="0">
                <a:solidFill>
                  <a:srgbClr val="14142B"/>
                </a:solidFill>
                <a:latin typeface="Calibri"/>
                <a:ea typeface="Calibri"/>
                <a:cs typeface="Calibri"/>
              </a:rPr>
              <a:t>Step accuracy 0–3   Deeplink relevance 0–2   Schema validity ≥99%   Cache hit P95 ≤300 ms   Cold path P95 ≤8 s   Cost per query tracked</a:t>
            </a:r>
          </a:p>
        </p:txBody>
      </p:sp>
    </p:spTree>
    <p:extLst>
      <p:ext uri="{BB962C8B-B14F-4D97-AF65-F5344CB8AC3E}">
        <p14:creationId xmlns:p14="http://schemas.microsoft.com/office/powerpoint/2010/main" val="366811909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353DB3-FB86-4452-A4FB-E7F4BEA62856}"/>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pPr>
              <a:spcAft>
                <a:spcPts val="500"/>
              </a:spcAft>
              <a:buSzPct val="100000"/>
              <a:buNone/>
              <a:defRPr sz="3000" b="1">
                <a:solidFill>
                  <a:srgbClr val="704EA6"/>
                </a:solidFill>
                <a:latin typeface="Calibri"/>
                <a:ea typeface="Calibri"/>
                <a:cs typeface="Calibri"/>
              </a:defRPr>
            </a:pPr>
            <a:r>
              <a:rPr sz="3000" b="1">
                <a:solidFill>
                  <a:srgbClr val="704EA6"/>
                </a:solidFill>
                <a:latin typeface="Calibri"/>
                <a:ea typeface="Calibri"/>
                <a:cs typeface="Calibri"/>
              </a:rPr>
              <a:t>Innovation, current results, and limitations</a:t>
            </a:r>
            <a:endParaRPr sz="4400" b="1">
              <a:solidFill>
                <a:srgbClr val="704EA6"/>
              </a:solidFill>
            </a:endParaRPr>
          </a:p>
        </p:txBody>
      </p:sp>
      <p:sp>
        <p:nvSpPr>
          <p:cNvPr id="3" name="Content Placeholder 2">
            <a:extLst xmlns:a="http://schemas.openxmlformats.org/drawingml/2006/main">
              <a:ext uri="{FF2B5EF4-FFF2-40B4-BE49-F238E27FC236}">
                <a16:creationId xmlns:a16="http://schemas.microsoft.com/office/drawing/2014/main" id="{539AB598-5650-4E46-905A-9096F4C50C3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sp>
        <p:nvSpPr>
          <p:cNvPr id="4" name="">
            <a:extLst xmlns:a="http://schemas.openxmlformats.org/drawingml/2006/main">
              <a:ext uri="{FF2B5EF4-FFF2-40B4-BE49-F238E27FC236}">
                <a16:creationId xmlns:a16="http://schemas.microsoft.com/office/drawing/2014/main" id="{4B322A80-995B-4D72-9CBC-C4242C3371C1}"/>
              </a:ext>
            </a:extLst>
          </p:cNvPr>
          <p:cNvSpPr>
            <a:spLocks xmlns:a="http://schemas.openxmlformats.org/drawingml/2006/main" noGrp="1"/>
          </p:cNvSpPr>
          <p:nvPr/>
        </p:nvSpPr>
        <p:spPr>
          <a:xfrm xmlns:a="http://schemas.openxmlformats.org/drawingml/2006/main">
            <a:off x="857250" y="166687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1">
                <a:solidFill>
                  <a:srgbClr val="704EA6"/>
                </a:solidFill>
                <a:latin typeface="Calibri"/>
                <a:ea typeface="Calibri"/>
                <a:cs typeface="Calibri"/>
              </a:defRPr>
            </a:pPr>
            <a:r>
              <a:rPr sz="1875" b="1">
                <a:solidFill>
                  <a:srgbClr val="704EA6"/>
                </a:solidFill>
                <a:latin typeface="Calibri"/>
                <a:ea typeface="Calibri"/>
                <a:cs typeface="Calibri"/>
              </a:rPr>
              <a:t>Innovation</a:t>
            </a:r>
          </a:p>
        </p:txBody>
      </p:sp>
      <p:sp>
        <p:nvSpPr>
          <p:cNvPr id="5" name="">
            <a:extLst xmlns:a="http://schemas.openxmlformats.org/drawingml/2006/main">
              <a:ext uri="{FF2B5EF4-FFF2-40B4-BE49-F238E27FC236}">
                <a16:creationId xmlns:a16="http://schemas.microsoft.com/office/drawing/2014/main" id="{5EECBC09-BD3E-48B6-BF21-0F6E24A400FE}"/>
              </a:ext>
            </a:extLst>
          </p:cNvPr>
          <p:cNvSpPr>
            <a:spLocks xmlns:a="http://schemas.openxmlformats.org/drawingml/2006/main" noGrp="1"/>
          </p:cNvSpPr>
          <p:nvPr/>
        </p:nvSpPr>
        <p:spPr>
          <a:xfrm xmlns:a="http://schemas.openxmlformats.org/drawingml/2006/main">
            <a:off x="857250" y="2143125"/>
            <a:ext cx="314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4E5068"/>
                </a:solidFill>
                <a:latin typeface="Calibri"/>
                <a:ea typeface="Calibri"/>
                <a:cs typeface="Calibri"/>
              </a:defRPr>
            </a:pPr>
            <a:r>
              <a:rPr sz="1500" b="0">
                <a:solidFill>
                  <a:srgbClr val="4E5068"/>
                </a:solidFill>
                <a:latin typeface="Calibri"/>
                <a:ea typeface="Calibri"/>
                <a:cs typeface="Calibri"/>
              </a:rPr>
              <a:t>Multi-issue complaints can return several grounded contexts. The cache accepts only plans that passed every deterministic check. The model provider remains swappable.</a:t>
            </a:r>
          </a:p>
        </p:txBody>
      </p:sp>
      <p:sp>
        <p:nvSpPr>
          <p:cNvPr id="6" name="">
            <a:extLst xmlns:a="http://schemas.openxmlformats.org/drawingml/2006/main">
              <a:ext uri="{FF2B5EF4-FFF2-40B4-BE49-F238E27FC236}">
                <a16:creationId xmlns:a16="http://schemas.microsoft.com/office/drawing/2014/main" id="{DAC1CBCC-5987-4107-90AE-11CA4F746210}"/>
              </a:ext>
            </a:extLst>
          </p:cNvPr>
          <p:cNvSpPr>
            <a:spLocks xmlns:a="http://schemas.openxmlformats.org/drawingml/2006/main" noGrp="1"/>
          </p:cNvSpPr>
          <p:nvPr/>
        </p:nvSpPr>
        <p:spPr>
          <a:xfrm xmlns:a="http://schemas.openxmlformats.org/drawingml/2006/main">
            <a:off x="4524375" y="166687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1">
                <a:solidFill>
                  <a:srgbClr val="0D6A4B"/>
                </a:solidFill>
                <a:latin typeface="Calibri"/>
                <a:ea typeface="Calibri"/>
                <a:cs typeface="Calibri"/>
              </a:defRPr>
            </a:pPr>
            <a:r>
              <a:rPr sz="1875" b="1">
                <a:solidFill>
                  <a:srgbClr val="0D6A4B"/>
                </a:solidFill>
                <a:latin typeface="Calibri"/>
                <a:ea typeface="Calibri"/>
                <a:cs typeface="Calibri"/>
              </a:rPr>
              <a:t>Synthetic benchmark</a:t>
            </a:r>
          </a:p>
        </p:txBody>
      </p:sp>
      <p:sp>
        <p:nvSpPr>
          <p:cNvPr id="7" name="">
            <a:extLst xmlns:a="http://schemas.openxmlformats.org/drawingml/2006/main">
              <a:ext uri="{FF2B5EF4-FFF2-40B4-BE49-F238E27FC236}">
                <a16:creationId xmlns:a16="http://schemas.microsoft.com/office/drawing/2014/main" id="{85C919AA-592C-4DC4-845A-F8A5BD277FE9}"/>
              </a:ext>
            </a:extLst>
          </p:cNvPr>
          <p:cNvSpPr>
            <a:spLocks xmlns:a="http://schemas.openxmlformats.org/drawingml/2006/main" noGrp="1"/>
          </p:cNvSpPr>
          <p:nvPr/>
        </p:nvSpPr>
        <p:spPr>
          <a:xfrm xmlns:a="http://schemas.openxmlformats.org/drawingml/2006/main">
            <a:off x="4524375" y="2143125"/>
            <a:ext cx="3143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75" b="0">
                <a:solidFill>
                  <a:srgbClr val="14142B"/>
                </a:solidFill>
                <a:latin typeface="Calibri"/>
                <a:ea typeface="Calibri"/>
                <a:cs typeface="Calibri"/>
              </a:defRPr>
            </a:pPr>
            <a:r>
              <a:rPr sz="1575" b="0">
                <a:solidFill>
                  <a:srgbClr val="14142B"/>
                </a:solidFill>
                <a:latin typeface="Calibri"/>
                <a:ea typeface="Calibri"/>
                <a:cs typeface="Calibri"/>
              </a:rPr>
              <a:t>33 paraphrase scenarios</a:t>
            </a:r>
          </a:p>
          <a:p xmlns:a="http://schemas.openxmlformats.org/drawingml/2006/main">
            <a:pPr algn="l">
              <a:defRPr sz="1575" b="0">
                <a:solidFill>
                  <a:srgbClr val="14142B"/>
                </a:solidFill>
                <a:latin typeface="Calibri"/>
                <a:ea typeface="Calibri"/>
                <a:cs typeface="Calibri"/>
              </a:defRPr>
            </a:pPr>
            <a:r>
              <a:rPr sz="1575" b="0">
                <a:solidFill>
                  <a:srgbClr val="14142B"/>
                </a:solidFill>
                <a:latin typeface="Calibri"/>
                <a:ea typeface="Calibri"/>
                <a:cs typeface="Calibri"/>
              </a:rPr>
              <a:t>100% top-1 plan match</a:t>
            </a:r>
          </a:p>
          <a:p xmlns:a="http://schemas.openxmlformats.org/drawingml/2006/main">
            <a:pPr algn="l">
              <a:defRPr sz="1575" b="0">
                <a:solidFill>
                  <a:srgbClr val="14142B"/>
                </a:solidFill>
                <a:latin typeface="Calibri"/>
                <a:ea typeface="Calibri"/>
                <a:cs typeface="Calibri"/>
              </a:defRPr>
            </a:pPr>
            <a:r>
              <a:rPr sz="1575" b="0">
                <a:solidFill>
                  <a:srgbClr val="14142B"/>
                </a:solidFill>
                <a:latin typeface="Calibri"/>
                <a:ea typeface="Calibri"/>
                <a:cs typeface="Calibri"/>
              </a:rPr>
              <a:t>100% schema validity</a:t>
            </a:r>
          </a:p>
          <a:p xmlns:a="http://schemas.openxmlformats.org/drawingml/2006/main">
            <a:pPr algn="l">
              <a:defRPr sz="1575" b="0">
                <a:solidFill>
                  <a:srgbClr val="14142B"/>
                </a:solidFill>
                <a:latin typeface="Calibri"/>
                <a:ea typeface="Calibri"/>
                <a:cs typeface="Calibri"/>
              </a:defRPr>
            </a:pPr>
            <a:r>
              <a:rPr sz="1575" b="0">
                <a:solidFill>
                  <a:srgbClr val="14142B"/>
                </a:solidFill>
                <a:latin typeface="Calibri"/>
                <a:ea typeface="Calibri"/>
                <a:cs typeface="Calibri"/>
              </a:rPr>
              <a:t>100% catalog-valid deeplinks</a:t>
            </a:r>
          </a:p>
          <a:p xmlns:a="http://schemas.openxmlformats.org/drawingml/2006/main">
            <a:pPr algn="l">
              <a:defRPr sz="1575" b="0">
                <a:solidFill>
                  <a:srgbClr val="14142B"/>
                </a:solidFill>
                <a:latin typeface="Calibri"/>
                <a:ea typeface="Calibri"/>
                <a:cs typeface="Calibri"/>
              </a:defRPr>
            </a:pPr>
            <a:r>
              <a:rPr sz="1575" b="0">
                <a:solidFill>
                  <a:srgbClr val="14142B"/>
                </a:solidFill>
                <a:latin typeface="Calibri"/>
                <a:ea typeface="Calibri"/>
                <a:cs typeface="Calibri"/>
              </a:rPr>
              <a:t>&lt;1 ms local cache P95</a:t>
            </a:r>
          </a:p>
        </p:txBody>
      </p:sp>
      <p:sp>
        <p:nvSpPr>
          <p:cNvPr id="8" name="">
            <a:extLst xmlns:a="http://schemas.openxmlformats.org/drawingml/2006/main">
              <a:ext uri="{FF2B5EF4-FFF2-40B4-BE49-F238E27FC236}">
                <a16:creationId xmlns:a16="http://schemas.microsoft.com/office/drawing/2014/main" id="{E5BB876E-817A-4C6E-8302-446AA46177D0}"/>
              </a:ext>
            </a:extLst>
          </p:cNvPr>
          <p:cNvSpPr>
            <a:spLocks xmlns:a="http://schemas.openxmlformats.org/drawingml/2006/main" noGrp="1"/>
          </p:cNvSpPr>
          <p:nvPr/>
        </p:nvSpPr>
        <p:spPr>
          <a:xfrm xmlns:a="http://schemas.openxmlformats.org/drawingml/2006/main">
            <a:off x="8191500" y="166687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1">
                <a:solidFill>
                  <a:srgbClr val="A32929"/>
                </a:solidFill>
                <a:latin typeface="Calibri"/>
                <a:ea typeface="Calibri"/>
                <a:cs typeface="Calibri"/>
              </a:defRPr>
            </a:pPr>
            <a:r>
              <a:rPr sz="1875" b="1">
                <a:solidFill>
                  <a:srgbClr val="A32929"/>
                </a:solidFill>
                <a:latin typeface="Calibri"/>
                <a:ea typeface="Calibri"/>
                <a:cs typeface="Calibri"/>
              </a:rPr>
              <a:t>Limitations</a:t>
            </a:r>
          </a:p>
        </p:txBody>
      </p:sp>
      <p:sp>
        <p:nvSpPr>
          <p:cNvPr id="9" name="">
            <a:extLst xmlns:a="http://schemas.openxmlformats.org/drawingml/2006/main">
              <a:ext uri="{FF2B5EF4-FFF2-40B4-BE49-F238E27FC236}">
                <a16:creationId xmlns:a16="http://schemas.microsoft.com/office/drawing/2014/main" id="{F696D349-04E2-4BB5-98B4-E8504588DA6F}"/>
              </a:ext>
            </a:extLst>
          </p:cNvPr>
          <p:cNvSpPr>
            <a:spLocks xmlns:a="http://schemas.openxmlformats.org/drawingml/2006/main" noGrp="1"/>
          </p:cNvSpPr>
          <p:nvPr/>
        </p:nvSpPr>
        <p:spPr>
          <a:xfrm xmlns:a="http://schemas.openxmlformats.org/drawingml/2006/main">
            <a:off x="8191500" y="2143125"/>
            <a:ext cx="314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4E5068"/>
                </a:solidFill>
                <a:latin typeface="Calibri"/>
                <a:ea typeface="Calibri"/>
                <a:cs typeface="Calibri"/>
              </a:defRPr>
            </a:pPr>
            <a:r>
              <a:rPr sz="1500" b="0">
                <a:solidFill>
                  <a:srgbClr val="4E5068"/>
                </a:solidFill>
                <a:latin typeface="Calibri"/>
                <a:ea typeface="Calibri"/>
                <a:cs typeface="Calibri"/>
              </a:rPr>
              <a:t>Official starter assets were not attached. Current numbers are illustrative and cannot predict hidden-test results. The two-stage path requires a permitted model endpoint for the live demo.</a:t>
            </a:r>
          </a:p>
        </p:txBody>
      </p:sp>
      <p:sp>
        <p:nvSpPr>
          <p:cNvPr id="10" name="">
            <a:extLst xmlns:a="http://schemas.openxmlformats.org/drawingml/2006/main">
              <a:ext uri="{FF2B5EF4-FFF2-40B4-BE49-F238E27FC236}">
                <a16:creationId xmlns:a16="http://schemas.microsoft.com/office/drawing/2014/main" id="{2BFF151B-2CF5-4A2C-95E8-99CB705732FE}"/>
              </a:ext>
            </a:extLst>
          </p:cNvPr>
          <p:cNvSpPr>
            <a:spLocks xmlns:a="http://schemas.openxmlformats.org/drawingml/2006/main" noGrp="1"/>
          </p:cNvSpPr>
          <p:nvPr/>
        </p:nvSpPr>
        <p:spPr>
          <a:xfrm xmlns:a="http://schemas.openxmlformats.org/drawingml/2006/main">
            <a:off x="857250" y="4524375"/>
            <a:ext cx="10477500" cy="0"/>
          </a:xfrm>
          <a:prstGeom xmlns:a="http://schemas.openxmlformats.org/drawingml/2006/main" prst="line">
            <a:avLst/>
          </a:prstGeom>
          <a:noFill xmlns:a="http://schemas.openxmlformats.org/drawingml/2006/main"/>
          <a:ln xmlns:a="http://schemas.openxmlformats.org/drawingml/2006/main" w="19050">
            <a:solidFill>
              <a:srgbClr val="14142B"/>
            </a:solidFill>
            <a:prstDash val="solid"/>
          </a:ln>
        </p:spPr>
      </p:sp>
      <p:sp>
        <p:nvSpPr>
          <p:cNvPr id="11" name="">
            <a:extLst xmlns:a="http://schemas.openxmlformats.org/drawingml/2006/main">
              <a:ext uri="{FF2B5EF4-FFF2-40B4-BE49-F238E27FC236}">
                <a16:creationId xmlns:a16="http://schemas.microsoft.com/office/drawing/2014/main" id="{81197AE1-E8FB-4614-8823-C36CE1186BA7}"/>
              </a:ext>
            </a:extLst>
          </p:cNvPr>
          <p:cNvSpPr>
            <a:spLocks xmlns:a="http://schemas.openxmlformats.org/drawingml/2006/main" noGrp="1"/>
          </p:cNvSpPr>
          <p:nvPr/>
        </p:nvSpPr>
        <p:spPr>
          <a:xfrm xmlns:a="http://schemas.openxmlformats.org/drawingml/2006/main">
            <a:off x="857250" y="48577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14142B"/>
                </a:solidFill>
                <a:latin typeface="Calibri"/>
                <a:ea typeface="Calibri"/>
                <a:cs typeface="Calibri"/>
              </a:defRPr>
            </a:pPr>
            <a:r>
              <a:rPr sz="1650" b="1">
                <a:solidFill>
                  <a:srgbClr val="14142B"/>
                </a:solidFill>
                <a:latin typeface="Calibri"/>
                <a:ea typeface="Calibri"/>
                <a:cs typeface="Calibri"/>
              </a:rPr>
              <a:t>Verification: 13 automated tests pass, including two-stage transport, hallucinated URI rejection, official-data normalization, routing, and catalog integrity.</a:t>
            </a:r>
          </a:p>
        </p:txBody>
      </p:sp>
    </p:spTree>
    <p:extLst>
      <p:ext uri="{BB962C8B-B14F-4D97-AF65-F5344CB8AC3E}">
        <p14:creationId xmlns:p14="http://schemas.microsoft.com/office/powerpoint/2010/main" val="199323702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353DB3-FB86-4452-A4FB-E7F4BEA62856}"/>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pPr>
              <a:spcAft>
                <a:spcPts val="500"/>
              </a:spcAft>
              <a:buSzPct val="100000"/>
              <a:buNone/>
              <a:defRPr sz="3150" b="1">
                <a:solidFill>
                  <a:srgbClr val="704EA6"/>
                </a:solidFill>
                <a:latin typeface="Calibri"/>
                <a:ea typeface="Calibri"/>
                <a:cs typeface="Calibri"/>
              </a:defRPr>
            </a:pPr>
            <a:r>
              <a:rPr sz="3150" b="1">
                <a:solidFill>
                  <a:srgbClr val="704EA6"/>
                </a:solidFill>
                <a:latin typeface="Calibri"/>
                <a:ea typeface="Calibri"/>
                <a:cs typeface="Calibri"/>
              </a:rPr>
              <a:t>Build phases and next milestones</a:t>
            </a:r>
            <a:endParaRPr sz="4400" b="1">
              <a:solidFill>
                <a:srgbClr val="704EA6"/>
              </a:solidFill>
            </a:endParaRPr>
          </a:p>
        </p:txBody>
      </p:sp>
      <p:sp>
        <p:nvSpPr>
          <p:cNvPr id="3" name="Content Placeholder 2">
            <a:extLst xmlns:a="http://schemas.openxmlformats.org/drawingml/2006/main">
              <a:ext uri="{FF2B5EF4-FFF2-40B4-BE49-F238E27FC236}">
                <a16:creationId xmlns:a16="http://schemas.microsoft.com/office/drawing/2014/main" id="{539AB598-5650-4E46-905A-9096F4C50C3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sp>
        <p:nvSpPr>
          <p:cNvPr id="4" name="">
            <a:extLst xmlns:a="http://schemas.openxmlformats.org/drawingml/2006/main">
              <a:ext uri="{FF2B5EF4-FFF2-40B4-BE49-F238E27FC236}">
                <a16:creationId xmlns:a16="http://schemas.microsoft.com/office/drawing/2014/main" id="{76A37B62-1E33-4976-B8F7-A9AC5B1686D6}"/>
              </a:ext>
            </a:extLst>
          </p:cNvPr>
          <p:cNvSpPr>
            <a:spLocks xmlns:a="http://schemas.openxmlformats.org/drawingml/2006/main" noGrp="1"/>
          </p:cNvSpPr>
          <p:nvPr/>
        </p:nvSpPr>
        <p:spPr>
          <a:xfrm xmlns:a="http://schemas.openxmlformats.org/drawingml/2006/main">
            <a:off x="904875" y="1619250"/>
            <a:ext cx="428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725" b="1">
                <a:solidFill>
                  <a:srgbClr val="0D6A4B"/>
                </a:solidFill>
                <a:latin typeface="Calibri"/>
                <a:ea typeface="Calibri"/>
                <a:cs typeface="Calibri"/>
              </a:defRPr>
            </a:pPr>
            <a:r>
              <a:rPr sz="1725" b="1">
                <a:solidFill>
                  <a:srgbClr val="0D6A4B"/>
                </a:solidFill>
                <a:latin typeface="Calibri"/>
                <a:ea typeface="Calibri"/>
                <a:cs typeface="Calibri"/>
              </a:rPr>
              <a:t>1</a:t>
            </a:r>
          </a:p>
        </p:txBody>
      </p:sp>
      <p:sp>
        <p:nvSpPr>
          <p:cNvPr id="5" name="">
            <a:extLst xmlns:a="http://schemas.openxmlformats.org/drawingml/2006/main">
              <a:ext uri="{FF2B5EF4-FFF2-40B4-BE49-F238E27FC236}">
                <a16:creationId xmlns:a16="http://schemas.microsoft.com/office/drawing/2014/main" id="{EC146629-A744-48D2-9B2A-12A5610BD2AB}"/>
              </a:ext>
            </a:extLst>
          </p:cNvPr>
          <p:cNvSpPr>
            <a:spLocks xmlns:a="http://schemas.openxmlformats.org/drawingml/2006/main" noGrp="1"/>
          </p:cNvSpPr>
          <p:nvPr/>
        </p:nvSpPr>
        <p:spPr>
          <a:xfrm xmlns:a="http://schemas.openxmlformats.org/drawingml/2006/main">
            <a:off x="1524000" y="1619250"/>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0D6A4B"/>
                </a:solidFill>
                <a:latin typeface="Calibri"/>
                <a:ea typeface="Calibri"/>
                <a:cs typeface="Calibri"/>
              </a:defRPr>
            </a:pPr>
            <a:r>
              <a:rPr sz="1350" b="1">
                <a:solidFill>
                  <a:srgbClr val="0D6A4B"/>
                </a:solidFill>
                <a:latin typeface="Calibri"/>
                <a:ea typeface="Calibri"/>
                <a:cs typeface="Calibri"/>
              </a:rPr>
              <a:t>Completed</a:t>
            </a:r>
          </a:p>
        </p:txBody>
      </p:sp>
      <p:sp>
        <p:nvSpPr>
          <p:cNvPr id="6" name="">
            <a:extLst xmlns:a="http://schemas.openxmlformats.org/drawingml/2006/main">
              <a:ext uri="{FF2B5EF4-FFF2-40B4-BE49-F238E27FC236}">
                <a16:creationId xmlns:a16="http://schemas.microsoft.com/office/drawing/2014/main" id="{EAB2F1D3-5768-4C3E-8244-535AAE385784}"/>
              </a:ext>
            </a:extLst>
          </p:cNvPr>
          <p:cNvSpPr>
            <a:spLocks xmlns:a="http://schemas.openxmlformats.org/drawingml/2006/main" noGrp="1"/>
          </p:cNvSpPr>
          <p:nvPr/>
        </p:nvSpPr>
        <p:spPr>
          <a:xfrm xmlns:a="http://schemas.openxmlformats.org/drawingml/2006/main">
            <a:off x="3048000" y="1619250"/>
            <a:ext cx="781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14142B"/>
                </a:solidFill>
                <a:latin typeface="Calibri"/>
                <a:ea typeface="Calibri"/>
                <a:cs typeface="Calibri"/>
              </a:defRPr>
            </a:pPr>
            <a:r>
              <a:rPr sz="1500" b="0">
                <a:solidFill>
                  <a:srgbClr val="14142B"/>
                </a:solidFill>
                <a:latin typeface="Calibri"/>
                <a:ea typeface="Calibri"/>
                <a:cs typeface="Calibri"/>
              </a:rPr>
              <a:t>Schema, validators, ordering, fallbacks</a:t>
            </a:r>
          </a:p>
        </p:txBody>
      </p:sp>
      <p:sp>
        <p:nvSpPr>
          <p:cNvPr id="7" name="">
            <a:extLst xmlns:a="http://schemas.openxmlformats.org/drawingml/2006/main">
              <a:ext uri="{FF2B5EF4-FFF2-40B4-BE49-F238E27FC236}">
                <a16:creationId xmlns:a16="http://schemas.microsoft.com/office/drawing/2014/main" id="{02F4D151-7E67-4734-A64B-A92A1C1E3A47}"/>
              </a:ext>
            </a:extLst>
          </p:cNvPr>
          <p:cNvSpPr>
            <a:spLocks xmlns:a="http://schemas.openxmlformats.org/drawingml/2006/main" noGrp="1"/>
          </p:cNvSpPr>
          <p:nvPr/>
        </p:nvSpPr>
        <p:spPr>
          <a:xfrm xmlns:a="http://schemas.openxmlformats.org/drawingml/2006/main">
            <a:off x="857250" y="2076450"/>
            <a:ext cx="10191750" cy="0"/>
          </a:xfrm>
          <a:prstGeom xmlns:a="http://schemas.openxmlformats.org/drawingml/2006/main" prst="line">
            <a:avLst/>
          </a:prstGeom>
          <a:noFill xmlns:a="http://schemas.openxmlformats.org/drawingml/2006/main"/>
          <a:ln xmlns:a="http://schemas.openxmlformats.org/drawingml/2006/main" w="9525">
            <a:solidFill>
              <a:srgbClr val="D9D3F0"/>
            </a:solidFill>
            <a:prstDash val="solid"/>
          </a:ln>
        </p:spPr>
      </p:sp>
      <p:sp>
        <p:nvSpPr>
          <p:cNvPr id="8" name="">
            <a:extLst xmlns:a="http://schemas.openxmlformats.org/drawingml/2006/main">
              <a:ext uri="{FF2B5EF4-FFF2-40B4-BE49-F238E27FC236}">
                <a16:creationId xmlns:a16="http://schemas.microsoft.com/office/drawing/2014/main" id="{D4750CCE-FCB3-449C-AD38-74DC8121F406}"/>
              </a:ext>
            </a:extLst>
          </p:cNvPr>
          <p:cNvSpPr>
            <a:spLocks xmlns:a="http://schemas.openxmlformats.org/drawingml/2006/main" noGrp="1"/>
          </p:cNvSpPr>
          <p:nvPr/>
        </p:nvSpPr>
        <p:spPr>
          <a:xfrm xmlns:a="http://schemas.openxmlformats.org/drawingml/2006/main">
            <a:off x="904875" y="2305050"/>
            <a:ext cx="428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725" b="1">
                <a:solidFill>
                  <a:srgbClr val="0D6A4B"/>
                </a:solidFill>
                <a:latin typeface="Calibri"/>
                <a:ea typeface="Calibri"/>
                <a:cs typeface="Calibri"/>
              </a:defRPr>
            </a:pPr>
            <a:r>
              <a:rPr sz="1725" b="1">
                <a:solidFill>
                  <a:srgbClr val="0D6A4B"/>
                </a:solidFill>
                <a:latin typeface="Calibri"/>
                <a:ea typeface="Calibri"/>
                <a:cs typeface="Calibri"/>
              </a:rPr>
              <a:t>2</a:t>
            </a:r>
          </a:p>
        </p:txBody>
      </p:sp>
      <p:sp>
        <p:nvSpPr>
          <p:cNvPr id="9" name="">
            <a:extLst xmlns:a="http://schemas.openxmlformats.org/drawingml/2006/main">
              <a:ext uri="{FF2B5EF4-FFF2-40B4-BE49-F238E27FC236}">
                <a16:creationId xmlns:a16="http://schemas.microsoft.com/office/drawing/2014/main" id="{302DE443-1BE5-42A0-92D1-49FB3457D668}"/>
              </a:ext>
            </a:extLst>
          </p:cNvPr>
          <p:cNvSpPr>
            <a:spLocks xmlns:a="http://schemas.openxmlformats.org/drawingml/2006/main" noGrp="1"/>
          </p:cNvSpPr>
          <p:nvPr/>
        </p:nvSpPr>
        <p:spPr>
          <a:xfrm xmlns:a="http://schemas.openxmlformats.org/drawingml/2006/main">
            <a:off x="1524000" y="2305050"/>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0D6A4B"/>
                </a:solidFill>
                <a:latin typeface="Calibri"/>
                <a:ea typeface="Calibri"/>
                <a:cs typeface="Calibri"/>
              </a:defRPr>
            </a:pPr>
            <a:r>
              <a:rPr sz="1350" b="1">
                <a:solidFill>
                  <a:srgbClr val="0D6A4B"/>
                </a:solidFill>
                <a:latin typeface="Calibri"/>
                <a:ea typeface="Calibri"/>
                <a:cs typeface="Calibri"/>
              </a:rPr>
              <a:t>Completed</a:t>
            </a:r>
          </a:p>
        </p:txBody>
      </p:sp>
      <p:sp>
        <p:nvSpPr>
          <p:cNvPr id="10" name="">
            <a:extLst xmlns:a="http://schemas.openxmlformats.org/drawingml/2006/main">
              <a:ext uri="{FF2B5EF4-FFF2-40B4-BE49-F238E27FC236}">
                <a16:creationId xmlns:a16="http://schemas.microsoft.com/office/drawing/2014/main" id="{DA5F0624-9EB7-4D66-918E-36C7D56D2314}"/>
              </a:ext>
            </a:extLst>
          </p:cNvPr>
          <p:cNvSpPr>
            <a:spLocks xmlns:a="http://schemas.openxmlformats.org/drawingml/2006/main" noGrp="1"/>
          </p:cNvSpPr>
          <p:nvPr/>
        </p:nvSpPr>
        <p:spPr>
          <a:xfrm xmlns:a="http://schemas.openxmlformats.org/drawingml/2006/main">
            <a:off x="3048000" y="2305050"/>
            <a:ext cx="781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14142B"/>
                </a:solidFill>
                <a:latin typeface="Calibri"/>
                <a:ea typeface="Calibri"/>
                <a:cs typeface="Calibri"/>
              </a:defRPr>
            </a:pPr>
            <a:r>
              <a:rPr sz="1500" b="0">
                <a:solidFill>
                  <a:srgbClr val="14142B"/>
                </a:solidFill>
                <a:latin typeface="Calibri"/>
                <a:ea typeface="Calibri"/>
                <a:cs typeface="Calibri"/>
              </a:rPr>
              <a:t>Grounded retrieval and exact deeplink resolver</a:t>
            </a:r>
          </a:p>
        </p:txBody>
      </p:sp>
      <p:sp>
        <p:nvSpPr>
          <p:cNvPr id="11" name="">
            <a:extLst xmlns:a="http://schemas.openxmlformats.org/drawingml/2006/main">
              <a:ext uri="{FF2B5EF4-FFF2-40B4-BE49-F238E27FC236}">
                <a16:creationId xmlns:a16="http://schemas.microsoft.com/office/drawing/2014/main" id="{ADAF9185-473A-47C4-BB1B-807F8F532D4D}"/>
              </a:ext>
            </a:extLst>
          </p:cNvPr>
          <p:cNvSpPr>
            <a:spLocks xmlns:a="http://schemas.openxmlformats.org/drawingml/2006/main" noGrp="1"/>
          </p:cNvSpPr>
          <p:nvPr/>
        </p:nvSpPr>
        <p:spPr>
          <a:xfrm xmlns:a="http://schemas.openxmlformats.org/drawingml/2006/main">
            <a:off x="857250" y="2762250"/>
            <a:ext cx="10191750" cy="0"/>
          </a:xfrm>
          <a:prstGeom xmlns:a="http://schemas.openxmlformats.org/drawingml/2006/main" prst="line">
            <a:avLst/>
          </a:prstGeom>
          <a:noFill xmlns:a="http://schemas.openxmlformats.org/drawingml/2006/main"/>
          <a:ln xmlns:a="http://schemas.openxmlformats.org/drawingml/2006/main" w="9525">
            <a:solidFill>
              <a:srgbClr val="D9D3F0"/>
            </a:solidFill>
            <a:prstDash val="solid"/>
          </a:ln>
        </p:spPr>
      </p:sp>
      <p:sp>
        <p:nvSpPr>
          <p:cNvPr id="12" name="">
            <a:extLst xmlns:a="http://schemas.openxmlformats.org/drawingml/2006/main">
              <a:ext uri="{FF2B5EF4-FFF2-40B4-BE49-F238E27FC236}">
                <a16:creationId xmlns:a16="http://schemas.microsoft.com/office/drawing/2014/main" id="{50F1B5ED-D994-4A76-B488-52B03DD25821}"/>
              </a:ext>
            </a:extLst>
          </p:cNvPr>
          <p:cNvSpPr>
            <a:spLocks xmlns:a="http://schemas.openxmlformats.org/drawingml/2006/main" noGrp="1"/>
          </p:cNvSpPr>
          <p:nvPr/>
        </p:nvSpPr>
        <p:spPr>
          <a:xfrm xmlns:a="http://schemas.openxmlformats.org/drawingml/2006/main">
            <a:off x="904875" y="2990850"/>
            <a:ext cx="428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725" b="1">
                <a:solidFill>
                  <a:srgbClr val="0D6A4B"/>
                </a:solidFill>
                <a:latin typeface="Calibri"/>
                <a:ea typeface="Calibri"/>
                <a:cs typeface="Calibri"/>
              </a:defRPr>
            </a:pPr>
            <a:r>
              <a:rPr sz="1725" b="1">
                <a:solidFill>
                  <a:srgbClr val="0D6A4B"/>
                </a:solidFill>
                <a:latin typeface="Calibri"/>
                <a:ea typeface="Calibri"/>
                <a:cs typeface="Calibri"/>
              </a:rPr>
              <a:t>3</a:t>
            </a:r>
          </a:p>
        </p:txBody>
      </p:sp>
      <p:sp>
        <p:nvSpPr>
          <p:cNvPr id="13" name="">
            <a:extLst xmlns:a="http://schemas.openxmlformats.org/drawingml/2006/main">
              <a:ext uri="{FF2B5EF4-FFF2-40B4-BE49-F238E27FC236}">
                <a16:creationId xmlns:a16="http://schemas.microsoft.com/office/drawing/2014/main" id="{31310B32-BC25-4FFB-A7FA-E66C79BC4A64}"/>
              </a:ext>
            </a:extLst>
          </p:cNvPr>
          <p:cNvSpPr>
            <a:spLocks xmlns:a="http://schemas.openxmlformats.org/drawingml/2006/main" noGrp="1"/>
          </p:cNvSpPr>
          <p:nvPr/>
        </p:nvSpPr>
        <p:spPr>
          <a:xfrm xmlns:a="http://schemas.openxmlformats.org/drawingml/2006/main">
            <a:off x="1524000" y="2990850"/>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0D6A4B"/>
                </a:solidFill>
                <a:latin typeface="Calibri"/>
                <a:ea typeface="Calibri"/>
                <a:cs typeface="Calibri"/>
              </a:defRPr>
            </a:pPr>
            <a:r>
              <a:rPr sz="1350" b="1">
                <a:solidFill>
                  <a:srgbClr val="0D6A4B"/>
                </a:solidFill>
                <a:latin typeface="Calibri"/>
                <a:ea typeface="Calibri"/>
                <a:cs typeface="Calibri"/>
              </a:rPr>
              <a:t>Completed</a:t>
            </a:r>
          </a:p>
        </p:txBody>
      </p:sp>
      <p:sp>
        <p:nvSpPr>
          <p:cNvPr id="14" name="">
            <a:extLst xmlns:a="http://schemas.openxmlformats.org/drawingml/2006/main">
              <a:ext uri="{FF2B5EF4-FFF2-40B4-BE49-F238E27FC236}">
                <a16:creationId xmlns:a16="http://schemas.microsoft.com/office/drawing/2014/main" id="{CAE4983C-3781-4423-AA34-DF46DDC694B2}"/>
              </a:ext>
            </a:extLst>
          </p:cNvPr>
          <p:cNvSpPr>
            <a:spLocks xmlns:a="http://schemas.openxmlformats.org/drawingml/2006/main" noGrp="1"/>
          </p:cNvSpPr>
          <p:nvPr/>
        </p:nvSpPr>
        <p:spPr>
          <a:xfrm xmlns:a="http://schemas.openxmlformats.org/drawingml/2006/main">
            <a:off x="3048000" y="2990850"/>
            <a:ext cx="781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14142B"/>
                </a:solidFill>
                <a:latin typeface="Calibri"/>
                <a:ea typeface="Calibri"/>
                <a:cs typeface="Calibri"/>
              </a:defRPr>
            </a:pPr>
            <a:r>
              <a:rPr sz="1500" b="0">
                <a:solidFill>
                  <a:srgbClr val="14142B"/>
                </a:solidFill>
                <a:latin typeface="Calibri"/>
                <a:ea typeface="Calibri"/>
                <a:cs typeface="Calibri"/>
              </a:rPr>
              <a:t>Validated semantic cache and latency benchmark</a:t>
            </a:r>
          </a:p>
        </p:txBody>
      </p:sp>
      <p:sp>
        <p:nvSpPr>
          <p:cNvPr id="15" name="">
            <a:extLst xmlns:a="http://schemas.openxmlformats.org/drawingml/2006/main">
              <a:ext uri="{FF2B5EF4-FFF2-40B4-BE49-F238E27FC236}">
                <a16:creationId xmlns:a16="http://schemas.microsoft.com/office/drawing/2014/main" id="{16E524F9-51F1-45DD-BF8A-7E74E5440EB6}"/>
              </a:ext>
            </a:extLst>
          </p:cNvPr>
          <p:cNvSpPr>
            <a:spLocks xmlns:a="http://schemas.openxmlformats.org/drawingml/2006/main" noGrp="1"/>
          </p:cNvSpPr>
          <p:nvPr/>
        </p:nvSpPr>
        <p:spPr>
          <a:xfrm xmlns:a="http://schemas.openxmlformats.org/drawingml/2006/main">
            <a:off x="857250" y="3448050"/>
            <a:ext cx="10191750" cy="0"/>
          </a:xfrm>
          <a:prstGeom xmlns:a="http://schemas.openxmlformats.org/drawingml/2006/main" prst="line">
            <a:avLst/>
          </a:prstGeom>
          <a:noFill xmlns:a="http://schemas.openxmlformats.org/drawingml/2006/main"/>
          <a:ln xmlns:a="http://schemas.openxmlformats.org/drawingml/2006/main" w="9525">
            <a:solidFill>
              <a:srgbClr val="D9D3F0"/>
            </a:solidFill>
            <a:prstDash val="solid"/>
          </a:ln>
        </p:spPr>
      </p:sp>
      <p:sp>
        <p:nvSpPr>
          <p:cNvPr id="16" name="">
            <a:extLst xmlns:a="http://schemas.openxmlformats.org/drawingml/2006/main">
              <a:ext uri="{FF2B5EF4-FFF2-40B4-BE49-F238E27FC236}">
                <a16:creationId xmlns:a16="http://schemas.microsoft.com/office/drawing/2014/main" id="{3F5C79DF-8D6F-4C2A-A8C7-6D575612D4AE}"/>
              </a:ext>
            </a:extLst>
          </p:cNvPr>
          <p:cNvSpPr>
            <a:spLocks xmlns:a="http://schemas.openxmlformats.org/drawingml/2006/main" noGrp="1"/>
          </p:cNvSpPr>
          <p:nvPr/>
        </p:nvSpPr>
        <p:spPr>
          <a:xfrm xmlns:a="http://schemas.openxmlformats.org/drawingml/2006/main">
            <a:off x="904875" y="3676650"/>
            <a:ext cx="428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725" b="1">
                <a:solidFill>
                  <a:srgbClr val="0D6A4B"/>
                </a:solidFill>
                <a:latin typeface="Calibri"/>
                <a:ea typeface="Calibri"/>
                <a:cs typeface="Calibri"/>
              </a:defRPr>
            </a:pPr>
            <a:r>
              <a:rPr sz="1725" b="1">
                <a:solidFill>
                  <a:srgbClr val="0D6A4B"/>
                </a:solidFill>
                <a:latin typeface="Calibri"/>
                <a:ea typeface="Calibri"/>
                <a:cs typeface="Calibri"/>
              </a:rPr>
              <a:t>4</a:t>
            </a:r>
          </a:p>
        </p:txBody>
      </p:sp>
      <p:sp>
        <p:nvSpPr>
          <p:cNvPr id="17" name="">
            <a:extLst xmlns:a="http://schemas.openxmlformats.org/drawingml/2006/main">
              <a:ext uri="{FF2B5EF4-FFF2-40B4-BE49-F238E27FC236}">
                <a16:creationId xmlns:a16="http://schemas.microsoft.com/office/drawing/2014/main" id="{13A13F4B-5494-40BE-A04F-FE944EF86D1C}"/>
              </a:ext>
            </a:extLst>
          </p:cNvPr>
          <p:cNvSpPr>
            <a:spLocks xmlns:a="http://schemas.openxmlformats.org/drawingml/2006/main" noGrp="1"/>
          </p:cNvSpPr>
          <p:nvPr/>
        </p:nvSpPr>
        <p:spPr>
          <a:xfrm xmlns:a="http://schemas.openxmlformats.org/drawingml/2006/main">
            <a:off x="1524000" y="3676650"/>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0D6A4B"/>
                </a:solidFill>
                <a:latin typeface="Calibri"/>
                <a:ea typeface="Calibri"/>
                <a:cs typeface="Calibri"/>
              </a:defRPr>
            </a:pPr>
            <a:r>
              <a:rPr sz="1350" b="1">
                <a:solidFill>
                  <a:srgbClr val="0D6A4B"/>
                </a:solidFill>
                <a:latin typeface="Calibri"/>
                <a:ea typeface="Calibri"/>
                <a:cs typeface="Calibri"/>
              </a:rPr>
              <a:t>Completed</a:t>
            </a:r>
          </a:p>
        </p:txBody>
      </p:sp>
      <p:sp>
        <p:nvSpPr>
          <p:cNvPr id="18" name="">
            <a:extLst xmlns:a="http://schemas.openxmlformats.org/drawingml/2006/main">
              <a:ext uri="{FF2B5EF4-FFF2-40B4-BE49-F238E27FC236}">
                <a16:creationId xmlns:a16="http://schemas.microsoft.com/office/drawing/2014/main" id="{B5ACBE27-E739-4887-83B0-EBB78E8753C2}"/>
              </a:ext>
            </a:extLst>
          </p:cNvPr>
          <p:cNvSpPr>
            <a:spLocks xmlns:a="http://schemas.openxmlformats.org/drawingml/2006/main" noGrp="1"/>
          </p:cNvSpPr>
          <p:nvPr/>
        </p:nvSpPr>
        <p:spPr>
          <a:xfrm xmlns:a="http://schemas.openxmlformats.org/drawingml/2006/main">
            <a:off x="3048000" y="3676650"/>
            <a:ext cx="781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14142B"/>
                </a:solidFill>
                <a:latin typeface="Calibri"/>
                <a:ea typeface="Calibri"/>
                <a:cs typeface="Calibri"/>
              </a:defRPr>
            </a:pPr>
            <a:r>
              <a:rPr sz="1500" b="0">
                <a:solidFill>
                  <a:srgbClr val="14142B"/>
                </a:solidFill>
                <a:latin typeface="Calibri"/>
                <a:ea typeface="Calibri"/>
                <a:cs typeface="Calibri"/>
              </a:rPr>
              <a:t>Two-stage model orchestration, API, interface, Docker, tests</a:t>
            </a:r>
          </a:p>
        </p:txBody>
      </p:sp>
      <p:sp>
        <p:nvSpPr>
          <p:cNvPr id="19" name="">
            <a:extLst xmlns:a="http://schemas.openxmlformats.org/drawingml/2006/main">
              <a:ext uri="{FF2B5EF4-FFF2-40B4-BE49-F238E27FC236}">
                <a16:creationId xmlns:a16="http://schemas.microsoft.com/office/drawing/2014/main" id="{07AEA72C-EA86-49F4-A47A-73101966C946}"/>
              </a:ext>
            </a:extLst>
          </p:cNvPr>
          <p:cNvSpPr>
            <a:spLocks xmlns:a="http://schemas.openxmlformats.org/drawingml/2006/main" noGrp="1"/>
          </p:cNvSpPr>
          <p:nvPr/>
        </p:nvSpPr>
        <p:spPr>
          <a:xfrm xmlns:a="http://schemas.openxmlformats.org/drawingml/2006/main">
            <a:off x="857250" y="4133850"/>
            <a:ext cx="10191750" cy="0"/>
          </a:xfrm>
          <a:prstGeom xmlns:a="http://schemas.openxmlformats.org/drawingml/2006/main" prst="line">
            <a:avLst/>
          </a:prstGeom>
          <a:noFill xmlns:a="http://schemas.openxmlformats.org/drawingml/2006/main"/>
          <a:ln xmlns:a="http://schemas.openxmlformats.org/drawingml/2006/main" w="9525">
            <a:solidFill>
              <a:srgbClr val="D9D3F0"/>
            </a:solidFill>
            <a:prstDash val="solid"/>
          </a:ln>
        </p:spPr>
      </p:sp>
      <p:sp>
        <p:nvSpPr>
          <p:cNvPr id="20" name="">
            <a:extLst xmlns:a="http://schemas.openxmlformats.org/drawingml/2006/main">
              <a:ext uri="{FF2B5EF4-FFF2-40B4-BE49-F238E27FC236}">
                <a16:creationId xmlns:a16="http://schemas.microsoft.com/office/drawing/2014/main" id="{96A2CDAD-492C-4A25-9DB8-0D10ABEA1502}"/>
              </a:ext>
            </a:extLst>
          </p:cNvPr>
          <p:cNvSpPr>
            <a:spLocks xmlns:a="http://schemas.openxmlformats.org/drawingml/2006/main" noGrp="1"/>
          </p:cNvSpPr>
          <p:nvPr/>
        </p:nvSpPr>
        <p:spPr>
          <a:xfrm xmlns:a="http://schemas.openxmlformats.org/drawingml/2006/main">
            <a:off x="904875" y="4362450"/>
            <a:ext cx="428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725" b="1">
                <a:solidFill>
                  <a:srgbClr val="704EA6"/>
                </a:solidFill>
                <a:latin typeface="Calibri"/>
                <a:ea typeface="Calibri"/>
                <a:cs typeface="Calibri"/>
              </a:defRPr>
            </a:pPr>
            <a:r>
              <a:rPr sz="1725" b="1">
                <a:solidFill>
                  <a:srgbClr val="704EA6"/>
                </a:solidFill>
                <a:latin typeface="Calibri"/>
                <a:ea typeface="Calibri"/>
                <a:cs typeface="Calibri"/>
              </a:rPr>
              <a:t>5</a:t>
            </a:r>
          </a:p>
        </p:txBody>
      </p:sp>
      <p:sp>
        <p:nvSpPr>
          <p:cNvPr id="21" name="">
            <a:extLst xmlns:a="http://schemas.openxmlformats.org/drawingml/2006/main">
              <a:ext uri="{FF2B5EF4-FFF2-40B4-BE49-F238E27FC236}">
                <a16:creationId xmlns:a16="http://schemas.microsoft.com/office/drawing/2014/main" id="{02058495-FDA2-4981-8D97-F1EF19BCCFC6}"/>
              </a:ext>
            </a:extLst>
          </p:cNvPr>
          <p:cNvSpPr>
            <a:spLocks xmlns:a="http://schemas.openxmlformats.org/drawingml/2006/main" noGrp="1"/>
          </p:cNvSpPr>
          <p:nvPr/>
        </p:nvSpPr>
        <p:spPr>
          <a:xfrm xmlns:a="http://schemas.openxmlformats.org/drawingml/2006/main">
            <a:off x="1524000" y="4362450"/>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704EA6"/>
                </a:solidFill>
                <a:latin typeface="Calibri"/>
                <a:ea typeface="Calibri"/>
                <a:cs typeface="Calibri"/>
              </a:defRPr>
            </a:pPr>
            <a:r>
              <a:rPr sz="1350" b="1">
                <a:solidFill>
                  <a:srgbClr val="704EA6"/>
                </a:solidFill>
                <a:latin typeface="Calibri"/>
                <a:ea typeface="Calibri"/>
                <a:cs typeface="Calibri"/>
              </a:rPr>
              <a:t>Next</a:t>
            </a:r>
          </a:p>
        </p:txBody>
      </p:sp>
      <p:sp>
        <p:nvSpPr>
          <p:cNvPr id="22" name="">
            <a:extLst xmlns:a="http://schemas.openxmlformats.org/drawingml/2006/main">
              <a:ext uri="{FF2B5EF4-FFF2-40B4-BE49-F238E27FC236}">
                <a16:creationId xmlns:a16="http://schemas.microsoft.com/office/drawing/2014/main" id="{7EF5F458-8D4D-4C73-AE1D-848F0EB57E3F}"/>
              </a:ext>
            </a:extLst>
          </p:cNvPr>
          <p:cNvSpPr>
            <a:spLocks xmlns:a="http://schemas.openxmlformats.org/drawingml/2006/main" noGrp="1"/>
          </p:cNvSpPr>
          <p:nvPr/>
        </p:nvSpPr>
        <p:spPr>
          <a:xfrm xmlns:a="http://schemas.openxmlformats.org/drawingml/2006/main">
            <a:off x="3048000" y="4362450"/>
            <a:ext cx="781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14142B"/>
                </a:solidFill>
                <a:latin typeface="Calibri"/>
                <a:ea typeface="Calibri"/>
                <a:cs typeface="Calibri"/>
              </a:defRPr>
            </a:pPr>
            <a:r>
              <a:rPr sz="1500" b="0">
                <a:solidFill>
                  <a:srgbClr val="14142B"/>
                </a:solidFill>
                <a:latin typeface="Calibri"/>
                <a:ea typeface="Calibri"/>
                <a:cs typeface="Calibri"/>
              </a:rPr>
              <a:t>Load official assets and reproduce supplied samples</a:t>
            </a:r>
          </a:p>
        </p:txBody>
      </p:sp>
      <p:sp>
        <p:nvSpPr>
          <p:cNvPr id="23" name="">
            <a:extLst xmlns:a="http://schemas.openxmlformats.org/drawingml/2006/main">
              <a:ext uri="{FF2B5EF4-FFF2-40B4-BE49-F238E27FC236}">
                <a16:creationId xmlns:a16="http://schemas.microsoft.com/office/drawing/2014/main" id="{0C42F48D-3C72-4408-937A-573C50D8201E}"/>
              </a:ext>
            </a:extLst>
          </p:cNvPr>
          <p:cNvSpPr>
            <a:spLocks xmlns:a="http://schemas.openxmlformats.org/drawingml/2006/main" noGrp="1"/>
          </p:cNvSpPr>
          <p:nvPr/>
        </p:nvSpPr>
        <p:spPr>
          <a:xfrm xmlns:a="http://schemas.openxmlformats.org/drawingml/2006/main">
            <a:off x="857250" y="4819650"/>
            <a:ext cx="10191750" cy="0"/>
          </a:xfrm>
          <a:prstGeom xmlns:a="http://schemas.openxmlformats.org/drawingml/2006/main" prst="line">
            <a:avLst/>
          </a:prstGeom>
          <a:noFill xmlns:a="http://schemas.openxmlformats.org/drawingml/2006/main"/>
          <a:ln xmlns:a="http://schemas.openxmlformats.org/drawingml/2006/main" w="9525">
            <a:solidFill>
              <a:srgbClr val="D9D3F0"/>
            </a:solidFill>
            <a:prstDash val="solid"/>
          </a:ln>
        </p:spPr>
      </p:sp>
      <p:sp>
        <p:nvSpPr>
          <p:cNvPr id="24" name="">
            <a:extLst xmlns:a="http://schemas.openxmlformats.org/drawingml/2006/main">
              <a:ext uri="{FF2B5EF4-FFF2-40B4-BE49-F238E27FC236}">
                <a16:creationId xmlns:a16="http://schemas.microsoft.com/office/drawing/2014/main" id="{6333FC55-A317-4338-90F8-CAF43E736C5A}"/>
              </a:ext>
            </a:extLst>
          </p:cNvPr>
          <p:cNvSpPr>
            <a:spLocks xmlns:a="http://schemas.openxmlformats.org/drawingml/2006/main" noGrp="1"/>
          </p:cNvSpPr>
          <p:nvPr/>
        </p:nvSpPr>
        <p:spPr>
          <a:xfrm xmlns:a="http://schemas.openxmlformats.org/drawingml/2006/main">
            <a:off x="904875" y="5048250"/>
            <a:ext cx="428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725" b="1">
                <a:solidFill>
                  <a:srgbClr val="704EA6"/>
                </a:solidFill>
                <a:latin typeface="Calibri"/>
                <a:ea typeface="Calibri"/>
                <a:cs typeface="Calibri"/>
              </a:defRPr>
            </a:pPr>
            <a:r>
              <a:rPr sz="1725" b="1">
                <a:solidFill>
                  <a:srgbClr val="704EA6"/>
                </a:solidFill>
                <a:latin typeface="Calibri"/>
                <a:ea typeface="Calibri"/>
                <a:cs typeface="Calibri"/>
              </a:rPr>
              <a:t>6</a:t>
            </a:r>
          </a:p>
        </p:txBody>
      </p:sp>
      <p:sp>
        <p:nvSpPr>
          <p:cNvPr id="25" name="">
            <a:extLst xmlns:a="http://schemas.openxmlformats.org/drawingml/2006/main">
              <a:ext uri="{FF2B5EF4-FFF2-40B4-BE49-F238E27FC236}">
                <a16:creationId xmlns:a16="http://schemas.microsoft.com/office/drawing/2014/main" id="{8473DE1E-E002-4532-9A3D-F3F4B008B70D}"/>
              </a:ext>
            </a:extLst>
          </p:cNvPr>
          <p:cNvSpPr>
            <a:spLocks xmlns:a="http://schemas.openxmlformats.org/drawingml/2006/main" noGrp="1"/>
          </p:cNvSpPr>
          <p:nvPr/>
        </p:nvSpPr>
        <p:spPr>
          <a:xfrm xmlns:a="http://schemas.openxmlformats.org/drawingml/2006/main">
            <a:off x="1524000" y="5048250"/>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704EA6"/>
                </a:solidFill>
                <a:latin typeface="Calibri"/>
                <a:ea typeface="Calibri"/>
                <a:cs typeface="Calibri"/>
              </a:defRPr>
            </a:pPr>
            <a:r>
              <a:rPr sz="1350" b="1">
                <a:solidFill>
                  <a:srgbClr val="704EA6"/>
                </a:solidFill>
                <a:latin typeface="Calibri"/>
                <a:ea typeface="Calibri"/>
                <a:cs typeface="Calibri"/>
              </a:rPr>
              <a:t>In progress</a:t>
            </a:r>
          </a:p>
        </p:txBody>
      </p:sp>
      <p:sp>
        <p:nvSpPr>
          <p:cNvPr id="26" name="">
            <a:extLst xmlns:a="http://schemas.openxmlformats.org/drawingml/2006/main">
              <a:ext uri="{FF2B5EF4-FFF2-40B4-BE49-F238E27FC236}">
                <a16:creationId xmlns:a16="http://schemas.microsoft.com/office/drawing/2014/main" id="{461AEDE1-3A79-4A50-A85F-EB08FF254B05}"/>
              </a:ext>
            </a:extLst>
          </p:cNvPr>
          <p:cNvSpPr>
            <a:spLocks xmlns:a="http://schemas.openxmlformats.org/drawingml/2006/main" noGrp="1"/>
          </p:cNvSpPr>
          <p:nvPr/>
        </p:nvSpPr>
        <p:spPr>
          <a:xfrm xmlns:a="http://schemas.openxmlformats.org/drawingml/2006/main">
            <a:off x="3048000" y="5048250"/>
            <a:ext cx="781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14142B"/>
                </a:solidFill>
                <a:latin typeface="Calibri"/>
                <a:ea typeface="Calibri"/>
                <a:cs typeface="Calibri"/>
              </a:defRPr>
            </a:pPr>
            <a:r>
              <a:rPr sz="1500" b="0">
                <a:solidFill>
                  <a:srgbClr val="14142B"/>
                </a:solidFill>
                <a:latin typeface="Calibri"/>
                <a:ea typeface="Calibri"/>
                <a:cs typeface="Calibri"/>
              </a:rPr>
              <a:t>Repository and release tag complete; official holdout and demo video remain</a:t>
            </a:r>
          </a:p>
        </p:txBody>
      </p:sp>
      <p:sp>
        <p:nvSpPr>
          <p:cNvPr id="27" name="">
            <a:extLst xmlns:a="http://schemas.openxmlformats.org/drawingml/2006/main">
              <a:ext uri="{FF2B5EF4-FFF2-40B4-BE49-F238E27FC236}">
                <a16:creationId xmlns:a16="http://schemas.microsoft.com/office/drawing/2014/main" id="{14991779-7714-4C36-AB0C-5F8B44C0E88A}"/>
              </a:ext>
            </a:extLst>
          </p:cNvPr>
          <p:cNvSpPr>
            <a:spLocks xmlns:a="http://schemas.openxmlformats.org/drawingml/2006/main" noGrp="1"/>
          </p:cNvSpPr>
          <p:nvPr/>
        </p:nvSpPr>
        <p:spPr>
          <a:xfrm xmlns:a="http://schemas.openxmlformats.org/drawingml/2006/main">
            <a:off x="857250" y="5505450"/>
            <a:ext cx="10191750" cy="0"/>
          </a:xfrm>
          <a:prstGeom xmlns:a="http://schemas.openxmlformats.org/drawingml/2006/main" prst="line">
            <a:avLst/>
          </a:prstGeom>
          <a:noFill xmlns:a="http://schemas.openxmlformats.org/drawingml/2006/main"/>
          <a:ln xmlns:a="http://schemas.openxmlformats.org/drawingml/2006/main" w="9525">
            <a:solidFill>
              <a:srgbClr val="D9D3F0"/>
            </a:solidFill>
            <a:prstDash val="solid"/>
          </a:ln>
        </p:spPr>
      </p:sp>
    </p:spTree>
    <p:extLst>
      <p:ext uri="{BB962C8B-B14F-4D97-AF65-F5344CB8AC3E}">
        <p14:creationId xmlns:p14="http://schemas.microsoft.com/office/powerpoint/2010/main" val="398591468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353DB3-FB86-4452-A4FB-E7F4BEA62856}"/>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pPr>
              <a:spcAft>
                <a:spcPts val="500"/>
              </a:spcAft>
              <a:buSzPct val="100000"/>
              <a:buNone/>
              <a:defRPr sz="3150" b="1">
                <a:solidFill>
                  <a:srgbClr val="704EA6"/>
                </a:solidFill>
                <a:latin typeface="Calibri"/>
                <a:ea typeface="Calibri"/>
                <a:cs typeface="Calibri"/>
              </a:defRPr>
            </a:pPr>
            <a:r>
              <a:rPr sz="3150" b="1">
                <a:solidFill>
                  <a:srgbClr val="704EA6"/>
                </a:solidFill>
                <a:latin typeface="Calibri"/>
                <a:ea typeface="Calibri"/>
                <a:cs typeface="Calibri"/>
              </a:rPr>
              <a:t>Feasibility and viability</a:t>
            </a:r>
            <a:endParaRPr sz="4400" b="1">
              <a:solidFill>
                <a:srgbClr val="704EA6"/>
              </a:solidFill>
            </a:endParaRPr>
          </a:p>
        </p:txBody>
      </p:sp>
      <p:sp>
        <p:nvSpPr>
          <p:cNvPr id="3" name="Content Placeholder 2">
            <a:extLst xmlns:a="http://schemas.openxmlformats.org/drawingml/2006/main">
              <a:ext uri="{FF2B5EF4-FFF2-40B4-BE49-F238E27FC236}">
                <a16:creationId xmlns:a16="http://schemas.microsoft.com/office/drawing/2014/main" id="{539AB598-5650-4E46-905A-9096F4C50C3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sp>
        <p:nvSpPr>
          <p:cNvPr id="4" name="">
            <a:extLst xmlns:a="http://schemas.openxmlformats.org/drawingml/2006/main">
              <a:ext uri="{FF2B5EF4-FFF2-40B4-BE49-F238E27FC236}">
                <a16:creationId xmlns:a16="http://schemas.microsoft.com/office/drawing/2014/main" id="{45A25CA3-1411-4C39-B624-065285403957}"/>
              </a:ext>
            </a:extLst>
          </p:cNvPr>
          <p:cNvSpPr>
            <a:spLocks xmlns:a="http://schemas.openxmlformats.org/drawingml/2006/main" noGrp="1"/>
          </p:cNvSpPr>
          <p:nvPr/>
        </p:nvSpPr>
        <p:spPr>
          <a:xfrm xmlns:a="http://schemas.openxmlformats.org/drawingml/2006/main">
            <a:off x="904875" y="1714500"/>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025" b="1">
                <a:solidFill>
                  <a:srgbClr val="0D6A4B"/>
                </a:solidFill>
                <a:latin typeface="Calibri"/>
                <a:ea typeface="Calibri"/>
                <a:cs typeface="Calibri"/>
              </a:defRPr>
            </a:pPr>
            <a:r>
              <a:rPr sz="2025" b="1">
                <a:solidFill>
                  <a:srgbClr val="0D6A4B"/>
                </a:solidFill>
                <a:latin typeface="Calibri"/>
                <a:ea typeface="Calibri"/>
                <a:cs typeface="Calibri"/>
              </a:rPr>
              <a:t>Technical feasibility</a:t>
            </a:r>
          </a:p>
        </p:txBody>
      </p:sp>
      <p:sp>
        <p:nvSpPr>
          <p:cNvPr id="5" name="">
            <a:extLst xmlns:a="http://schemas.openxmlformats.org/drawingml/2006/main">
              <a:ext uri="{FF2B5EF4-FFF2-40B4-BE49-F238E27FC236}">
                <a16:creationId xmlns:a16="http://schemas.microsoft.com/office/drawing/2014/main" id="{0BAA7151-282F-4646-BFDF-35CDEB4CFC5E}"/>
              </a:ext>
            </a:extLst>
          </p:cNvPr>
          <p:cNvSpPr>
            <a:spLocks xmlns:a="http://schemas.openxmlformats.org/drawingml/2006/main" noGrp="1"/>
          </p:cNvSpPr>
          <p:nvPr/>
        </p:nvSpPr>
        <p:spPr>
          <a:xfrm xmlns:a="http://schemas.openxmlformats.org/drawingml/2006/main">
            <a:off x="904875" y="2333625"/>
            <a:ext cx="4000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4E5068"/>
                </a:solidFill>
                <a:latin typeface="Calibri"/>
                <a:ea typeface="Calibri"/>
                <a:cs typeface="Calibri"/>
              </a:defRPr>
            </a:pPr>
            <a:r>
              <a:rPr sz="1650" b="0">
                <a:solidFill>
                  <a:srgbClr val="4E5068"/>
                </a:solidFill>
                <a:latin typeface="Calibri"/>
                <a:ea typeface="Calibri"/>
                <a:cs typeface="Calibri"/>
              </a:rPr>
              <a:t>Working REST API and responsive interface</a:t>
            </a:r>
          </a:p>
          <a:p xmlns:a="http://schemas.openxmlformats.org/drawingml/2006/main">
            <a:pPr algn="l">
              <a:defRPr sz="1650" b="0">
                <a:solidFill>
                  <a:srgbClr val="4E5068"/>
                </a:solidFill>
                <a:latin typeface="Calibri"/>
                <a:ea typeface="Calibri"/>
                <a:cs typeface="Calibri"/>
              </a:defRPr>
            </a:pPr>
            <a:r>
              <a:rPr sz="1650" b="0">
                <a:solidFill>
                  <a:srgbClr val="4E5068"/>
                </a:solidFill>
                <a:latin typeface="Calibri"/>
                <a:ea typeface="Calibri"/>
                <a:cs typeface="Calibri"/>
              </a:rPr>
              <a:t>13 automated tests pass</a:t>
            </a:r>
          </a:p>
          <a:p xmlns:a="http://schemas.openxmlformats.org/drawingml/2006/main">
            <a:pPr algn="l">
              <a:defRPr sz="1650" b="0">
                <a:solidFill>
                  <a:srgbClr val="4E5068"/>
                </a:solidFill>
                <a:latin typeface="Calibri"/>
                <a:ea typeface="Calibri"/>
                <a:cs typeface="Calibri"/>
              </a:defRPr>
            </a:pPr>
            <a:r>
              <a:rPr sz="1650" b="0">
                <a:solidFill>
                  <a:srgbClr val="4E5068"/>
                </a:solidFill>
                <a:latin typeface="Calibri"/>
                <a:ea typeface="Calibri"/>
                <a:cs typeface="Calibri"/>
              </a:rPr>
              <a:t>Docker-ready deployment</a:t>
            </a:r>
          </a:p>
          <a:p xmlns:a="http://schemas.openxmlformats.org/drawingml/2006/main">
            <a:pPr algn="l">
              <a:defRPr sz="1650" b="0">
                <a:solidFill>
                  <a:srgbClr val="4E5068"/>
                </a:solidFill>
                <a:latin typeface="Calibri"/>
                <a:ea typeface="Calibri"/>
                <a:cs typeface="Calibri"/>
              </a:defRPr>
            </a:pPr>
            <a:r>
              <a:rPr sz="1650" b="0">
                <a:solidFill>
                  <a:srgbClr val="4E5068"/>
                </a:solidFill>
                <a:latin typeface="Calibri"/>
                <a:ea typeface="Calibri"/>
                <a:cs typeface="Calibri"/>
              </a:rPr>
              <a:t>Official-data normalization utility</a:t>
            </a:r>
          </a:p>
          <a:p xmlns:a="http://schemas.openxmlformats.org/drawingml/2006/main">
            <a:pPr algn="l">
              <a:defRPr sz="1650" b="0">
                <a:solidFill>
                  <a:srgbClr val="4E5068"/>
                </a:solidFill>
                <a:latin typeface="Calibri"/>
                <a:ea typeface="Calibri"/>
                <a:cs typeface="Calibri"/>
              </a:defRPr>
            </a:pPr>
            <a:r>
              <a:rPr sz="1650" b="0">
                <a:solidFill>
                  <a:srgbClr val="4E5068"/>
                </a:solidFill>
                <a:latin typeface="Calibri"/>
                <a:ea typeface="Calibri"/>
                <a:cs typeface="Calibri"/>
              </a:rPr>
              <a:t>Safe fallback without model access</a:t>
            </a:r>
          </a:p>
        </p:txBody>
      </p:sp>
      <p:sp>
        <p:nvSpPr>
          <p:cNvPr id="6" name="">
            <a:extLst xmlns:a="http://schemas.openxmlformats.org/drawingml/2006/main">
              <a:ext uri="{FF2B5EF4-FFF2-40B4-BE49-F238E27FC236}">
                <a16:creationId xmlns:a16="http://schemas.microsoft.com/office/drawing/2014/main" id="{A356EF33-CE48-45E5-ABFC-3376AD83C3B0}"/>
              </a:ext>
            </a:extLst>
          </p:cNvPr>
          <p:cNvSpPr>
            <a:spLocks xmlns:a="http://schemas.openxmlformats.org/drawingml/2006/main" noGrp="1"/>
          </p:cNvSpPr>
          <p:nvPr/>
        </p:nvSpPr>
        <p:spPr>
          <a:xfrm xmlns:a="http://schemas.openxmlformats.org/drawingml/2006/main">
            <a:off x="6477000" y="1714500"/>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025" b="1">
                <a:solidFill>
                  <a:srgbClr val="704EA6"/>
                </a:solidFill>
                <a:latin typeface="Calibri"/>
                <a:ea typeface="Calibri"/>
                <a:cs typeface="Calibri"/>
              </a:defRPr>
            </a:pPr>
            <a:r>
              <a:rPr sz="2025" b="1">
                <a:solidFill>
                  <a:srgbClr val="704EA6"/>
                </a:solidFill>
                <a:latin typeface="Calibri"/>
                <a:ea typeface="Calibri"/>
                <a:cs typeface="Calibri"/>
              </a:rPr>
              <a:t>Operational and business viability</a:t>
            </a:r>
          </a:p>
        </p:txBody>
      </p:sp>
      <p:sp>
        <p:nvSpPr>
          <p:cNvPr id="7" name="">
            <a:extLst xmlns:a="http://schemas.openxmlformats.org/drawingml/2006/main">
              <a:ext uri="{FF2B5EF4-FFF2-40B4-BE49-F238E27FC236}">
                <a16:creationId xmlns:a16="http://schemas.microsoft.com/office/drawing/2014/main" id="{BC096867-26B0-4EFC-A74A-041A93C0D362}"/>
              </a:ext>
            </a:extLst>
          </p:cNvPr>
          <p:cNvSpPr>
            <a:spLocks xmlns:a="http://schemas.openxmlformats.org/drawingml/2006/main" noGrp="1"/>
          </p:cNvSpPr>
          <p:nvPr/>
        </p:nvSpPr>
        <p:spPr>
          <a:xfrm xmlns:a="http://schemas.openxmlformats.org/drawingml/2006/main">
            <a:off x="6477000" y="2333625"/>
            <a:ext cx="4476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4E5068"/>
                </a:solidFill>
                <a:latin typeface="Calibri"/>
                <a:ea typeface="Calibri"/>
                <a:cs typeface="Calibri"/>
              </a:defRPr>
            </a:pPr>
            <a:r>
              <a:rPr sz="1650" b="0">
                <a:solidFill>
                  <a:srgbClr val="4E5068"/>
                </a:solidFill>
                <a:latin typeface="Calibri"/>
                <a:ea typeface="Calibri"/>
                <a:cs typeface="Calibri"/>
              </a:rPr>
              <a:t>API boundary fits support and self-service channels</a:t>
            </a:r>
          </a:p>
          <a:p xmlns:a="http://schemas.openxmlformats.org/drawingml/2006/main">
            <a:pPr algn="l">
              <a:defRPr sz="1650" b="0">
                <a:solidFill>
                  <a:srgbClr val="4E5068"/>
                </a:solidFill>
                <a:latin typeface="Calibri"/>
                <a:ea typeface="Calibri"/>
                <a:cs typeface="Calibri"/>
              </a:defRPr>
            </a:pPr>
            <a:r>
              <a:rPr sz="1650" b="0">
                <a:solidFill>
                  <a:srgbClr val="4E5068"/>
                </a:solidFill>
                <a:latin typeface="Calibri"/>
                <a:ea typeface="Calibri"/>
                <a:cs typeface="Calibri"/>
              </a:rPr>
              <a:t>Catalog records add scenarios without code branches</a:t>
            </a:r>
          </a:p>
          <a:p xmlns:a="http://schemas.openxmlformats.org/drawingml/2006/main">
            <a:pPr algn="l">
              <a:defRPr sz="1650" b="0">
                <a:solidFill>
                  <a:srgbClr val="4E5068"/>
                </a:solidFill>
                <a:latin typeface="Calibri"/>
                <a:ea typeface="Calibri"/>
                <a:cs typeface="Calibri"/>
              </a:defRPr>
            </a:pPr>
            <a:r>
              <a:rPr sz="1650" b="0">
                <a:solidFill>
                  <a:srgbClr val="4E5068"/>
                </a:solidFill>
                <a:latin typeface="Calibri"/>
                <a:ea typeface="Calibri"/>
                <a:cs typeface="Calibri"/>
              </a:rPr>
              <a:t>Provider adapter avoids model lock-in</a:t>
            </a:r>
          </a:p>
          <a:p xmlns:a="http://schemas.openxmlformats.org/drawingml/2006/main">
            <a:pPr algn="l">
              <a:defRPr sz="1650" b="0">
                <a:solidFill>
                  <a:srgbClr val="4E5068"/>
                </a:solidFill>
                <a:latin typeface="Calibri"/>
                <a:ea typeface="Calibri"/>
                <a:cs typeface="Calibri"/>
              </a:defRPr>
            </a:pPr>
            <a:r>
              <a:rPr sz="1650" b="0">
                <a:solidFill>
                  <a:srgbClr val="4E5068"/>
                </a:solidFill>
                <a:latin typeface="Calibri"/>
                <a:ea typeface="Calibri"/>
                <a:cs typeface="Calibri"/>
              </a:rPr>
              <a:t>Validated cache controls latency and repeat cost</a:t>
            </a:r>
          </a:p>
          <a:p xmlns:a="http://schemas.openxmlformats.org/drawingml/2006/main">
            <a:pPr algn="l">
              <a:defRPr sz="1650" b="0">
                <a:solidFill>
                  <a:srgbClr val="4E5068"/>
                </a:solidFill>
                <a:latin typeface="Calibri"/>
                <a:ea typeface="Calibri"/>
                <a:cs typeface="Calibri"/>
              </a:defRPr>
            </a:pPr>
            <a:r>
              <a:rPr sz="1650" b="0">
                <a:solidFill>
                  <a:srgbClr val="4E5068"/>
                </a:solidFill>
                <a:latin typeface="Calibri"/>
                <a:ea typeface="Calibri"/>
                <a:cs typeface="Calibri"/>
              </a:rPr>
              <a:t>Metrics expose accuracy, latency, and failures</a:t>
            </a:r>
          </a:p>
        </p:txBody>
      </p:sp>
      <p:sp>
        <p:nvSpPr>
          <p:cNvPr id="8" name="">
            <a:extLst xmlns:a="http://schemas.openxmlformats.org/drawingml/2006/main">
              <a:ext uri="{FF2B5EF4-FFF2-40B4-BE49-F238E27FC236}">
                <a16:creationId xmlns:a16="http://schemas.microsoft.com/office/drawing/2014/main" id="{A61A4D59-D1A2-4C87-9759-C4532DC9A842}"/>
              </a:ext>
            </a:extLst>
          </p:cNvPr>
          <p:cNvSpPr>
            <a:spLocks xmlns:a="http://schemas.openxmlformats.org/drawingml/2006/main" noGrp="1"/>
          </p:cNvSpPr>
          <p:nvPr/>
        </p:nvSpPr>
        <p:spPr>
          <a:xfrm xmlns:a="http://schemas.openxmlformats.org/drawingml/2006/main">
            <a:off x="5810250" y="1619250"/>
            <a:ext cx="0" cy="3714750"/>
          </a:xfrm>
          <a:prstGeom xmlns:a="http://schemas.openxmlformats.org/drawingml/2006/main" prst="line">
            <a:avLst/>
          </a:prstGeom>
          <a:noFill xmlns:a="http://schemas.openxmlformats.org/drawingml/2006/main"/>
          <a:ln xmlns:a="http://schemas.openxmlformats.org/drawingml/2006/main" w="19050">
            <a:solidFill>
              <a:srgbClr val="14142B"/>
            </a:solidFill>
            <a:prstDash val="solid"/>
          </a:ln>
        </p:spPr>
      </p:sp>
      <p:sp>
        <p:nvSpPr>
          <p:cNvPr id="9" name="">
            <a:extLst xmlns:a="http://schemas.openxmlformats.org/drawingml/2006/main">
              <a:ext uri="{FF2B5EF4-FFF2-40B4-BE49-F238E27FC236}">
                <a16:creationId xmlns:a16="http://schemas.microsoft.com/office/drawing/2014/main" id="{C72CFACE-8C2A-4595-B6A3-0BB55867E156}"/>
              </a:ext>
            </a:extLst>
          </p:cNvPr>
          <p:cNvSpPr>
            <a:spLocks xmlns:a="http://schemas.openxmlformats.org/drawingml/2006/main" noGrp="1"/>
          </p:cNvSpPr>
          <p:nvPr/>
        </p:nvSpPr>
        <p:spPr>
          <a:xfrm xmlns:a="http://schemas.openxmlformats.org/drawingml/2006/main">
            <a:off x="952500" y="5143500"/>
            <a:ext cx="990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1">
                <a:solidFill>
                  <a:srgbClr val="14142B"/>
                </a:solidFill>
                <a:latin typeface="Calibri"/>
                <a:ea typeface="Calibri"/>
                <a:cs typeface="Calibri"/>
              </a:defRPr>
            </a:pPr>
            <a:r>
              <a:rPr sz="1500" b="1">
                <a:solidFill>
                  <a:srgbClr val="14142B"/>
                </a:solidFill>
                <a:latin typeface="Calibri"/>
                <a:ea typeface="Calibri"/>
                <a:cs typeface="Calibri"/>
              </a:rPr>
              <a:t>Current boundary: official assets and an approved model endpoint are still required for competition-scale evaluation.</a:t>
            </a:r>
          </a:p>
        </p:txBody>
      </p:sp>
    </p:spTree>
    <p:extLst>
      <p:ext uri="{BB962C8B-B14F-4D97-AF65-F5344CB8AC3E}">
        <p14:creationId xmlns:p14="http://schemas.microsoft.com/office/powerpoint/2010/main" val="20955176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F04E28A-8ABF-4E15-B9E1-B0F49C0EE29F}"/>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pPr>
              <a:defRPr sz="3150" b="1">
                <a:solidFill>
                  <a:srgbClr val="704EA6"/>
                </a:solidFill>
                <a:latin typeface="Calibri"/>
                <a:ea typeface="Calibri"/>
                <a:cs typeface="Calibri"/>
              </a:defRPr>
            </a:pPr>
            <a:r>
              <a:rPr sz="3150" b="1">
                <a:solidFill>
                  <a:srgbClr val="704EA6"/>
                </a:solidFill>
                <a:latin typeface="Calibri"/>
                <a:ea typeface="Calibri"/>
                <a:cs typeface="Calibri"/>
              </a:rPr>
              <a:t>Submission checklist</a:t>
            </a:r>
          </a:p>
        </p:txBody>
      </p:sp>
      <p:sp>
        <p:nvSpPr>
          <p:cNvPr id="3" name="Content Placeholder 2">
            <a:extLst xmlns:a="http://schemas.openxmlformats.org/drawingml/2006/main">
              <a:ext uri="{FF2B5EF4-FFF2-40B4-BE49-F238E27FC236}">
                <a16:creationId xmlns:a16="http://schemas.microsoft.com/office/drawing/2014/main" id="{DAB3E6F6-9D00-4480-90E6-EC3C876F2628}"/>
              </a:ext>
            </a:extLst>
          </p:cNvPr>
          <p:cNvSpPr>
            <a:spLocks xmlns:a="http://schemas.openxmlformats.org/drawingml/2006/main" noGrp="1"/>
          </p:cNvSpPr>
          <p:nvPr>
            <p:ph idx="1"/>
          </p:nvPr>
        </p:nvSpPr>
        <p:spPr/>
        <p:txBody>
          <a:bodyPr xmlns:a="http://schemas.openxmlformats.org/drawingml/2006/main">
            <a:normAutofit fontScale="100000"/>
          </a:bodyPr>
          <a:lstStyle xmlns:a="http://schemas.openxmlformats.org/drawingml/2006/main"/>
          <a:p xmlns:a="http://schemas.openxmlformats.org/drawingml/2006/main">
            <a:pPr marL="177800" indent="-177800">
              <a:spcAft>
                <a:spcPts val="500"/>
              </a:spcAft>
              <a:buSzPct val="100000"/>
              <a:buChar char="•"/>
              <a:defRPr sz="1800">
                <a:solidFill>
                  <a:srgbClr val="4E5068"/>
                </a:solidFill>
                <a:latin typeface="Calibri"/>
                <a:ea typeface="Calibri"/>
                <a:cs typeface="Calibri"/>
              </a:defRPr>
            </a:pPr>
            <a:r>
              <a:rPr sz="1800">
                <a:solidFill>
                  <a:srgbClr val="4E5068"/>
                </a:solidFill>
                <a:latin typeface="Calibri"/>
                <a:ea typeface="Calibri"/>
                <a:cs typeface="Calibri"/>
              </a:rPr>
              <a:t>YES   Working prototype code</a:t>
            </a:r>
            <a:endParaRPr sz="2800"/>
          </a:p>
          <a:p xmlns:a="http://schemas.openxmlformats.org/drawingml/2006/main">
            <a:pPr marL="177800" indent="-177800">
              <a:spcAft>
                <a:spcPts val="500"/>
              </a:spcAft>
              <a:buSzPct val="100000"/>
              <a:buChar char="•"/>
              <a:defRPr sz="1800">
                <a:solidFill>
                  <a:srgbClr val="4E5068"/>
                </a:solidFill>
                <a:latin typeface="Calibri"/>
                <a:ea typeface="Calibri"/>
                <a:cs typeface="Calibri"/>
              </a:defRPr>
            </a:pPr>
            <a:r>
              <a:rPr sz="1800">
                <a:solidFill>
                  <a:srgbClr val="4E5068"/>
                </a:solidFill>
                <a:latin typeface="Calibri"/>
                <a:ea typeface="Calibri"/>
                <a:cs typeface="Calibri"/>
              </a:rPr>
              <a:t>YES   Reproducible README</a:t>
            </a:r>
            <a:endParaRPr sz="2800"/>
          </a:p>
          <a:p xmlns:a="http://schemas.openxmlformats.org/drawingml/2006/main">
            <a:pPr marL="177800" indent="-177800">
              <a:spcAft>
                <a:spcPts val="500"/>
              </a:spcAft>
              <a:buSzPct val="100000"/>
              <a:buChar char="•"/>
              <a:defRPr sz="1800">
                <a:solidFill>
                  <a:srgbClr val="4E5068"/>
                </a:solidFill>
                <a:latin typeface="Calibri"/>
                <a:ea typeface="Calibri"/>
                <a:cs typeface="Calibri"/>
              </a:defRPr>
            </a:pPr>
            <a:r>
              <a:rPr sz="1800">
                <a:solidFill>
                  <a:srgbClr val="4E5068"/>
                </a:solidFill>
                <a:latin typeface="Calibri"/>
                <a:ea typeface="Calibri"/>
                <a:cs typeface="Calibri"/>
              </a:rPr>
              <a:t>YES   Dockerfile and requirements</a:t>
            </a:r>
            <a:endParaRPr sz="2800"/>
          </a:p>
          <a:p xmlns:a="http://schemas.openxmlformats.org/drawingml/2006/main">
            <a:pPr marL="177800" indent="-177800">
              <a:spcAft>
                <a:spcPts val="500"/>
              </a:spcAft>
              <a:buSzPct val="100000"/>
              <a:buChar char="•"/>
              <a:defRPr sz="1800">
                <a:solidFill>
                  <a:srgbClr val="4E5068"/>
                </a:solidFill>
                <a:latin typeface="Calibri"/>
                <a:ea typeface="Calibri"/>
                <a:cs typeface="Calibri"/>
              </a:defRPr>
            </a:pPr>
            <a:r>
              <a:rPr sz="1800">
                <a:solidFill>
                  <a:srgbClr val="4E5068"/>
                </a:solidFill>
                <a:latin typeface="Calibri"/>
                <a:ea typeface="Calibri"/>
                <a:cs typeface="Calibri"/>
              </a:rPr>
              <a:t>YES   Automated tests and benchmark harness</a:t>
            </a:r>
            <a:endParaRPr sz="2800"/>
          </a:p>
          <a:p xmlns:a="http://schemas.openxmlformats.org/drawingml/2006/main">
            <a:pPr marL="0" indent="0">
              <a:buNone/>
              <a:defRPr sz="1800">
                <a:solidFill>
                  <a:srgbClr val="4E5068"/>
                </a:solidFill>
                <a:latin typeface="Calibri"/>
                <a:ea typeface="Calibri"/>
                <a:cs typeface="Calibri"/>
              </a:defRPr>
            </a:pPr>
            <a:r>
              <a:rPr sz="1800">
                <a:solidFill>
                  <a:srgbClr val="4E5068"/>
                </a:solidFill>
                <a:latin typeface="Calibri"/>
                <a:ea typeface="Calibri"/>
                <a:cs typeface="Calibri"/>
              </a:rPr>
              <a:t>YES   Presentation and AI disclosure draft</a:t>
            </a:r>
            <a:endParaRPr/>
          </a:p>
          <a:p xmlns:a="http://schemas.openxmlformats.org/drawingml/2006/main">
            <a:pPr marL="0" indent="0">
              <a:buNone/>
              <a:defRPr sz="1800">
                <a:solidFill>
                  <a:srgbClr val="4E5068"/>
                </a:solidFill>
                <a:latin typeface="Calibri"/>
                <a:ea typeface="Calibri"/>
                <a:cs typeface="Calibri"/>
              </a:defRPr>
            </a:pPr>
            <a:r>
              <a:rPr sz="1800">
                <a:solidFill>
                  <a:srgbClr val="4E5068"/>
                </a:solidFill>
                <a:latin typeface="Calibri"/>
                <a:ea typeface="Calibri"/>
                <a:cs typeface="Calibri"/>
              </a:rPr>
              <a:t>YES   GitHub repository published</a:t>
            </a:r>
            <a:endParaRPr/>
          </a:p>
          <a:p xmlns:a="http://schemas.openxmlformats.org/drawingml/2006/main">
            <a:pPr marL="0" indent="0">
              <a:buNone/>
              <a:defRPr sz="1800">
                <a:solidFill>
                  <a:srgbClr val="4E5068"/>
                </a:solidFill>
                <a:latin typeface="Calibri"/>
                <a:ea typeface="Calibri"/>
                <a:cs typeface="Calibri"/>
              </a:defRPr>
            </a:pPr>
            <a:r>
              <a:rPr sz="1800">
                <a:solidFill>
                  <a:srgbClr val="4E5068"/>
                </a:solidFill>
                <a:latin typeface="Calibri"/>
                <a:ea typeface="Calibri"/>
                <a:cs typeface="Calibri"/>
              </a:rPr>
              <a:t>YES   Release tag PRISM_GENAI_HACKATHON_Y2026</a:t>
            </a:r>
            <a:endParaRPr/>
          </a:p>
          <a:p xmlns:a="http://schemas.openxmlformats.org/drawingml/2006/main">
            <a:pPr marL="0" indent="0">
              <a:buNone/>
              <a:defRPr sz="1800">
                <a:solidFill>
                  <a:srgbClr val="4E5068"/>
                </a:solidFill>
                <a:latin typeface="Calibri"/>
                <a:ea typeface="Calibri"/>
                <a:cs typeface="Calibri"/>
              </a:defRPr>
            </a:pPr>
            <a:r>
              <a:rPr sz="1800">
                <a:solidFill>
                  <a:srgbClr val="4E5068"/>
                </a:solidFill>
                <a:latin typeface="Calibri"/>
                <a:ea typeface="Calibri"/>
                <a:cs typeface="Calibri"/>
              </a:rPr>
              <a:t>PENDING   Unedited demo video, maximum 5 minutes</a:t>
            </a:r>
            <a:endParaRPr/>
          </a:p>
          <a:p xmlns:a="http://schemas.openxmlformats.org/drawingml/2006/main">
            <a:pPr marL="0" indent="0">
              <a:buNone/>
              <a:defRPr sz="1800">
                <a:solidFill>
                  <a:srgbClr val="4E5068"/>
                </a:solidFill>
                <a:latin typeface="Calibri"/>
                <a:ea typeface="Calibri"/>
                <a:cs typeface="Calibri"/>
              </a:defRPr>
            </a:pPr>
            <a:r>
              <a:rPr sz="1800">
                <a:solidFill>
                  <a:srgbClr val="4E5068"/>
                </a:solidFill>
                <a:latin typeface="Calibri"/>
                <a:ea typeface="Calibri"/>
                <a:cs typeface="Calibri"/>
              </a:rPr>
              <a:t>PENDING   Official starter assets and final held-out results</a:t>
            </a:r>
            <a:endParaRPr/>
          </a:p>
        </p:txBody>
      </p:sp>
    </p:spTree>
    <p:extLst>
      <p:ext uri="{BB962C8B-B14F-4D97-AF65-F5344CB8AC3E}">
        <p14:creationId xmlns:p14="http://schemas.microsoft.com/office/powerpoint/2010/main" val="18069930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600E8CB-C939-4F31-AD7F-5939BD82F03E}"/>
              </a:ext>
            </a:extLst>
          </p:cNvPr>
          <p:cNvSpPr>
            <a:spLocks xmlns:a="http://schemas.openxmlformats.org/drawingml/2006/main" noGrp="1"/>
          </p:cNvSpPr>
          <p:nvPr/>
        </p:nvSpPr>
        <p:spPr>
          <a:xfrm xmlns:a="http://schemas.openxmlformats.org/drawingml/2006/main">
            <a:off x="1046181" y="3730214"/>
            <a:ext cx="67665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76000"/>
          </a:bodyPr>
          <a:lstStyle xmlns:a="http://schemas.openxmlformats.org/drawingml/2006/main"/>
          <a:p xmlns:a="http://schemas.openxmlformats.org/drawingml/2006/main">
            <a:pPr marL="0" indent="0">
              <a:buNone/>
              <a:defRPr sz="3750" b="1">
                <a:solidFill>
                  <a:srgbClr val="14142B"/>
                </a:solidFill>
                <a:latin typeface="Arial"/>
                <a:ea typeface="Arial"/>
                <a:cs typeface="Arial"/>
              </a:defRPr>
            </a:pPr>
            <a:r>
              <a:rPr sz="3750" b="1">
                <a:solidFill>
                  <a:srgbClr val="14142B"/>
                </a:solidFill>
                <a:latin typeface="Arial"/>
                <a:ea typeface="Arial"/>
                <a:cs typeface="Arial"/>
              </a:rPr>
              <a:t>Thank you</a:t>
            </a:r>
            <a:endParaRPr sz="4600"/>
          </a:p>
          <a:p xmlns:a="http://schemas.openxmlformats.org/drawingml/2006/main">
            <a:pPr marL="0" indent="0">
              <a:buNone/>
              <a:defRPr sz="3750" b="1">
                <a:solidFill>
                  <a:srgbClr val="14142B"/>
                </a:solidFill>
                <a:latin typeface="Arial"/>
                <a:ea typeface="Arial"/>
                <a:cs typeface="Arial"/>
              </a:defRPr>
            </a:pPr>
            <a:r>
              <a:rPr sz="3750" b="1">
                <a:solidFill>
                  <a:srgbClr val="14142B"/>
                </a:solidFill>
                <a:latin typeface="Arial"/>
                <a:ea typeface="Arial"/>
                <a:cs typeface="Arial"/>
              </a:rPr>
              <a:t>GuideRail</a:t>
            </a:r>
            <a:endParaRPr sz="4600"/>
          </a:p>
        </p:txBody>
      </p:sp>
      <p:sp>
        <p:nvSpPr>
          <p:cNvPr id="28" name="Text 25">
            <a:extLst xmlns:a="http://schemas.openxmlformats.org/drawingml/2006/main">
              <a:ext uri="{FF2B5EF4-FFF2-40B4-BE49-F238E27FC236}">
                <a16:creationId xmlns:a16="http://schemas.microsoft.com/office/drawing/2014/main" id="{3C4C250B-773E-42FC-8B2B-33C818962FA6}"/>
              </a:ext>
            </a:extLst>
          </p:cNvPr>
          <p:cNvSpPr>
            <a:spLocks xmlns:a="http://schemas.openxmlformats.org/drawingml/2006/main" noGrp="1"/>
          </p:cNvSpPr>
          <p:nvPr/>
        </p:nvSpPr>
        <p:spPr>
          <a:xfrm xmlns:a="http://schemas.openxmlformats.org/drawingml/2006/main">
            <a:off x="777240" y="5897880"/>
            <a:ext cx="106070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3637E"/>
                </a:solidFill>
                <a:latin typeface="Calibri"/>
                <a:ea typeface="Calibri"/>
                <a:cs typeface="Calibri"/>
              </a:rPr>
              <a:t>Organised by the Language AI Team and the PRISM Team, Samsung R&amp;D Institute India</a:t>
            </a:r>
            <a:endParaRPr sz="1100"/>
          </a:p>
        </p:txBody>
      </p:sp>
      <p:sp>
        <p:nvSpPr>
          <p:cNvPr id="29" name="">
            <a:extLst xmlns:a="http://schemas.openxmlformats.org/drawingml/2006/main">
              <a:ext uri="{FF2B5EF4-FFF2-40B4-BE49-F238E27FC236}">
                <a16:creationId xmlns:a16="http://schemas.microsoft.com/office/drawing/2014/main" id="{80F42A6A-3F88-4F4E-8416-8AA0A6C5061E}"/>
              </a:ext>
            </a:extLst>
          </p:cNvPr>
          <p:cNvSpPr>
            <a:spLocks xmlns:a="http://schemas.openxmlformats.org/drawingml/2006/main" noGrp="1"/>
          </p:cNvSpPr>
          <p:nvPr/>
        </p:nvSpPr>
        <p:spPr>
          <a:xfrm xmlns:a="http://schemas.openxmlformats.org/drawingml/2006/main">
            <a:off x="1047750" y="4667250"/>
            <a:ext cx="676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725" b="0">
                <a:solidFill>
                  <a:srgbClr val="704EA6"/>
                </a:solidFill>
                <a:latin typeface="Calibri"/>
                <a:ea typeface="Calibri"/>
                <a:cs typeface="Calibri"/>
              </a:defRPr>
            </a:pPr>
            <a:r>
              <a:rPr sz="1725" b="0">
                <a:solidFill>
                  <a:srgbClr val="704EA6"/>
                </a:solidFill>
                <a:latin typeface="Calibri"/>
                <a:ea typeface="Calibri"/>
                <a:cs typeface="Calibri"/>
              </a:rPr>
              <a:t>Theme 02  Smart Guided Troubleshooting</a:t>
            </a:r>
          </a:p>
          <a:p xmlns:a="http://schemas.openxmlformats.org/drawingml/2006/main">
            <a:pPr algn="l">
              <a:defRPr sz="1725" b="0">
                <a:solidFill>
                  <a:srgbClr val="704EA6"/>
                </a:solidFill>
                <a:latin typeface="Calibri"/>
                <a:ea typeface="Calibri"/>
                <a:cs typeface="Calibri"/>
              </a:defRPr>
            </a:pPr>
            <a:r>
              <a:rPr sz="1725" b="0">
                <a:solidFill>
                  <a:srgbClr val="704EA6"/>
                </a:solidFill>
                <a:latin typeface="Calibri"/>
                <a:ea typeface="Calibri"/>
                <a:cs typeface="Calibri"/>
              </a:rPr>
              <a:t>Questions and live prototype walkthrough</a:t>
            </a:r>
          </a:p>
        </p:txBody>
      </p:sp>
    </p:spTree>
    <p:extLst>
      <p:ext uri="{BB962C8B-B14F-4D97-AF65-F5344CB8AC3E}">
        <p14:creationId xmlns:p14="http://schemas.microsoft.com/office/powerpoint/2010/main" val="35967759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2026-09-30T17:54:35.0800000Z</dcterms:created>
  <dcterms:modified xsi:type="dcterms:W3CDTF">2026-09-30T17:54:35.0800000Z</dcterms:modified>
</coreProperties>
</file>