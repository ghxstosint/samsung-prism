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193b63330240bb" /><Relationship Type="http://schemas.openxmlformats.org/officeDocument/2006/relationships/extended-properties" Target="/docProps/app.xml" Id="R8b2d556720a447a9" /><Relationship Type="http://schemas.openxmlformats.org/officeDocument/2006/relationships/officeDocument" Target="/ppt/presentation.xml" Id="R275ee2b8f96c4615" /></Relationships>
</file>

<file path=ppt/presentation.xml><?xml version="1.0" encoding="utf-8"?>
<p:presentation xmlns:p="http://schemas.openxmlformats.org/presentationml/2006/main">
  <p:sldMasterIdLst>
    <p:sldMasterId xmlns:r="http://schemas.openxmlformats.org/officeDocument/2006/relationships" id="2147483648" r:id="R38250f012db84b48"/>
  </p:sldMasterIdLst>
  <p:notesMasterIdLst>
    <p:notesMasterId xmlns:r="http://schemas.openxmlformats.org/officeDocument/2006/relationships" r:id="R3aec5c6285144c63"/>
  </p:notesMasterIdLst>
  <p:sldIdLst>
    <p:sldId xmlns:r="http://schemas.openxmlformats.org/officeDocument/2006/relationships" id="256" r:id="R76aabb2e90b84b27"/>
    <p:sldId xmlns:r="http://schemas.openxmlformats.org/officeDocument/2006/relationships" id="257" r:id="Rddd5090dd76c4ac8"/>
    <p:sldId xmlns:r="http://schemas.openxmlformats.org/officeDocument/2006/relationships" id="258" r:id="R7d8b16d79fbb4541"/>
    <p:sldId xmlns:r="http://schemas.openxmlformats.org/officeDocument/2006/relationships" id="259" r:id="R320f8450ffb6442d"/>
    <p:sldId xmlns:r="http://schemas.openxmlformats.org/officeDocument/2006/relationships" id="260" r:id="Rb6c549d18267423f"/>
    <p:sldId xmlns:r="http://schemas.openxmlformats.org/officeDocument/2006/relationships" id="261" r:id="Rc01f49c7c89e40c5"/>
    <p:sldId xmlns:r="http://schemas.openxmlformats.org/officeDocument/2006/relationships" id="262" r:id="Rff042ccdee8e4e29"/>
    <p:sldId xmlns:r="http://schemas.openxmlformats.org/officeDocument/2006/relationships" id="263" r:id="R31e61aec65c44d0a"/>
    <p:sldId xmlns:r="http://schemas.openxmlformats.org/officeDocument/2006/relationships" id="264" r:id="R7c193bfc01e64adc"/>
    <p:sldId xmlns:r="http://schemas.openxmlformats.org/officeDocument/2006/relationships" id="265" r:id="R5ad7c77902174f0e"/>
    <p:sldId xmlns:r="http://schemas.openxmlformats.org/officeDocument/2006/relationships" id="266" r:id="R2ce8f0866c1246dd"/>
    <p:sldId xmlns:r="http://schemas.openxmlformats.org/officeDocument/2006/relationships" id="267" r:id="R021ebef2b4884ce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293d3eed4754d0f" /><Relationship Type="http://schemas.openxmlformats.org/officeDocument/2006/relationships/slideMaster" Target="/ppt/slideMasters/slideMaster1.xml" Id="R38250f012db84b48" /><Relationship Type="http://schemas.openxmlformats.org/officeDocument/2006/relationships/notesMaster" Target="/ppt/notesMasters/notesMaster1.xml" Id="R3aec5c6285144c63" /><Relationship Type="http://schemas.openxmlformats.org/officeDocument/2006/relationships/presProps" Target="/ppt/presProps.xml" Id="R3d94721374cb48d6" /><Relationship Type="http://schemas.openxmlformats.org/officeDocument/2006/relationships/viewProps" Target="/ppt/viewProps.xml" Id="Rf213aa78fd8f43da" /><Relationship Type="http://schemas.openxmlformats.org/officeDocument/2006/relationships/tableStyles" Target="/ppt/tableStyles.xml" Id="R015bc1bd37834a7d" /><Relationship Type="http://schemas.openxmlformats.org/officeDocument/2006/relationships/slide" Target="/ppt/slides/slide1.xml" Id="R76aabb2e90b84b27" /><Relationship Type="http://schemas.openxmlformats.org/officeDocument/2006/relationships/slide" Target="/ppt/slides/slide2.xml" Id="Rddd5090dd76c4ac8" /><Relationship Type="http://schemas.openxmlformats.org/officeDocument/2006/relationships/slide" Target="/ppt/slides/slide3.xml" Id="R7d8b16d79fbb4541" /><Relationship Type="http://schemas.openxmlformats.org/officeDocument/2006/relationships/slide" Target="/ppt/slides/slide4.xml" Id="R320f8450ffb6442d" /><Relationship Type="http://schemas.openxmlformats.org/officeDocument/2006/relationships/slide" Target="/ppt/slides/slide5.xml" Id="Rb6c549d18267423f" /><Relationship Type="http://schemas.openxmlformats.org/officeDocument/2006/relationships/slide" Target="/ppt/slides/slide6.xml" Id="Rc01f49c7c89e40c5" /><Relationship Type="http://schemas.openxmlformats.org/officeDocument/2006/relationships/slide" Target="/ppt/slides/slide7.xml" Id="Rff042ccdee8e4e29" /><Relationship Type="http://schemas.openxmlformats.org/officeDocument/2006/relationships/slide" Target="/ppt/slides/slide8.xml" Id="R31e61aec65c44d0a" /><Relationship Type="http://schemas.openxmlformats.org/officeDocument/2006/relationships/slide" Target="/ppt/slides/slide9.xml" Id="R7c193bfc01e64adc" /><Relationship Type="http://schemas.openxmlformats.org/officeDocument/2006/relationships/slide" Target="/ppt/slides/slide10.xml" Id="R5ad7c77902174f0e" /><Relationship Type="http://schemas.openxmlformats.org/officeDocument/2006/relationships/slide" Target="/ppt/slides/slide11.xml" Id="R2ce8f0866c1246dd" /><Relationship Type="http://schemas.openxmlformats.org/officeDocument/2006/relationships/slide" Target="/ppt/slides/slide12.xml" Id="R021ebef2b4884c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9c3ee2f99f49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44977320dc4cf4" /><Relationship Type="http://schemas.openxmlformats.org/officeDocument/2006/relationships/notesMaster" Target="/ppt/notesMasters/notesMaster1.xml" Id="R44b4ed335f4c40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0a98e9a6274728" /><Relationship Type="http://schemas.openxmlformats.org/officeDocument/2006/relationships/notesMaster" Target="/ppt/notesMasters/notesMaster1.xml" Id="R01f5a6cc114847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f5459eb5f44f5e" /><Relationship Type="http://schemas.openxmlformats.org/officeDocument/2006/relationships/notesMaster" Target="/ppt/notesMasters/notesMaster1.xml" Id="R465ecb0183d449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53c084575346d6" /><Relationship Type="http://schemas.openxmlformats.org/officeDocument/2006/relationships/notesMaster" Target="/ppt/notesMasters/notesMaster1.xml" Id="Ra95e2142739e41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8fc5793ddf4010" /><Relationship Type="http://schemas.openxmlformats.org/officeDocument/2006/relationships/notesMaster" Target="/ppt/notesMasters/notesMaster1.xml" Id="R4d056890b66c47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17eeaa79214780" /><Relationship Type="http://schemas.openxmlformats.org/officeDocument/2006/relationships/notesMaster" Target="/ppt/notesMasters/notesMaster1.xml" Id="R209cc30bfa4b4c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2986d68d034e4a" /><Relationship Type="http://schemas.openxmlformats.org/officeDocument/2006/relationships/notesMaster" Target="/ppt/notesMasters/notesMaster1.xml" Id="Re45dd1a8643c41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6289365814433b" /><Relationship Type="http://schemas.openxmlformats.org/officeDocument/2006/relationships/notesMaster" Target="/ppt/notesMasters/notesMaster1.xml" Id="Ra7478fd8d47c47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19ba8d51304d7e" /><Relationship Type="http://schemas.openxmlformats.org/officeDocument/2006/relationships/notesMaster" Target="/ppt/notesMasters/notesMaster1.xml" Id="R7bbc9739b67c4f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4226a8a4554ae2" /><Relationship Type="http://schemas.openxmlformats.org/officeDocument/2006/relationships/notesMaster" Target="/ppt/notesMasters/notesMaster1.xml" Id="Rea4bf68e22cc49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7fb3f4c064bec" /><Relationship Type="http://schemas.openxmlformats.org/officeDocument/2006/relationships/notesMaster" Target="/ppt/notesMasters/notesMaster1.xml" Id="R5f3eb2874d814d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e1661027e0401e" /><Relationship Type="http://schemas.openxmlformats.org/officeDocument/2006/relationships/notesMaster" Target="/ppt/notesMasters/notesMaster1.xml" Id="R7c613520f49c4c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team fields before submission. Official requirements source: Samsung PRISM Generative AI Hackathon 3rd Edition overview, pages 11–13.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Theme 2 guide, sections 1–6; supplied hackathon overview,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Theme 2 guide: zero URL leaks, catalog integrity, no hallucinated steps, pure JSON delivery, and graceful fallbacks. RAG grounding: Lewis et al., NeurIPS 2020, https://papers.nips.cc/paper/2020/hash/6b493230205f780e1bc26945df7481e5-Abstract.html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basis: hybrid retrieval and RRF, Cormack et al., SIGIR 2009, https://doi.org/10.1145/1571941.1572114; constrained decoding, Scholak et al., EMNLP 2021, https://aclanthology.org/2021.emnlp-main.779/; zero-shot dense retrieval caveats, Ren et al., Findings of EMNLP 2023, https://aclanthology.org/2023.findings-emnlp.1057/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from the working local prototype. Suggested video examples: multi-issue screen flicker + battery drain, cached battery paraphrase, unknown complaint.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core demo behavior works without external model access. Environment variables can configure an OpenAI-compatible model endpoint for the proposal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come from the supplied Theme 2 guide. The 15-minute baseline and millions-of-interactions scale come from the same source. No savings claim is made before official-volume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results generated by scripts/benchmark.py on 33 paraphrases from the included demonstration fixtures. Do not compare these figures with hidden or official data. Semantic caching context: Liu et al., ICLR 2026 submission/paper, https://openreview.net/pdf/3b13fe693b16e8f2abb20689166e3d10217afe15.pdf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submission deadline and release-tag requirement come from the supplied hackathon overview, pages 12–13. Required tag: PRISM_GENAI_HACKATHON_Y2026.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Lewis et al., NeurIPS 2020; Cormack et al., SIGIR 2009; Scholak et al., EMNLP 2021; Ren et al., Findings of EMNLP 2023; Gao et al., ACL 2023, https://aclanthology.org/2023.acl-long.99/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mark pending items complete until the links, official assets, final evaluation, and release tag exist. Source: supplied hackathon overview, pages 11–13.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the final GitHub and demo links to the cover and submission form before sending.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1848a487e34d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3aa2dcd2f447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a09cca96b143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f5617d9fc941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643ee11d3546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1adfd7ad8f49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f6ae773a7d641f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0466307524242e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dbf76efbffb478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74e923cba2443c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2926d9fb424475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79cd5fea515491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2CFE64-7CE6-4299-B8FE-939866A3EB6B}"/>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9E4360C-492F-4E2E-B967-599B2BD31D70}"/>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6870CDB-78C3-4602-B35C-A826CBF209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F585EF81-E96A-4C8D-A4F0-A9DF05C49C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FA2448-68BE-42AE-8001-48ECE62DC4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2C5E08-CE8A-45BE-8C3E-C04A49CC8A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5FCCB0C-95AB-4F7A-955D-2DC18750BFD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E96DA85-2FDE-4136-B9F6-AF0965475E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299B0367-ACE7-48B9-82C8-A7BFD1F98E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C09A210-6017-4F71-9E78-B2C329B4A7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AE6C5-6752-4963-B842-280808B201DB}"/>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FEA6DFC-697D-4605-86C0-8572E022BEC1}"/>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A341469-A18C-498E-BACC-28BCBFE904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FAED5D3B-1983-426F-A1AE-7470C43BB0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35ABB1-45F2-4FEA-BB5A-3B053892DB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A3F4AE-F142-401B-A5D1-4A52FF92CA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C7C9BD1-2876-4C52-83CF-1CBA9D931B3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CE624D8-76A7-478F-ACA3-5749DEFD0E0C}"/>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F29A939-0957-4E96-B38D-0B2E39D413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6" name="Footer Placeholder 5">
            <a:extLst xmlns:a="http://schemas.openxmlformats.org/drawingml/2006/main">
              <a:ext uri="{FF2B5EF4-FFF2-40B4-BE49-F238E27FC236}">
                <a16:creationId xmlns:a16="http://schemas.microsoft.com/office/drawing/2014/main" id="{C89D44E1-B8BA-490F-B30A-538CC4D48F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184BB79-7CA5-414E-B5B6-6A8E9AEE4A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586CE8-8BA4-4FB1-ACAA-E38F8ED7F745}"/>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2570902-F321-482A-924A-FF9A87CA5D6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85B6F67-E437-4FE8-851B-B016F33CFE99}"/>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37CE7897-2D17-49F8-8762-68F8D5794FB6}"/>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63AE8E8-43BB-400D-8934-6D6B21D3A58E}"/>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FDB6608-03F3-45EF-80BD-C6E305C071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8" name="Footer Placeholder 7">
            <a:extLst xmlns:a="http://schemas.openxmlformats.org/drawingml/2006/main">
              <a:ext uri="{FF2B5EF4-FFF2-40B4-BE49-F238E27FC236}">
                <a16:creationId xmlns:a16="http://schemas.microsoft.com/office/drawing/2014/main" id="{E665D75D-3AD4-4D0E-A5BC-9000973FD8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706A546-DC61-467F-A112-3AC0277BB9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CC8549-E392-4F05-B762-B5370E51C9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1059880-A67D-4A24-9138-E937AE75075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4" name="Footer Placeholder 3">
            <a:extLst xmlns:a="http://schemas.openxmlformats.org/drawingml/2006/main">
              <a:ext uri="{FF2B5EF4-FFF2-40B4-BE49-F238E27FC236}">
                <a16:creationId xmlns:a16="http://schemas.microsoft.com/office/drawing/2014/main" id="{01BF6EC7-BFAB-4137-9343-C66B7829AB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FA6B929-B579-4261-8171-35357AE9A3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CBAFEDF-BA35-4A7C-9388-604C048D57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3" name="Footer Placeholder 2">
            <a:extLst xmlns:a="http://schemas.openxmlformats.org/drawingml/2006/main">
              <a:ext uri="{FF2B5EF4-FFF2-40B4-BE49-F238E27FC236}">
                <a16:creationId xmlns:a16="http://schemas.microsoft.com/office/drawing/2014/main" id="{11C80271-5700-43CC-A9BA-B2AAB47B21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EA712EA-BE6D-4AE5-B09E-215DE5B0EE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2A6235-A416-4C23-BE8E-8FC1CF0EC17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4A2C36B-7DDF-4371-9F0A-6E5B64554F5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13FA19A-E15E-47EA-B9B9-5F7FD0AA0B7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9E84724-CA93-4332-A03F-0909AC5249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6" name="Footer Placeholder 5">
            <a:extLst xmlns:a="http://schemas.openxmlformats.org/drawingml/2006/main">
              <a:ext uri="{FF2B5EF4-FFF2-40B4-BE49-F238E27FC236}">
                <a16:creationId xmlns:a16="http://schemas.microsoft.com/office/drawing/2014/main" id="{E403302F-D853-499A-BB91-3BD5366E67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34AD427-BF9D-4A47-AF08-E4983B90C6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C1B540-7747-44F5-A3A4-69F051F3632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A4392B5-0943-4B18-9708-C9FA86F83539}"/>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47DFA04-BB4C-4DC0-9831-EB32549F5EA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101BDBD-01E1-44D7-AB93-513FF196A2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6" name="Footer Placeholder 5">
            <a:extLst xmlns:a="http://schemas.openxmlformats.org/drawingml/2006/main">
              <a:ext uri="{FF2B5EF4-FFF2-40B4-BE49-F238E27FC236}">
                <a16:creationId xmlns:a16="http://schemas.microsoft.com/office/drawing/2014/main" id="{D87D7BDB-9CCD-44F3-A4FB-D4BAE589BE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ABC8D8A-A70C-4D57-8271-DCF5EEFC33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5A63EB-C66D-4D2D-9928-25D57CFDCD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D91A17B-5319-4265-82A2-5D286CFAFD8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E972F85-7902-4426-947E-3509F7A06C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FD08658F-7DA3-40F3-B6FA-CF740F858E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6B0DE9-130B-4DA8-9A0C-06A295C9D8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54594E2-CBC8-4A0C-A110-E3B5A301CF6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CFBD2EA-CB7C-4CAB-855D-57F791910445}"/>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2348B0-3CBB-41FA-A8EC-5DFC833D7E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1A7E08DA-D399-4DC8-89B1-C4EBC64DC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DA6177-D647-4C5F-BA43-C02A1390F4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1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084ea8993948d8" /><Relationship Type="http://schemas.openxmlformats.org/officeDocument/2006/relationships/slideLayout" Target="/ppt/slideLayouts/slideLayout1.xml" Id="Rf2e3882ecfce4806" /><Relationship Type="http://schemas.openxmlformats.org/officeDocument/2006/relationships/slideLayout" Target="/ppt/slideLayouts/slideLayout2.xml" Id="R62875a0176cb45a6" /><Relationship Type="http://schemas.openxmlformats.org/officeDocument/2006/relationships/slideLayout" Target="/ppt/slideLayouts/slideLayout3.xml" Id="R664782e6a5064f46" /><Relationship Type="http://schemas.openxmlformats.org/officeDocument/2006/relationships/slideLayout" Target="/ppt/slideLayouts/slideLayout4.xml" Id="R6f21361998c7486c" /><Relationship Type="http://schemas.openxmlformats.org/officeDocument/2006/relationships/slideLayout" Target="/ppt/slideLayouts/slideLayout5.xml" Id="Rd4d4529c07804667" /><Relationship Type="http://schemas.openxmlformats.org/officeDocument/2006/relationships/slideLayout" Target="/ppt/slideLayouts/slideLayout6.xml" Id="R927ef8f0d50746c5" /><Relationship Type="http://schemas.openxmlformats.org/officeDocument/2006/relationships/slideLayout" Target="/ppt/slideLayouts/slideLayout7.xml" Id="Ra561f817d14a4992" /><Relationship Type="http://schemas.openxmlformats.org/officeDocument/2006/relationships/slideLayout" Target="/ppt/slideLayouts/slideLayout8.xml" Id="Reeede95c0ff0433b" /><Relationship Type="http://schemas.openxmlformats.org/officeDocument/2006/relationships/slideLayout" Target="/ppt/slideLayouts/slideLayout9.xml" Id="R33540d947b6c432d" /><Relationship Type="http://schemas.openxmlformats.org/officeDocument/2006/relationships/slideLayout" Target="/ppt/slideLayouts/slideLayout10.xml" Id="Rbad3f556954b4ef8" /><Relationship Type="http://schemas.openxmlformats.org/officeDocument/2006/relationships/slideLayout" Target="/ppt/slideLayouts/slideLayout11.xml" Id="R5d74ced74a5e4506" /><Relationship Type="http://schemas.openxmlformats.org/officeDocument/2006/relationships/slideLayout" Target="/ppt/slideLayouts/slideLayout12.xml" Id="Rfb7dda14ea2f4cd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CE67A62-7E64-4BE9-8EDF-4904E871A04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8CA73B9-1A82-4479-978C-9C873CC677B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9977FC6-3D78-48A7-A3DB-BFC7C0EA3E8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27CDC877-1137-446E-919A-C66E313317C6}"/>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258D39-C9B6-4DA9-9C05-38A0ECD4CE4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F5B04A4-2082-4D7E-8466-9BA22C990A7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e3882ecfce4806"/>
    <p:sldLayoutId xmlns:r="http://schemas.openxmlformats.org/officeDocument/2006/relationships" id="2147483650" r:id="R62875a0176cb45a6"/>
    <p:sldLayoutId xmlns:r="http://schemas.openxmlformats.org/officeDocument/2006/relationships" id="2147483651" r:id="R664782e6a5064f46"/>
    <p:sldLayoutId xmlns:r="http://schemas.openxmlformats.org/officeDocument/2006/relationships" id="2147483652" r:id="R6f21361998c7486c"/>
    <p:sldLayoutId xmlns:r="http://schemas.openxmlformats.org/officeDocument/2006/relationships" id="2147483653" r:id="Rd4d4529c07804667"/>
    <p:sldLayoutId xmlns:r="http://schemas.openxmlformats.org/officeDocument/2006/relationships" id="2147483654" r:id="R927ef8f0d50746c5"/>
    <p:sldLayoutId xmlns:r="http://schemas.openxmlformats.org/officeDocument/2006/relationships" id="2147483655" r:id="Ra561f817d14a4992"/>
    <p:sldLayoutId xmlns:r="http://schemas.openxmlformats.org/officeDocument/2006/relationships" id="2147483656" r:id="Reeede95c0ff0433b"/>
    <p:sldLayoutId xmlns:r="http://schemas.openxmlformats.org/officeDocument/2006/relationships" id="2147483657" r:id="R33540d947b6c432d"/>
    <p:sldLayoutId xmlns:r="http://schemas.openxmlformats.org/officeDocument/2006/relationships" id="2147483658" r:id="Rbad3f556954b4ef8"/>
    <p:sldLayoutId xmlns:r="http://schemas.openxmlformats.org/officeDocument/2006/relationships" id="2147483659" r:id="R5d74ced74a5e4506"/>
    <p:sldLayoutId xmlns:r="http://schemas.openxmlformats.org/officeDocument/2006/relationships" id="2147483660" r:id="Rfb7dda14ea2f4cd5"/>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2d2fa168b4144336" /><Relationship Type="http://schemas.openxmlformats.org/officeDocument/2006/relationships/image" Target="/ppt/media/image.png" Id="R2ec7e3157a2a44c8" /><Relationship Type="http://schemas.openxmlformats.org/officeDocument/2006/relationships/notesSlide" Target="/ppt/notesSlides/notesSlide1.xml" Id="Rea664c7fafa84c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9186c8b0da94d14" /><Relationship Type="http://schemas.openxmlformats.org/officeDocument/2006/relationships/notesSlide" Target="/ppt/notesSlides/notesSlide2.xml" Id="R1c584f6df20d4b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99ab241a22943ad" /><Relationship Type="http://schemas.openxmlformats.org/officeDocument/2006/relationships/notesSlide" Target="/ppt/notesSlides/notesSlide3.xml" Id="R47af25ff8c764c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5252c9f1bd34b95" /><Relationship Type="http://schemas.openxmlformats.org/officeDocument/2006/relationships/notesSlide" Target="/ppt/notesSlides/notesSlide4.xml" Id="Rcb43a150a4d44b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8a0199cbcde467c" /><Relationship Type="http://schemas.openxmlformats.org/officeDocument/2006/relationships/image" Target="/ppt/media/image2.png" Id="Re48e40b2a81a4571" /><Relationship Type="http://schemas.openxmlformats.org/officeDocument/2006/relationships/notesSlide" Target="/ppt/notesSlides/notesSlide5.xml" Id="Rcf252063a4a742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e4e8225d5cf4a7d" /><Relationship Type="http://schemas.openxmlformats.org/officeDocument/2006/relationships/notesSlide" Target="/ppt/notesSlides/notesSlide6.xml" Id="Ref2d7ddf07e848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a2dbc457e2c4b3c" /><Relationship Type="http://schemas.openxmlformats.org/officeDocument/2006/relationships/notesSlide" Target="/ppt/notesSlides/notesSlide7.xml" Id="R3d28d9f6f33c4b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243ee9d80404f6c" /><Relationship Type="http://schemas.openxmlformats.org/officeDocument/2006/relationships/notesSlide" Target="/ppt/notesSlides/notesSlide8.xml" Id="R2da2a268f4bc45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8c8a7c3e592459c" /><Relationship Type="http://schemas.openxmlformats.org/officeDocument/2006/relationships/notesSlide" Target="/ppt/notesSlides/notesSlide9.xml" Id="R2793e91fb9cb4f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0de83536f66499d" /><Relationship Type="http://schemas.openxmlformats.org/officeDocument/2006/relationships/notesSlide" Target="/ppt/notesSlides/notesSlide10.xml" Id="R254f9d4b531d43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04a58bdd8704eaf" /><Relationship Type="http://schemas.openxmlformats.org/officeDocument/2006/relationships/notesSlide" Target="/ppt/notesSlides/notesSlide11.xml" Id="R6f660d80954040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a61bb53451334ecf" /><Relationship Type="http://schemas.openxmlformats.org/officeDocument/2006/relationships/notesSlide" Target="/ppt/notesSlides/notesSlide12.xml" Id="R9d19be431cea4f9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C7F1F74-70C8-486F-A129-C8836D45D10A}"/>
              </a:ext>
            </a:extLst>
          </p:cNvPr>
          <p:cNvSpPr>
            <a:spLocks xmlns:a="http://schemas.openxmlformats.org/drawingml/2006/main" noGrp="1"/>
          </p:cNvSpPr>
          <p:nvPr/>
        </p:nvSpPr>
        <p:spPr>
          <a:xfrm xmlns:a="http://schemas.openxmlformats.org/drawingml/2006/main">
            <a:off x="777240" y="676656"/>
            <a:ext cx="2423160" cy="347472"/>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9D3F0"/>
            </a:solidFill>
            <a:prstDash val="solid"/>
          </a:ln>
        </p:spPr>
      </p:sp>
      <p:sp>
        <p:nvSpPr>
          <p:cNvPr id="3" name="Text 1">
            <a:extLst xmlns:a="http://schemas.openxmlformats.org/drawingml/2006/main">
              <a:ext uri="{FF2B5EF4-FFF2-40B4-BE49-F238E27FC236}">
                <a16:creationId xmlns:a16="http://schemas.microsoft.com/office/drawing/2014/main" id="{BB058C6C-9165-4FEE-85E8-2CB4555DC16A}"/>
              </a:ext>
            </a:extLst>
          </p:cNvPr>
          <p:cNvSpPr>
            <a:spLocks xmlns:a="http://schemas.openxmlformats.org/drawingml/2006/main" noGrp="1"/>
          </p:cNvSpPr>
          <p:nvPr/>
        </p:nvSpPr>
        <p:spPr>
          <a:xfrm xmlns:a="http://schemas.openxmlformats.org/drawingml/2006/main">
            <a:off x="777240" y="676656"/>
            <a:ext cx="2423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spc="110">
                <a:solidFill>
                  <a:srgbClr val="6D28D9"/>
                </a:solidFill>
                <a:latin typeface="Arial"/>
                <a:ea typeface="Arial"/>
                <a:cs typeface="Arial"/>
              </a:rPr>
              <a:t>SAMSUNG PRISM</a:t>
            </a:r>
            <a:endParaRPr sz="1100"/>
          </a:p>
        </p:txBody>
      </p:sp>
      <p:sp>
        <p:nvSpPr>
          <p:cNvPr id="4" name="Text 2">
            <a:extLst xmlns:a="http://schemas.openxmlformats.org/drawingml/2006/main">
              <a:ext uri="{FF2B5EF4-FFF2-40B4-BE49-F238E27FC236}">
                <a16:creationId xmlns:a16="http://schemas.microsoft.com/office/drawing/2014/main" id="{51D5B21B-BC98-4AF9-9616-27171F950119}"/>
              </a:ext>
            </a:extLst>
          </p:cNvPr>
          <p:cNvSpPr>
            <a:spLocks xmlns:a="http://schemas.openxmlformats.org/drawingml/2006/main" noGrp="1"/>
          </p:cNvSpPr>
          <p:nvPr/>
        </p:nvSpPr>
        <p:spPr>
          <a:xfrm xmlns:a="http://schemas.openxmlformats.org/drawingml/2006/main">
            <a:off x="777240" y="1207008"/>
            <a:ext cx="6126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defRPr sz="4500" b="1">
                <a:solidFill>
                  <a:srgbClr val="14142B"/>
                </a:solidFill>
                <a:latin typeface="Arial"/>
                <a:ea typeface="Arial"/>
                <a:cs typeface="Arial"/>
              </a:defRPr>
            </a:pPr>
            <a:r>
              <a:rPr sz="4500" b="1">
                <a:solidFill>
                  <a:srgbClr val="14142B"/>
                </a:solidFill>
                <a:latin typeface="Arial"/>
                <a:ea typeface="Arial"/>
                <a:cs typeface="Arial"/>
              </a:rPr>
              <a:t>GuideRail</a:t>
            </a:r>
            <a:endParaRPr sz="5000"/>
          </a:p>
        </p:txBody>
      </p:sp>
      <p:sp>
        <p:nvSpPr>
          <p:cNvPr id="5" name="Text 3">
            <a:extLst xmlns:a="http://schemas.openxmlformats.org/drawingml/2006/main">
              <a:ext uri="{FF2B5EF4-FFF2-40B4-BE49-F238E27FC236}">
                <a16:creationId xmlns:a16="http://schemas.microsoft.com/office/drawing/2014/main" id="{A91D80B4-76F8-4175-8EB8-85CA3372599B}"/>
              </a:ext>
            </a:extLst>
          </p:cNvPr>
          <p:cNvSpPr>
            <a:spLocks xmlns:a="http://schemas.openxmlformats.org/drawingml/2006/main" noGrp="1"/>
          </p:cNvSpPr>
          <p:nvPr/>
        </p:nvSpPr>
        <p:spPr>
          <a:xfrm xmlns:a="http://schemas.openxmlformats.org/drawingml/2006/main">
            <a:off x="777240" y="1901952"/>
            <a:ext cx="6126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8095"/>
          </a:bodyPr>
          <a:lstStyle xmlns:a="http://schemas.openxmlformats.org/drawingml/2006/main"/>
          <a:p xmlns:a="http://schemas.openxmlformats.org/drawingml/2006/main">
            <a:pPr marL="0" indent="0">
              <a:buNone/>
              <a:defRPr sz="3150" b="1">
                <a:solidFill>
                  <a:srgbClr val="6D28D9"/>
                </a:solidFill>
                <a:latin typeface="Arial"/>
                <a:ea typeface="Arial"/>
                <a:cs typeface="Arial"/>
              </a:defRPr>
            </a:pPr>
            <a:r>
              <a:rPr sz="3150" b="1">
                <a:solidFill>
                  <a:srgbClr val="6D28D9"/>
                </a:solidFill>
                <a:latin typeface="Arial"/>
                <a:ea typeface="Arial"/>
                <a:cs typeface="Arial"/>
              </a:rPr>
              <a:t>Smart Guided</a:t>
            </a:r>
            <a:endParaRPr sz="5000"/>
          </a:p>
          <a:p xmlns:a="http://schemas.openxmlformats.org/drawingml/2006/main">
            <a:pPr marL="0" indent="0">
              <a:buNone/>
              <a:defRPr sz="3150" b="1">
                <a:solidFill>
                  <a:srgbClr val="6D28D9"/>
                </a:solidFill>
                <a:latin typeface="Arial"/>
                <a:ea typeface="Arial"/>
                <a:cs typeface="Arial"/>
              </a:defRPr>
            </a:pPr>
            <a:r>
              <a:rPr sz="3150" b="1">
                <a:solidFill>
                  <a:srgbClr val="6D28D9"/>
                </a:solidFill>
                <a:latin typeface="Arial"/>
                <a:ea typeface="Arial"/>
                <a:cs typeface="Arial"/>
              </a:rPr>
              <a:t>Troubleshooting</a:t>
            </a:r>
            <a:endParaRPr sz="5000"/>
          </a:p>
        </p:txBody>
      </p:sp>
      <p:sp>
        <p:nvSpPr>
          <p:cNvPr id="6" name="Text 4">
            <a:extLst xmlns:a="http://schemas.openxmlformats.org/drawingml/2006/main">
              <a:ext uri="{FF2B5EF4-FFF2-40B4-BE49-F238E27FC236}">
                <a16:creationId xmlns:a16="http://schemas.microsoft.com/office/drawing/2014/main" id="{FBC7F951-77B4-4CE3-BA3A-EDD75AD2A22D}"/>
              </a:ext>
            </a:extLst>
          </p:cNvPr>
          <p:cNvSpPr>
            <a:spLocks xmlns:a="http://schemas.openxmlformats.org/drawingml/2006/main" noGrp="1"/>
          </p:cNvSpPr>
          <p:nvPr/>
        </p:nvSpPr>
        <p:spPr>
          <a:xfrm xmlns:a="http://schemas.openxmlformats.org/drawingml/2006/main">
            <a:off x="777240" y="2724912"/>
            <a:ext cx="6126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4142B"/>
                </a:solidFill>
                <a:latin typeface="Arial"/>
                <a:ea typeface="Arial"/>
                <a:cs typeface="Arial"/>
              </a:rPr>
              <a:t>Theme 02   2026 – 27</a:t>
            </a:r>
            <a:endParaRPr sz="2500"/>
          </a:p>
        </p:txBody>
      </p:sp>
      <p:sp>
        <p:nvSpPr>
          <p:cNvPr id="7" name="Text 5">
            <a:extLst xmlns:a="http://schemas.openxmlformats.org/drawingml/2006/main">
              <a:ext uri="{FF2B5EF4-FFF2-40B4-BE49-F238E27FC236}">
                <a16:creationId xmlns:a16="http://schemas.microsoft.com/office/drawing/2014/main" id="{DA5E51CC-177B-483B-A453-C8163F7C25C0}"/>
              </a:ext>
            </a:extLst>
          </p:cNvPr>
          <p:cNvSpPr>
            <a:spLocks xmlns:a="http://schemas.openxmlformats.org/drawingml/2006/main" noGrp="1"/>
          </p:cNvSpPr>
          <p:nvPr/>
        </p:nvSpPr>
        <p:spPr>
          <a:xfrm xmlns:a="http://schemas.openxmlformats.org/drawingml/2006/main">
            <a:off x="777240" y="3310128"/>
            <a:ext cx="5852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53856"/>
          </a:bodyPr>
          <a:lstStyle xmlns:a="http://schemas.openxmlformats.org/drawingml/2006/main"/>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Team Name - [ADD]</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College Name - [ADD]</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Members - [ADD NAMES AND EMAILS]</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GitHub - [ADD PUBLIC OR SHARED LINK]</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Demo - [ADD VIDEO LINK]</a:t>
            </a:r>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2ec7e3157a2a44c8"/>
          <a:stretch xmlns:a="http://schemas.openxmlformats.org/drawingml/2006/main">
            <a:fillRect l="0" t="0" r="0" b="0"/>
          </a:stretch>
        </p:blipFill>
        <p:spPr>
          <a:xfrm xmlns:a="http://schemas.openxmlformats.org/drawingml/2006/main">
            <a:off x="7059168" y="1051560"/>
            <a:ext cx="4572000" cy="4572000"/>
          </a:xfrm>
          <a:prstGeom xmlns:a="http://schemas.openxmlformats.org/drawingml/2006/main" prst="rect">
            <a:avLst/>
          </a:prstGeom>
        </p:spPr>
      </p:pic>
    </p:spTree>
    <p:extLst>
      <p:ext uri="{BB962C8B-B14F-4D97-AF65-F5344CB8AC3E}">
        <p14:creationId xmlns:p14="http://schemas.microsoft.com/office/powerpoint/2010/main" val="5323206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000" b="1">
                <a:solidFill>
                  <a:srgbClr val="704EA6"/>
                </a:solidFill>
                <a:latin typeface="Calibri"/>
                <a:ea typeface="Calibri"/>
                <a:cs typeface="Calibri"/>
              </a:defRPr>
            </a:pPr>
            <a:r>
              <a:rPr sz="3000" b="1">
                <a:solidFill>
                  <a:srgbClr val="704EA6"/>
                </a:solidFill>
                <a:latin typeface="Calibri"/>
                <a:ea typeface="Calibri"/>
                <a:cs typeface="Calibri"/>
              </a:rPr>
              <a:t>Theme 02  Smart Guided Troubleshooting</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80DBD9F6-90F9-4E52-8D19-00E200B0FEAB}"/>
              </a:ext>
            </a:extLst>
          </p:cNvPr>
          <p:cNvSpPr>
            <a:spLocks xmlns:a="http://schemas.openxmlformats.org/drawingml/2006/main" noGrp="1"/>
          </p:cNvSpPr>
          <p:nvPr/>
        </p:nvSpPr>
        <p:spPr>
          <a:xfrm xmlns:a="http://schemas.openxmlformats.org/drawingml/2006/main">
            <a:off x="857250" y="1762125"/>
            <a:ext cx="676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14142B"/>
                </a:solidFill>
                <a:latin typeface="Calibri"/>
                <a:ea typeface="Calibri"/>
                <a:cs typeface="Calibri"/>
              </a:defRPr>
            </a:pPr>
            <a:r>
              <a:rPr sz="1800" b="0">
                <a:solidFill>
                  <a:srgbClr val="14142B"/>
                </a:solidFill>
                <a:latin typeface="Calibri"/>
                <a:ea typeface="Calibri"/>
                <a:cs typeface="Calibri"/>
              </a:rPr>
              <a:t>Customers describe several symptoms in everyday language. Support agents currently translate them into technical issues, assemble steps, and tell users where to navigate. The supplied brief estimates roughly 15 minutes per scenario across millions of interactions.</a:t>
            </a:r>
          </a:p>
        </p:txBody>
      </p:sp>
      <p:sp>
        <p:nvSpPr>
          <p:cNvPr id="5" name="">
            <a:extLst xmlns:a="http://schemas.openxmlformats.org/drawingml/2006/main">
              <a:ext uri="{FF2B5EF4-FFF2-40B4-BE49-F238E27FC236}">
                <a16:creationId xmlns:a16="http://schemas.microsoft.com/office/drawing/2014/main" id="{B3B06164-3FED-49CA-9D6C-DACBAFC995A5}"/>
              </a:ext>
            </a:extLst>
          </p:cNvPr>
          <p:cNvSpPr>
            <a:spLocks xmlns:a="http://schemas.openxmlformats.org/drawingml/2006/main" noGrp="1"/>
          </p:cNvSpPr>
          <p:nvPr/>
        </p:nvSpPr>
        <p:spPr>
          <a:xfrm xmlns:a="http://schemas.openxmlformats.org/drawingml/2006/main">
            <a:off x="8096250" y="1809750"/>
            <a:ext cx="3190875" cy="1143000"/>
          </a:xfrm>
          <a:prstGeom xmlns:a="http://schemas.openxmlformats.org/drawingml/2006/main" prst="roundRect">
            <a:avLst>
              <a:gd name="adj" fmla="val 10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4142B"/>
                </a:solidFill>
                <a:latin typeface="Calibri"/>
                <a:ea typeface="Calibri"/>
                <a:cs typeface="Calibri"/>
              </a:defRPr>
            </a:pPr>
            <a:r>
              <a:rPr sz="1500" b="1">
                <a:solidFill>
                  <a:srgbClr val="14142B"/>
                </a:solidFill>
                <a:latin typeface="Calibri"/>
                <a:ea typeface="Calibri"/>
                <a:cs typeface="Calibri"/>
              </a:rPr>
              <a:t>Required output</a:t>
            </a:r>
          </a:p>
          <a:p xmlns:a="http://schemas.openxmlformats.org/drawingml/2006/main">
            <a:pPr algn="l">
              <a:defRPr sz="1500" b="1">
                <a:solidFill>
                  <a:srgbClr val="14142B"/>
                </a:solidFill>
                <a:latin typeface="Calibri"/>
                <a:ea typeface="Calibri"/>
                <a:cs typeface="Calibri"/>
              </a:defRPr>
            </a:pPr>
            <a:r>
              <a:rPr sz="1500" b="1">
                <a:solidFill>
                  <a:srgbClr val="14142B"/>
                </a:solidFill>
                <a:latin typeface="Calibri"/>
                <a:ea typeface="Calibri"/>
                <a:cs typeface="Calibri"/>
              </a:rPr>
              <a:t>REST API with ordered JSON actions, steps, and exact in-app Settings deeplinks</a:t>
            </a:r>
          </a:p>
        </p:txBody>
      </p:sp>
      <p:sp>
        <p:nvSpPr>
          <p:cNvPr id="6" name="">
            <a:extLst xmlns:a="http://schemas.openxmlformats.org/drawingml/2006/main">
              <a:ext uri="{FF2B5EF4-FFF2-40B4-BE49-F238E27FC236}">
                <a16:creationId xmlns:a16="http://schemas.microsoft.com/office/drawing/2014/main" id="{B761942D-83B5-45F6-9F97-85920FF975B8}"/>
              </a:ext>
            </a:extLst>
          </p:cNvPr>
          <p:cNvSpPr>
            <a:spLocks xmlns:a="http://schemas.openxmlformats.org/drawingml/2006/main" noGrp="1"/>
          </p:cNvSpPr>
          <p:nvPr/>
        </p:nvSpPr>
        <p:spPr>
          <a:xfrm xmlns:a="http://schemas.openxmlformats.org/drawingml/2006/main">
            <a:off x="857250" y="3381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704EA6"/>
                </a:solidFill>
                <a:latin typeface="Calibri"/>
                <a:ea typeface="Calibri"/>
                <a:cs typeface="Calibri"/>
              </a:defRPr>
            </a:pPr>
            <a:r>
              <a:rPr sz="1725" b="1">
                <a:solidFill>
                  <a:srgbClr val="704EA6"/>
                </a:solidFill>
                <a:latin typeface="Calibri"/>
                <a:ea typeface="Calibri"/>
                <a:cs typeface="Calibri"/>
              </a:rPr>
              <a:t>Four non-negotiable targets</a:t>
            </a:r>
          </a:p>
        </p:txBody>
      </p:sp>
      <p:sp>
        <p:nvSpPr>
          <p:cNvPr id="7" name="">
            <a:extLst xmlns:a="http://schemas.openxmlformats.org/drawingml/2006/main">
              <a:ext uri="{FF2B5EF4-FFF2-40B4-BE49-F238E27FC236}">
                <a16:creationId xmlns:a16="http://schemas.microsoft.com/office/drawing/2014/main" id="{9E1601C2-DE76-44DD-8536-62B1411BA99F}"/>
              </a:ext>
            </a:extLst>
          </p:cNvPr>
          <p:cNvSpPr>
            <a:spLocks xmlns:a="http://schemas.openxmlformats.org/drawingml/2006/main" noGrp="1"/>
          </p:cNvSpPr>
          <p:nvPr/>
        </p:nvSpPr>
        <p:spPr>
          <a:xfrm xmlns:a="http://schemas.openxmlformats.org/drawingml/2006/main">
            <a:off x="857250" y="3857625"/>
            <a:ext cx="9810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1  Query enrichment for vague complaints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2  Two-stage structure and mapping pipeline</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3  Reusable catalog design for 10k+ scenarios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4  Prevalidated cache at or below 300 ms P95</a:t>
            </a:r>
          </a:p>
        </p:txBody>
      </p:sp>
    </p:spTree>
    <p:extLst>
      <p:ext uri="{BB962C8B-B14F-4D97-AF65-F5344CB8AC3E}">
        <p14:creationId xmlns:p14="http://schemas.microsoft.com/office/powerpoint/2010/main" val="2564788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000" b="1">
                <a:solidFill>
                  <a:srgbClr val="704EA6"/>
                </a:solidFill>
                <a:latin typeface="Calibri"/>
                <a:ea typeface="Calibri"/>
                <a:cs typeface="Calibri"/>
              </a:defRPr>
            </a:pPr>
            <a:r>
              <a:rPr sz="3000" b="1">
                <a:solidFill>
                  <a:srgbClr val="704EA6"/>
                </a:solidFill>
                <a:latin typeface="Calibri"/>
                <a:ea typeface="Calibri"/>
                <a:cs typeface="Calibri"/>
              </a:rPr>
              <a:t>Existing approaches leave safety and scale gaps</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6C0E5D31-11E0-4832-8865-24DDA2095CCD}"/>
              </a:ext>
            </a:extLst>
          </p:cNvPr>
          <p:cNvSpPr>
            <a:spLocks xmlns:a="http://schemas.openxmlformats.org/drawingml/2006/main" noGrp="1"/>
          </p:cNvSpPr>
          <p:nvPr/>
        </p:nvSpPr>
        <p:spPr>
          <a:xfrm xmlns:a="http://schemas.openxmlformats.org/drawingml/2006/main">
            <a:off x="857250" y="17621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Manual support workflow</a:t>
            </a:r>
          </a:p>
        </p:txBody>
      </p:sp>
      <p:sp>
        <p:nvSpPr>
          <p:cNvPr id="5" name="">
            <a:extLst xmlns:a="http://schemas.openxmlformats.org/drawingml/2006/main">
              <a:ext uri="{FF2B5EF4-FFF2-40B4-BE49-F238E27FC236}">
                <a16:creationId xmlns:a16="http://schemas.microsoft.com/office/drawing/2014/main" id="{EB729474-B880-4F79-8365-B2AC1567C5B4}"/>
              </a:ext>
            </a:extLst>
          </p:cNvPr>
          <p:cNvSpPr>
            <a:spLocks xmlns:a="http://schemas.openxmlformats.org/drawingml/2006/main" noGrp="1"/>
          </p:cNvSpPr>
          <p:nvPr/>
        </p:nvSpPr>
        <p:spPr>
          <a:xfrm xmlns:a="http://schemas.openxmlformats.org/drawingml/2006/main">
            <a:off x="857250" y="2238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Agents search unstructured articles, interpret symptoms, order steps, then explain Settings navigation. The guide reports about 15 minutes per scenario.</a:t>
            </a:r>
          </a:p>
        </p:txBody>
      </p:sp>
      <p:sp>
        <p:nvSpPr>
          <p:cNvPr id="6" name="">
            <a:extLst xmlns:a="http://schemas.openxmlformats.org/drawingml/2006/main">
              <a:ext uri="{FF2B5EF4-FFF2-40B4-BE49-F238E27FC236}">
                <a16:creationId xmlns:a16="http://schemas.microsoft.com/office/drawing/2014/main" id="{473B978D-6EBD-43B0-BC51-B08B850858C9}"/>
              </a:ext>
            </a:extLst>
          </p:cNvPr>
          <p:cNvSpPr>
            <a:spLocks xmlns:a="http://schemas.openxmlformats.org/drawingml/2006/main" noGrp="1"/>
          </p:cNvSpPr>
          <p:nvPr/>
        </p:nvSpPr>
        <p:spPr>
          <a:xfrm xmlns:a="http://schemas.openxmlformats.org/drawingml/2006/main">
            <a:off x="4524375" y="17621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Generic LLM answer</a:t>
            </a:r>
          </a:p>
        </p:txBody>
      </p:sp>
      <p:sp>
        <p:nvSpPr>
          <p:cNvPr id="7" name="">
            <a:extLst xmlns:a="http://schemas.openxmlformats.org/drawingml/2006/main">
              <a:ext uri="{FF2B5EF4-FFF2-40B4-BE49-F238E27FC236}">
                <a16:creationId xmlns:a16="http://schemas.microsoft.com/office/drawing/2014/main" id="{F582185E-B6C9-4079-84A0-0D58DFA8AD17}"/>
              </a:ext>
            </a:extLst>
          </p:cNvPr>
          <p:cNvSpPr>
            <a:spLocks xmlns:a="http://schemas.openxmlformats.org/drawingml/2006/main" noGrp="1"/>
          </p:cNvSpPr>
          <p:nvPr/>
        </p:nvSpPr>
        <p:spPr>
          <a:xfrm xmlns:a="http://schemas.openxmlformats.org/drawingml/2006/main">
            <a:off x="4524375" y="2238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Fluent text can invent steps, leak web links, choose a parent Settings screen, or generate a URI that never existed in the catalog.</a:t>
            </a:r>
          </a:p>
        </p:txBody>
      </p:sp>
      <p:sp>
        <p:nvSpPr>
          <p:cNvPr id="8" name="">
            <a:extLst xmlns:a="http://schemas.openxmlformats.org/drawingml/2006/main">
              <a:ext uri="{FF2B5EF4-FFF2-40B4-BE49-F238E27FC236}">
                <a16:creationId xmlns:a16="http://schemas.microsoft.com/office/drawing/2014/main" id="{B000D2C5-04FE-4593-B774-F3E7E7606155}"/>
              </a:ext>
            </a:extLst>
          </p:cNvPr>
          <p:cNvSpPr>
            <a:spLocks xmlns:a="http://schemas.openxmlformats.org/drawingml/2006/main" noGrp="1"/>
          </p:cNvSpPr>
          <p:nvPr/>
        </p:nvSpPr>
        <p:spPr>
          <a:xfrm xmlns:a="http://schemas.openxmlformats.org/drawingml/2006/main">
            <a:off x="8191500" y="17621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l">
              <a:defRPr sz="1875" b="1">
                <a:solidFill>
                  <a:srgbClr val="0D6A4B"/>
                </a:solidFill>
                <a:latin typeface="Calibri"/>
                <a:ea typeface="Calibri"/>
                <a:cs typeface="Calibri"/>
              </a:defRPr>
            </a:pPr>
            <a:r>
              <a:rPr sz="1875" b="1">
                <a:solidFill>
                  <a:srgbClr val="0D6A4B"/>
                </a:solidFill>
                <a:latin typeface="Calibri"/>
                <a:ea typeface="Calibri"/>
                <a:cs typeface="Calibri"/>
              </a:rPr>
              <a:t>GuideRail boundary</a:t>
            </a:r>
          </a:p>
        </p:txBody>
      </p:sp>
      <p:sp>
        <p:nvSpPr>
          <p:cNvPr id="9" name="">
            <a:extLst xmlns:a="http://schemas.openxmlformats.org/drawingml/2006/main">
              <a:ext uri="{FF2B5EF4-FFF2-40B4-BE49-F238E27FC236}">
                <a16:creationId xmlns:a16="http://schemas.microsoft.com/office/drawing/2014/main" id="{48944C59-8B5C-436C-9676-017CD3C0FED5}"/>
              </a:ext>
            </a:extLst>
          </p:cNvPr>
          <p:cNvSpPr>
            <a:spLocks xmlns:a="http://schemas.openxmlformats.org/drawingml/2006/main" noGrp="1"/>
          </p:cNvSpPr>
          <p:nvPr/>
        </p:nvSpPr>
        <p:spPr>
          <a:xfrm xmlns:a="http://schemas.openxmlformats.org/drawingml/2006/main">
            <a:off x="8191500" y="2238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The model may propose. Retrieval and deterministic validators decide what can leave the API or enter the fast cache.</a:t>
            </a:r>
          </a:p>
        </p:txBody>
      </p:sp>
      <p:sp>
        <p:nvSpPr>
          <p:cNvPr id="10" name="">
            <a:extLst xmlns:a="http://schemas.openxmlformats.org/drawingml/2006/main">
              <a:ext uri="{FF2B5EF4-FFF2-40B4-BE49-F238E27FC236}">
                <a16:creationId xmlns:a16="http://schemas.microsoft.com/office/drawing/2014/main" id="{6AF1E33A-D1E5-46A7-9D53-EE793B5BDE24}"/>
              </a:ext>
            </a:extLst>
          </p:cNvPr>
          <p:cNvSpPr>
            <a:spLocks xmlns:a="http://schemas.openxmlformats.org/drawingml/2006/main" noGrp="1"/>
          </p:cNvSpPr>
          <p:nvPr/>
        </p:nvSpPr>
        <p:spPr>
          <a:xfrm xmlns:a="http://schemas.openxmlformats.org/drawingml/2006/main">
            <a:off x="857250" y="4333875"/>
            <a:ext cx="10382250" cy="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11" name="">
            <a:extLst xmlns:a="http://schemas.openxmlformats.org/drawingml/2006/main">
              <a:ext uri="{FF2B5EF4-FFF2-40B4-BE49-F238E27FC236}">
                <a16:creationId xmlns:a16="http://schemas.microsoft.com/office/drawing/2014/main" id="{E965CB60-F4BA-42FD-B5F4-9EF73564EC87}"/>
              </a:ext>
            </a:extLst>
          </p:cNvPr>
          <p:cNvSpPr>
            <a:spLocks xmlns:a="http://schemas.openxmlformats.org/drawingml/2006/main" noGrp="1"/>
          </p:cNvSpPr>
          <p:nvPr/>
        </p:nvSpPr>
        <p:spPr>
          <a:xfrm xmlns:a="http://schemas.openxmlformats.org/drawingml/2006/main">
            <a:off x="857250" y="461962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14142B"/>
                </a:solidFill>
                <a:latin typeface="Calibri"/>
                <a:ea typeface="Calibri"/>
                <a:cs typeface="Calibri"/>
              </a:defRPr>
            </a:pPr>
            <a:r>
              <a:rPr sz="1725" b="1">
                <a:solidFill>
                  <a:srgbClr val="14142B"/>
                </a:solidFill>
                <a:latin typeface="Calibri"/>
                <a:ea typeface="Calibri"/>
                <a:cs typeface="Calibri"/>
              </a:rPr>
              <a:t>Design consequence: low confidence returns a named no_match or no_siis_context fallback instead of guessed remediation.</a:t>
            </a:r>
          </a:p>
        </p:txBody>
      </p:sp>
    </p:spTree>
    <p:extLst>
      <p:ext uri="{BB962C8B-B14F-4D97-AF65-F5344CB8AC3E}">
        <p14:creationId xmlns:p14="http://schemas.microsoft.com/office/powerpoint/2010/main" val="1549970416"/>
      </p:ext>
    </p:extLst>
  </p:cSld>
</p:sld>
</file>

<file path=ppt/slides/slide4.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cxnSp>
        <p:nvCxnSpPr>
          <p:cNvPr id="15" name=""/>
          <p:cNvCxnSpPr>
            <a:stCxn xmlns:a="http://schemas.openxmlformats.org/drawingml/2006/main" id="7" idx="3"/>
            <a:endCxn xmlns:a="http://schemas.openxmlformats.org/drawingml/2006/main" id="8" idx="1"/>
          </p:cNvCxnSpPr>
          <p:nvPr/>
        </p:nvCxnSpPr>
        <p:spPr>
          <a:xfrm xmlns:a="http://schemas.openxmlformats.org/drawingml/2006/main">
            <a:off x="904875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cxnSp>
        <p:nvCxnSpPr>
          <p:cNvPr id="16" name=""/>
          <p:cNvCxnSpPr>
            <a:stCxn xmlns:a="http://schemas.openxmlformats.org/drawingml/2006/main" id="6" idx="3"/>
            <a:endCxn xmlns:a="http://schemas.openxmlformats.org/drawingml/2006/main" id="7" idx="1"/>
          </p:cNvCxnSpPr>
          <p:nvPr/>
        </p:nvCxnSpPr>
        <p:spPr>
          <a:xfrm xmlns:a="http://schemas.openxmlformats.org/drawingml/2006/main">
            <a:off x="685800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cxnSp>
        <p:nvCxnSpPr>
          <p:cNvPr id="17" name=""/>
          <p:cNvCxnSpPr>
            <a:stCxn xmlns:a="http://schemas.openxmlformats.org/drawingml/2006/main" id="5" idx="3"/>
            <a:endCxn xmlns:a="http://schemas.openxmlformats.org/drawingml/2006/main" id="6" idx="1"/>
          </p:cNvCxnSpPr>
          <p:nvPr/>
        </p:nvCxnSpPr>
        <p:spPr>
          <a:xfrm xmlns:a="http://schemas.openxmlformats.org/drawingml/2006/main">
            <a:off x="466725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247650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a:xfrm xmlns:a="http://schemas.openxmlformats.org/drawingml/2006/main">
            <a:off x="909917" y="266513"/>
            <a:ext cx="10515600" cy="1325563"/>
          </a:xfrm>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GuideRail architecture</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B5384C08-9F9F-43A0-AA68-A63C89FCACC5}"/>
              </a:ext>
            </a:extLst>
          </p:cNvPr>
          <p:cNvSpPr>
            <a:spLocks xmlns:a="http://schemas.openxmlformats.org/drawingml/2006/main" noGrp="1"/>
          </p:cNvSpPr>
          <p:nvPr/>
        </p:nvSpPr>
        <p:spPr>
          <a:xfrm xmlns:a="http://schemas.openxmlformats.org/drawingml/2006/main">
            <a:off x="666750" y="2333625"/>
            <a:ext cx="18097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Raw complaint</a:t>
            </a:r>
          </a:p>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 optional SIIS text</a:t>
            </a:r>
          </a:p>
        </p:txBody>
      </p:sp>
      <p:sp>
        <p:nvSpPr>
          <p:cNvPr id="5" name="">
            <a:extLst xmlns:a="http://schemas.openxmlformats.org/drawingml/2006/main">
              <a:ext uri="{FF2B5EF4-FFF2-40B4-BE49-F238E27FC236}">
                <a16:creationId xmlns:a16="http://schemas.microsoft.com/office/drawing/2014/main" id="{6EBE5E46-5605-4204-BEC0-AA1A06760ED8}"/>
              </a:ext>
            </a:extLst>
          </p:cNvPr>
          <p:cNvSpPr>
            <a:spLocks xmlns:a="http://schemas.openxmlformats.org/drawingml/2006/main" noGrp="1"/>
          </p:cNvSpPr>
          <p:nvPr/>
        </p:nvSpPr>
        <p:spPr>
          <a:xfrm xmlns:a="http://schemas.openxmlformats.org/drawingml/2006/main">
            <a:off x="2857500" y="2333625"/>
            <a:ext cx="1809750" cy="1000125"/>
          </a:xfrm>
          <a:prstGeom xmlns:a="http://schemas.openxmlformats.org/drawingml/2006/main" prst="roundRect">
            <a:avLst>
              <a:gd name="adj" fmla="val 11429"/>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Query enrichment</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canonical issue +</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8–10 paraphrases</a:t>
            </a:r>
          </a:p>
        </p:txBody>
      </p:sp>
      <p:sp>
        <p:nvSpPr>
          <p:cNvPr id="6" name="">
            <a:extLst xmlns:a="http://schemas.openxmlformats.org/drawingml/2006/main">
              <a:ext uri="{FF2B5EF4-FFF2-40B4-BE49-F238E27FC236}">
                <a16:creationId xmlns:a16="http://schemas.microsoft.com/office/drawing/2014/main" id="{F51F623A-67FB-4259-B1F2-D611F4CF1BAF}"/>
              </a:ext>
            </a:extLst>
          </p:cNvPr>
          <p:cNvSpPr>
            <a:spLocks xmlns:a="http://schemas.openxmlformats.org/drawingml/2006/main" noGrp="1"/>
          </p:cNvSpPr>
          <p:nvPr/>
        </p:nvSpPr>
        <p:spPr>
          <a:xfrm xmlns:a="http://schemas.openxmlformats.org/drawingml/2006/main">
            <a:off x="5048250" y="2333625"/>
            <a:ext cx="1809750" cy="1000125"/>
          </a:xfrm>
          <a:prstGeom xmlns:a="http://schemas.openxmlformats.org/drawingml/2006/main" prst="roundRect">
            <a:avLst>
              <a:gd name="adj" fmla="val 11429"/>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Hybrid retrieval</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reference text +</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deeplink candidates</a:t>
            </a:r>
          </a:p>
        </p:txBody>
      </p:sp>
      <p:sp>
        <p:nvSpPr>
          <p:cNvPr id="7" name="">
            <a:extLst xmlns:a="http://schemas.openxmlformats.org/drawingml/2006/main">
              <a:ext uri="{FF2B5EF4-FFF2-40B4-BE49-F238E27FC236}">
                <a16:creationId xmlns:a16="http://schemas.microsoft.com/office/drawing/2014/main" id="{A96D3179-23D7-4F59-A8E1-9D325CE2114A}"/>
              </a:ext>
            </a:extLst>
          </p:cNvPr>
          <p:cNvSpPr>
            <a:spLocks xmlns:a="http://schemas.openxmlformats.org/drawingml/2006/main" noGrp="1"/>
          </p:cNvSpPr>
          <p:nvPr/>
        </p:nvSpPr>
        <p:spPr>
          <a:xfrm xmlns:a="http://schemas.openxmlformats.org/drawingml/2006/main">
            <a:off x="7239000" y="2333625"/>
            <a:ext cx="1809750" cy="1000125"/>
          </a:xfrm>
          <a:prstGeom xmlns:a="http://schemas.openxmlformats.org/drawingml/2006/main" prst="roundRect">
            <a:avLst>
              <a:gd name="adj" fmla="val 11429"/>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Structure + map</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actions, steps,</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exact catalog URIs</a:t>
            </a:r>
          </a:p>
        </p:txBody>
      </p:sp>
      <p:sp>
        <p:nvSpPr>
          <p:cNvPr id="8" name="">
            <a:extLst xmlns:a="http://schemas.openxmlformats.org/drawingml/2006/main">
              <a:ext uri="{FF2B5EF4-FFF2-40B4-BE49-F238E27FC236}">
                <a16:creationId xmlns:a16="http://schemas.microsoft.com/office/drawing/2014/main" id="{9A9F96BC-4F56-44E2-BD6C-5286E3BF390D}"/>
              </a:ext>
            </a:extLst>
          </p:cNvPr>
          <p:cNvSpPr>
            <a:spLocks xmlns:a="http://schemas.openxmlformats.org/drawingml/2006/main" noGrp="1"/>
          </p:cNvSpPr>
          <p:nvPr/>
        </p:nvSpPr>
        <p:spPr>
          <a:xfrm xmlns:a="http://schemas.openxmlformats.org/drawingml/2006/main">
            <a:off x="9429750" y="2333625"/>
            <a:ext cx="2095500" cy="1000125"/>
          </a:xfrm>
          <a:prstGeom xmlns:a="http://schemas.openxmlformats.org/drawingml/2006/main" prst="roundRect">
            <a:avLst>
              <a:gd name="adj" fmla="val 11429"/>
            </a:avLst>
          </a:prstGeom>
          <a:solidFill xmlns:a="http://schemas.openxmlformats.org/drawingml/2006/main">
            <a:srgbClr val="EEF8F3"/>
          </a:solidFill>
          <a:ln xmlns:a="http://schemas.openxmlformats.org/drawingml/2006/main" w="11430">
            <a:solidFill>
              <a:srgbClr val="99CDB8"/>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Validation gate</a:t>
            </a:r>
          </a:p>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schema, evidence,</a:t>
            </a:r>
          </a:p>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URL, order, catalog</a:t>
            </a:r>
          </a:p>
        </p:txBody>
      </p:sp>
      <p:sp>
        <p:nvSpPr>
          <p:cNvPr id="13" name="">
            <a:extLst xmlns:a="http://schemas.openxmlformats.org/drawingml/2006/main">
              <a:ext uri="{FF2B5EF4-FFF2-40B4-BE49-F238E27FC236}">
                <a16:creationId xmlns:a16="http://schemas.microsoft.com/office/drawing/2014/main" id="{F06EA444-54C3-435A-B9D1-33B8DA26554D}"/>
              </a:ext>
            </a:extLst>
          </p:cNvPr>
          <p:cNvSpPr>
            <a:spLocks xmlns:a="http://schemas.openxmlformats.org/drawingml/2006/main" noGrp="1"/>
          </p:cNvSpPr>
          <p:nvPr/>
        </p:nvSpPr>
        <p:spPr>
          <a:xfrm xmlns:a="http://schemas.openxmlformats.org/drawingml/2006/main">
            <a:off x="2857500" y="4048125"/>
            <a:ext cx="6191250" cy="762000"/>
          </a:xfrm>
          <a:prstGeom xmlns:a="http://schemas.openxmlformats.org/drawingml/2006/main" prst="roundRect">
            <a:avLst>
              <a:gd name="adj" fmla="val 15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4142B"/>
                </a:solidFill>
                <a:latin typeface="Calibri"/>
                <a:ea typeface="Calibri"/>
                <a:cs typeface="Calibri"/>
              </a:defRPr>
            </a:pPr>
            <a:r>
              <a:rPr sz="1500" b="1">
                <a:solidFill>
                  <a:srgbClr val="14142B"/>
                </a:solidFill>
                <a:latin typeface="Calibri"/>
                <a:ea typeface="Calibri"/>
                <a:cs typeface="Calibri"/>
              </a:rPr>
              <a:t>Fast path: only validated plans are admitted. Exact and semantic paraphrase matches return without another model call.</a:t>
            </a:r>
          </a:p>
        </p:txBody>
      </p:sp>
      <p:sp>
        <p:nvSpPr>
          <p:cNvPr id="14" name="">
            <a:extLst xmlns:a="http://schemas.openxmlformats.org/drawingml/2006/main">
              <a:ext uri="{FF2B5EF4-FFF2-40B4-BE49-F238E27FC236}">
                <a16:creationId xmlns:a16="http://schemas.microsoft.com/office/drawing/2014/main" id="{A804EB15-6661-4526-8296-A8AE177C5FCA}"/>
              </a:ext>
            </a:extLst>
          </p:cNvPr>
          <p:cNvSpPr>
            <a:spLocks xmlns:a="http://schemas.openxmlformats.org/drawingml/2006/main" noGrp="1"/>
          </p:cNvSpPr>
          <p:nvPr/>
        </p:nvSpPr>
        <p:spPr>
          <a:xfrm xmlns:a="http://schemas.openxmlformats.org/drawingml/2006/main">
            <a:off x="2857500" y="5000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4E5068"/>
                </a:solidFill>
                <a:latin typeface="Calibri"/>
                <a:ea typeface="Calibri"/>
                <a:cs typeface="Calibri"/>
              </a:defRPr>
            </a:pPr>
            <a:r>
              <a:rPr sz="1275" b="0">
                <a:solidFill>
                  <a:srgbClr val="4E5068"/>
                </a:solidFill>
                <a:latin typeface="Calibri"/>
                <a:ea typeface="Calibri"/>
                <a:cs typeface="Calibri"/>
              </a:rPr>
              <a:t>A configured model performs issue structuring and evidence-constrained plan generation. The deterministic gate stays authoritative.</a:t>
            </a:r>
          </a:p>
        </p:txBody>
      </p:sp>
    </p:spTree>
    <p:extLst>
      <p:ext uri="{BB962C8B-B14F-4D97-AF65-F5344CB8AC3E}">
        <p14:creationId xmlns:p14="http://schemas.microsoft.com/office/powerpoint/2010/main" val="2579789072"/>
      </p:ext>
    </p:extLst>
  </p:cSld>
  <p:clrMapOvr>
    <a:overrideClrMapping xmlns:a="http://schemas.openxmlformats.org/drawingml/2006/main" bg1="lt1" tx1="dk1" bg2="lt2" tx2="dk2" accent1="accent1" accent2="accent2" accent3="accent3" accent4="accent4" accent5="accent5" accent6="accent6" hlink="hlink" folHlink="folHlink"/>
  </p:clrMapOvr>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Working prototype walkthrough</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48e40b2a81a4571"/>
          <a:stretch xmlns:a="http://schemas.openxmlformats.org/drawingml/2006/main"/>
        </p:blipFill>
        <p:spPr>
          <a:xfrm xmlns:a="http://schemas.openxmlformats.org/drawingml/2006/main">
            <a:off x="2777443" y="1476375"/>
            <a:ext cx="2636613"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194ACE-F624-40B0-AC07-766168DF516C}"/>
              </a:ext>
            </a:extLst>
          </p:cNvPr>
          <p:cNvSpPr>
            <a:spLocks xmlns:a="http://schemas.openxmlformats.org/drawingml/2006/main" noGrp="1"/>
          </p:cNvSpPr>
          <p:nvPr/>
        </p:nvSpPr>
        <p:spPr>
          <a:xfrm xmlns:a="http://schemas.openxmlformats.org/drawingml/2006/main">
            <a:off x="8048625" y="1714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Demo sequence</a:t>
            </a:r>
          </a:p>
        </p:txBody>
      </p:sp>
      <p:sp>
        <p:nvSpPr>
          <p:cNvPr id="6" name="">
            <a:extLst xmlns:a="http://schemas.openxmlformats.org/drawingml/2006/main">
              <a:ext uri="{FF2B5EF4-FFF2-40B4-BE49-F238E27FC236}">
                <a16:creationId xmlns:a16="http://schemas.microsoft.com/office/drawing/2014/main" id="{3BFAA75B-B46E-4E8A-B603-93CE2DBB7C69}"/>
              </a:ext>
            </a:extLst>
          </p:cNvPr>
          <p:cNvSpPr>
            <a:spLocks xmlns:a="http://schemas.openxmlformats.org/drawingml/2006/main" noGrp="1"/>
          </p:cNvSpPr>
          <p:nvPr/>
        </p:nvSpPr>
        <p:spPr>
          <a:xfrm xmlns:a="http://schemas.openxmlformats.org/drawingml/2006/main">
            <a:off x="8048625" y="2238375"/>
            <a:ext cx="3238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5"/>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1  Enter one vague or multi-issue complaint</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2  Inspect normalized terms and evidence trace</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3  Open one-tap Settings deeplinks in JSON</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4  Repeat a paraphrase for the validated fast path</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5  Submit an unknown query and verify fail-closed behavior</a:t>
            </a:r>
          </a:p>
        </p:txBody>
      </p:sp>
    </p:spTree>
    <p:extLst>
      <p:ext uri="{BB962C8B-B14F-4D97-AF65-F5344CB8AC3E}">
        <p14:creationId xmlns:p14="http://schemas.microsoft.com/office/powerpoint/2010/main" val="1178244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Tools and technical stack</a:t>
            </a:r>
            <a:endParaRPr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AAE8725F-CFDA-4532-8D1B-772591DEACDD}"/>
              </a:ext>
            </a:extLst>
          </p:cNvPr>
          <p:cNvSpPr>
            <a:spLocks xmlns:a="http://schemas.openxmlformats.org/drawingml/2006/main" noGrp="1"/>
          </p:cNvSpPr>
          <p:nvPr/>
        </p:nvSpPr>
        <p:spPr>
          <a:xfrm xmlns:a="http://schemas.openxmlformats.org/drawingml/2006/main">
            <a:off x="857250" y="171450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API and schema</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Python 3.10–3.12, stdlib threaded HTTP server, Pydantic v2</a:t>
            </a:r>
          </a:p>
        </p:txBody>
      </p:sp>
      <p:sp>
        <p:nvSpPr>
          <p:cNvPr id="5" name="">
            <a:extLst xmlns:a="http://schemas.openxmlformats.org/drawingml/2006/main">
              <a:ext uri="{FF2B5EF4-FFF2-40B4-BE49-F238E27FC236}">
                <a16:creationId xmlns:a16="http://schemas.microsoft.com/office/drawing/2014/main" id="{828B666C-0FF9-4593-90D1-11C16F076AAA}"/>
              </a:ext>
            </a:extLst>
          </p:cNvPr>
          <p:cNvSpPr>
            <a:spLocks xmlns:a="http://schemas.openxmlformats.org/drawingml/2006/main" noGrp="1"/>
          </p:cNvSpPr>
          <p:nvPr/>
        </p:nvSpPr>
        <p:spPr>
          <a:xfrm xmlns:a="http://schemas.openxmlformats.org/drawingml/2006/main">
            <a:off x="6191250" y="171450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Retrieval</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BM25-style lexical scoring, concept overlap, replaceable dense index adapter</a:t>
            </a:r>
          </a:p>
        </p:txBody>
      </p:sp>
      <p:sp>
        <p:nvSpPr>
          <p:cNvPr id="6" name="">
            <a:extLst xmlns:a="http://schemas.openxmlformats.org/drawingml/2006/main">
              <a:ext uri="{FF2B5EF4-FFF2-40B4-BE49-F238E27FC236}">
                <a16:creationId xmlns:a16="http://schemas.microsoft.com/office/drawing/2014/main" id="{5971926B-40C4-49A0-A2BE-640C9C7F8CBD}"/>
              </a:ext>
            </a:extLst>
          </p:cNvPr>
          <p:cNvSpPr>
            <a:spLocks xmlns:a="http://schemas.openxmlformats.org/drawingml/2006/main" noGrp="1"/>
          </p:cNvSpPr>
          <p:nvPr/>
        </p:nvSpPr>
        <p:spPr>
          <a:xfrm xmlns:a="http://schemas.openxmlformats.org/drawingml/2006/main">
            <a:off x="857250" y="309562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Safety</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Exact catalog lookup, evidence check, URL rejection, action hierarchy validation</a:t>
            </a:r>
          </a:p>
        </p:txBody>
      </p:sp>
      <p:sp>
        <p:nvSpPr>
          <p:cNvPr id="7" name="">
            <a:extLst xmlns:a="http://schemas.openxmlformats.org/drawingml/2006/main">
              <a:ext uri="{FF2B5EF4-FFF2-40B4-BE49-F238E27FC236}">
                <a16:creationId xmlns:a16="http://schemas.microsoft.com/office/drawing/2014/main" id="{8ABECD65-BD49-4C95-82A5-C903A7C3E71C}"/>
              </a:ext>
            </a:extLst>
          </p:cNvPr>
          <p:cNvSpPr>
            <a:spLocks xmlns:a="http://schemas.openxmlformats.org/drawingml/2006/main" noGrp="1"/>
          </p:cNvSpPr>
          <p:nvPr/>
        </p:nvSpPr>
        <p:spPr>
          <a:xfrm xmlns:a="http://schemas.openxmlformats.org/drawingml/2006/main">
            <a:off x="6191250" y="309562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Fast path</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Thread-safe semantic cache prewarmed with validated paraphrases</a:t>
            </a:r>
          </a:p>
        </p:txBody>
      </p:sp>
      <p:sp>
        <p:nvSpPr>
          <p:cNvPr id="8" name="">
            <a:extLst xmlns:a="http://schemas.openxmlformats.org/drawingml/2006/main">
              <a:ext uri="{FF2B5EF4-FFF2-40B4-BE49-F238E27FC236}">
                <a16:creationId xmlns:a16="http://schemas.microsoft.com/office/drawing/2014/main" id="{B3AFB060-DDAB-4CEC-9127-C848CAE6B75F}"/>
              </a:ext>
            </a:extLst>
          </p:cNvPr>
          <p:cNvSpPr>
            <a:spLocks xmlns:a="http://schemas.openxmlformats.org/drawingml/2006/main" noGrp="1"/>
          </p:cNvSpPr>
          <p:nvPr/>
        </p:nvSpPr>
        <p:spPr>
          <a:xfrm xmlns:a="http://schemas.openxmlformats.org/drawingml/2006/main">
            <a:off x="857250" y="447675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Interface</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Responsive HTML, CSS, and JavaScript using the same REST endpoint</a:t>
            </a:r>
          </a:p>
        </p:txBody>
      </p:sp>
      <p:sp>
        <p:nvSpPr>
          <p:cNvPr id="9" name="">
            <a:extLst xmlns:a="http://schemas.openxmlformats.org/drawingml/2006/main">
              <a:ext uri="{FF2B5EF4-FFF2-40B4-BE49-F238E27FC236}">
                <a16:creationId xmlns:a16="http://schemas.microsoft.com/office/drawing/2014/main" id="{72453758-2531-4A9F-A006-163089AAAD70}"/>
              </a:ext>
            </a:extLst>
          </p:cNvPr>
          <p:cNvSpPr>
            <a:spLocks xmlns:a="http://schemas.openxmlformats.org/drawingml/2006/main" noGrp="1"/>
          </p:cNvSpPr>
          <p:nvPr/>
        </p:nvSpPr>
        <p:spPr>
          <a:xfrm xmlns:a="http://schemas.openxmlformats.org/drawingml/2006/main">
            <a:off x="6191250" y="447675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Delivery</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Docker, unittest suite, benchmark harness, AI disclosure, 12-slide deck</a:t>
            </a:r>
          </a:p>
        </p:txBody>
      </p:sp>
    </p:spTree>
    <p:extLst>
      <p:ext uri="{BB962C8B-B14F-4D97-AF65-F5344CB8AC3E}">
        <p14:creationId xmlns:p14="http://schemas.microsoft.com/office/powerpoint/2010/main" val="37248288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Production use cases and measurable impact</a:t>
            </a:r>
            <a:endParaRPr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3178FF08-FEDA-470F-B66B-FCB6B8A6A2A9}"/>
              </a:ext>
            </a:extLst>
          </p:cNvPr>
          <p:cNvSpPr>
            <a:spLocks xmlns:a="http://schemas.openxmlformats.org/drawingml/2006/main" noGrp="1"/>
          </p:cNvSpPr>
          <p:nvPr/>
        </p:nvSpPr>
        <p:spPr>
          <a:xfrm xmlns:a="http://schemas.openxmlformats.org/drawingml/2006/main">
            <a:off x="857250" y="1809750"/>
            <a:ext cx="3143250" cy="1428750"/>
          </a:xfrm>
          <a:prstGeom xmlns:a="http://schemas.openxmlformats.org/drawingml/2006/main" prst="roundRect">
            <a:avLst>
              <a:gd name="adj" fmla="val 8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Customer support</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Generate consistent plans for repeated complaints while exposing the evidence and failure mode.</a:t>
            </a:r>
          </a:p>
        </p:txBody>
      </p:sp>
      <p:sp>
        <p:nvSpPr>
          <p:cNvPr id="5" name="">
            <a:extLst xmlns:a="http://schemas.openxmlformats.org/drawingml/2006/main">
              <a:ext uri="{FF2B5EF4-FFF2-40B4-BE49-F238E27FC236}">
                <a16:creationId xmlns:a16="http://schemas.microsoft.com/office/drawing/2014/main" id="{AADFC858-2338-4CAD-A56B-7836C3C01CF7}"/>
              </a:ext>
            </a:extLst>
          </p:cNvPr>
          <p:cNvSpPr>
            <a:spLocks xmlns:a="http://schemas.openxmlformats.org/drawingml/2006/main" noGrp="1"/>
          </p:cNvSpPr>
          <p:nvPr/>
        </p:nvSpPr>
        <p:spPr>
          <a:xfrm xmlns:a="http://schemas.openxmlformats.org/drawingml/2006/main">
            <a:off x="4524375" y="1809750"/>
            <a:ext cx="3143250" cy="1428750"/>
          </a:xfrm>
          <a:prstGeom xmlns:a="http://schemas.openxmlformats.org/drawingml/2006/main" prst="roundRect">
            <a:avLst>
              <a:gd name="adj" fmla="val 8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Self service</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Return screen-specific actions with exact deeplinks so users can act without hunting through Settings.</a:t>
            </a:r>
          </a:p>
        </p:txBody>
      </p:sp>
      <p:sp>
        <p:nvSpPr>
          <p:cNvPr id="6" name="">
            <a:extLst xmlns:a="http://schemas.openxmlformats.org/drawingml/2006/main">
              <a:ext uri="{FF2B5EF4-FFF2-40B4-BE49-F238E27FC236}">
                <a16:creationId xmlns:a16="http://schemas.microsoft.com/office/drawing/2014/main" id="{68B45688-B019-4976-B6E3-521184CA24C0}"/>
              </a:ext>
            </a:extLst>
          </p:cNvPr>
          <p:cNvSpPr>
            <a:spLocks xmlns:a="http://schemas.openxmlformats.org/drawingml/2006/main" noGrp="1"/>
          </p:cNvSpPr>
          <p:nvPr/>
        </p:nvSpPr>
        <p:spPr>
          <a:xfrm xmlns:a="http://schemas.openxmlformats.org/drawingml/2006/main">
            <a:off x="8191500" y="1809750"/>
            <a:ext cx="3143250" cy="1428750"/>
          </a:xfrm>
          <a:prstGeom xmlns:a="http://schemas.openxmlformats.org/drawingml/2006/main" prst="roundRect">
            <a:avLst>
              <a:gd name="adj" fmla="val 8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Quality operations</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Measure step accuracy, deeplink precision, latency, cache efficacy, and cost per query separately.</a:t>
            </a:r>
          </a:p>
        </p:txBody>
      </p:sp>
      <p:sp>
        <p:nvSpPr>
          <p:cNvPr id="7" name="">
            <a:extLst xmlns:a="http://schemas.openxmlformats.org/drawingml/2006/main">
              <a:ext uri="{FF2B5EF4-FFF2-40B4-BE49-F238E27FC236}">
                <a16:creationId xmlns:a16="http://schemas.microsoft.com/office/drawing/2014/main" id="{8848BE3B-8844-4DD2-B630-77CD431660B1}"/>
              </a:ext>
            </a:extLst>
          </p:cNvPr>
          <p:cNvSpPr>
            <a:spLocks xmlns:a="http://schemas.openxmlformats.org/drawingml/2006/main" noGrp="1"/>
          </p:cNvSpPr>
          <p:nvPr/>
        </p:nvSpPr>
        <p:spPr>
          <a:xfrm xmlns:a="http://schemas.openxmlformats.org/drawingml/2006/main">
            <a:off x="857250" y="3762375"/>
            <a:ext cx="10477500" cy="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8" name="">
            <a:extLst xmlns:a="http://schemas.openxmlformats.org/drawingml/2006/main">
              <a:ext uri="{FF2B5EF4-FFF2-40B4-BE49-F238E27FC236}">
                <a16:creationId xmlns:a16="http://schemas.microsoft.com/office/drawing/2014/main" id="{8398332A-227F-45B2-9388-2B85B25F3AC7}"/>
              </a:ext>
            </a:extLst>
          </p:cNvPr>
          <p:cNvSpPr>
            <a:spLocks xmlns:a="http://schemas.openxmlformats.org/drawingml/2006/main" noGrp="1"/>
          </p:cNvSpPr>
          <p:nvPr/>
        </p:nvSpPr>
        <p:spPr>
          <a:xfrm xmlns:a="http://schemas.openxmlformats.org/drawingml/2006/main">
            <a:off x="857250" y="40957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704EA6"/>
                </a:solidFill>
                <a:latin typeface="Calibri"/>
                <a:ea typeface="Calibri"/>
                <a:cs typeface="Calibri"/>
              </a:defRPr>
            </a:pPr>
            <a:r>
              <a:rPr sz="1800" b="1">
                <a:solidFill>
                  <a:srgbClr val="704EA6"/>
                </a:solidFill>
                <a:latin typeface="Calibri"/>
                <a:ea typeface="Calibri"/>
                <a:cs typeface="Calibri"/>
              </a:rPr>
              <a:t>What to prove on official data</a:t>
            </a:r>
          </a:p>
        </p:txBody>
      </p:sp>
      <p:sp>
        <p:nvSpPr>
          <p:cNvPr id="9" name="">
            <a:extLst xmlns:a="http://schemas.openxmlformats.org/drawingml/2006/main">
              <a:ext uri="{FF2B5EF4-FFF2-40B4-BE49-F238E27FC236}">
                <a16:creationId xmlns:a16="http://schemas.microsoft.com/office/drawing/2014/main" id="{A01B4B84-41BB-448A-88EA-43D925408A36}"/>
              </a:ext>
            </a:extLst>
          </p:cNvPr>
          <p:cNvSpPr>
            <a:spLocks xmlns:a="http://schemas.openxmlformats.org/drawingml/2006/main" noGrp="1"/>
          </p:cNvSpPr>
          <p:nvPr/>
        </p:nvSpPr>
        <p:spPr>
          <a:xfrm xmlns:a="http://schemas.openxmlformats.org/drawingml/2006/main">
            <a:off x="857250" y="461962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142B"/>
                </a:solidFill>
                <a:latin typeface="Calibri"/>
                <a:ea typeface="Calibri"/>
                <a:cs typeface="Calibri"/>
              </a:defRPr>
            </a:pPr>
            <a:r>
              <a:rPr sz="1650" b="0">
                <a:solidFill>
                  <a:srgbClr val="14142B"/>
                </a:solidFill>
                <a:latin typeface="Calibri"/>
                <a:ea typeface="Calibri"/>
                <a:cs typeface="Calibri"/>
              </a:rPr>
              <a:t>Step accuracy 0–3   Deeplink relevance 0–2   Schema validity ≥99%   Cache hit P95 ≤300 ms   Cold path P95 ≤8 s   Cost per query tracked</a:t>
            </a:r>
          </a:p>
        </p:txBody>
      </p:sp>
    </p:spTree>
    <p:extLst>
      <p:ext uri="{BB962C8B-B14F-4D97-AF65-F5344CB8AC3E}">
        <p14:creationId xmlns:p14="http://schemas.microsoft.com/office/powerpoint/2010/main" val="36681190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spcAft>
                <a:spcPts val="500"/>
              </a:spcAft>
              <a:buSzPct val="100000"/>
              <a:buNone/>
              <a:defRPr sz="3000" b="1">
                <a:solidFill>
                  <a:srgbClr val="704EA6"/>
                </a:solidFill>
                <a:latin typeface="Calibri"/>
                <a:ea typeface="Calibri"/>
                <a:cs typeface="Calibri"/>
              </a:defRPr>
            </a:pPr>
            <a:r>
              <a:rPr sz="3000" b="1">
                <a:solidFill>
                  <a:srgbClr val="704EA6"/>
                </a:solidFill>
                <a:latin typeface="Calibri"/>
                <a:ea typeface="Calibri"/>
                <a:cs typeface="Calibri"/>
              </a:rPr>
              <a:t>Innovation, current results, and limitations</a:t>
            </a:r>
            <a:endParaRPr sz="4400"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7A5277D0-32AC-4BEE-98E4-E659BFFE1886}"/>
              </a:ext>
            </a:extLst>
          </p:cNvPr>
          <p:cNvSpPr>
            <a:spLocks xmlns:a="http://schemas.openxmlformats.org/drawingml/2006/main" noGrp="1"/>
          </p:cNvSpPr>
          <p:nvPr/>
        </p:nvSpPr>
        <p:spPr>
          <a:xfrm xmlns:a="http://schemas.openxmlformats.org/drawingml/2006/main">
            <a:off x="857250"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Innovation</a:t>
            </a:r>
          </a:p>
        </p:txBody>
      </p:sp>
      <p:sp>
        <p:nvSpPr>
          <p:cNvPr id="5" name="">
            <a:extLst xmlns:a="http://schemas.openxmlformats.org/drawingml/2006/main">
              <a:ext uri="{FF2B5EF4-FFF2-40B4-BE49-F238E27FC236}">
                <a16:creationId xmlns:a16="http://schemas.microsoft.com/office/drawing/2014/main" id="{301A26E6-A12B-432A-B218-627F1DDA7F02}"/>
              </a:ext>
            </a:extLst>
          </p:cNvPr>
          <p:cNvSpPr>
            <a:spLocks xmlns:a="http://schemas.openxmlformats.org/drawingml/2006/main" noGrp="1"/>
          </p:cNvSpPr>
          <p:nvPr/>
        </p:nvSpPr>
        <p:spPr>
          <a:xfrm xmlns:a="http://schemas.openxmlformats.org/drawingml/2006/main">
            <a:off x="857250" y="2143125"/>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Multi-issue complaints can return several grounded contexts. The cache accepts only plans that passed every deterministic check. The model provider remains swappable.</a:t>
            </a:r>
          </a:p>
        </p:txBody>
      </p:sp>
      <p:sp>
        <p:nvSpPr>
          <p:cNvPr id="6" name="">
            <a:extLst xmlns:a="http://schemas.openxmlformats.org/drawingml/2006/main">
              <a:ext uri="{FF2B5EF4-FFF2-40B4-BE49-F238E27FC236}">
                <a16:creationId xmlns:a16="http://schemas.microsoft.com/office/drawing/2014/main" id="{D0A30115-8168-4E16-956C-57AB6F52F0D3}"/>
              </a:ext>
            </a:extLst>
          </p:cNvPr>
          <p:cNvSpPr>
            <a:spLocks xmlns:a="http://schemas.openxmlformats.org/drawingml/2006/main" noGrp="1"/>
          </p:cNvSpPr>
          <p:nvPr/>
        </p:nvSpPr>
        <p:spPr>
          <a:xfrm xmlns:a="http://schemas.openxmlformats.org/drawingml/2006/main">
            <a:off x="4524375"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D6A4B"/>
                </a:solidFill>
                <a:latin typeface="Calibri"/>
                <a:ea typeface="Calibri"/>
                <a:cs typeface="Calibri"/>
              </a:defRPr>
            </a:pPr>
            <a:r>
              <a:rPr sz="1875" b="1">
                <a:solidFill>
                  <a:srgbClr val="0D6A4B"/>
                </a:solidFill>
                <a:latin typeface="Calibri"/>
                <a:ea typeface="Calibri"/>
                <a:cs typeface="Calibri"/>
              </a:rPr>
              <a:t>Synthetic benchmark</a:t>
            </a:r>
          </a:p>
        </p:txBody>
      </p:sp>
      <p:sp>
        <p:nvSpPr>
          <p:cNvPr id="7" name="">
            <a:extLst xmlns:a="http://schemas.openxmlformats.org/drawingml/2006/main">
              <a:ext uri="{FF2B5EF4-FFF2-40B4-BE49-F238E27FC236}">
                <a16:creationId xmlns:a16="http://schemas.microsoft.com/office/drawing/2014/main" id="{3786BD5A-17AB-4C18-AD95-40F2BB618FA2}"/>
              </a:ext>
            </a:extLst>
          </p:cNvPr>
          <p:cNvSpPr>
            <a:spLocks xmlns:a="http://schemas.openxmlformats.org/drawingml/2006/main" noGrp="1"/>
          </p:cNvSpPr>
          <p:nvPr/>
        </p:nvSpPr>
        <p:spPr>
          <a:xfrm xmlns:a="http://schemas.openxmlformats.org/drawingml/2006/main">
            <a:off x="4524375" y="2143125"/>
            <a:ext cx="314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33 paraphrase scenarios</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100% top-1 plan match</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100% schema validity</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100% catalog-valid deeplinks</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&lt;1 ms local cache P95</a:t>
            </a:r>
          </a:p>
        </p:txBody>
      </p:sp>
      <p:sp>
        <p:nvSpPr>
          <p:cNvPr id="8" name="">
            <a:extLst xmlns:a="http://schemas.openxmlformats.org/drawingml/2006/main">
              <a:ext uri="{FF2B5EF4-FFF2-40B4-BE49-F238E27FC236}">
                <a16:creationId xmlns:a16="http://schemas.microsoft.com/office/drawing/2014/main" id="{7C372732-CEC5-4E84-8AF0-CF4F76C2983B}"/>
              </a:ext>
            </a:extLst>
          </p:cNvPr>
          <p:cNvSpPr>
            <a:spLocks xmlns:a="http://schemas.openxmlformats.org/drawingml/2006/main" noGrp="1"/>
          </p:cNvSpPr>
          <p:nvPr/>
        </p:nvSpPr>
        <p:spPr>
          <a:xfrm xmlns:a="http://schemas.openxmlformats.org/drawingml/2006/main">
            <a:off x="8191500"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A32929"/>
                </a:solidFill>
                <a:latin typeface="Calibri"/>
                <a:ea typeface="Calibri"/>
                <a:cs typeface="Calibri"/>
              </a:defRPr>
            </a:pPr>
            <a:r>
              <a:rPr sz="1875" b="1">
                <a:solidFill>
                  <a:srgbClr val="A32929"/>
                </a:solidFill>
                <a:latin typeface="Calibri"/>
                <a:ea typeface="Calibri"/>
                <a:cs typeface="Calibri"/>
              </a:rPr>
              <a:t>Limitations</a:t>
            </a:r>
          </a:p>
        </p:txBody>
      </p:sp>
      <p:sp>
        <p:nvSpPr>
          <p:cNvPr id="9" name="">
            <a:extLst xmlns:a="http://schemas.openxmlformats.org/drawingml/2006/main">
              <a:ext uri="{FF2B5EF4-FFF2-40B4-BE49-F238E27FC236}">
                <a16:creationId xmlns:a16="http://schemas.microsoft.com/office/drawing/2014/main" id="{E18605C6-C38D-4D45-B39A-427993983CDC}"/>
              </a:ext>
            </a:extLst>
          </p:cNvPr>
          <p:cNvSpPr>
            <a:spLocks xmlns:a="http://schemas.openxmlformats.org/drawingml/2006/main" noGrp="1"/>
          </p:cNvSpPr>
          <p:nvPr/>
        </p:nvSpPr>
        <p:spPr>
          <a:xfrm xmlns:a="http://schemas.openxmlformats.org/drawingml/2006/main">
            <a:off x="8191500" y="2143125"/>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Official starter assets were not attached. Current numbers are illustrative and cannot predict hidden-test results. The two-stage path requires a permitted model endpoint for the live demo.</a:t>
            </a:r>
          </a:p>
        </p:txBody>
      </p:sp>
      <p:sp>
        <p:nvSpPr>
          <p:cNvPr id="10" name="">
            <a:extLst xmlns:a="http://schemas.openxmlformats.org/drawingml/2006/main">
              <a:ext uri="{FF2B5EF4-FFF2-40B4-BE49-F238E27FC236}">
                <a16:creationId xmlns:a16="http://schemas.microsoft.com/office/drawing/2014/main" id="{7C45FFEA-2254-4184-9E1C-E410D502364C}"/>
              </a:ext>
            </a:extLst>
          </p:cNvPr>
          <p:cNvSpPr>
            <a:spLocks xmlns:a="http://schemas.openxmlformats.org/drawingml/2006/main" noGrp="1"/>
          </p:cNvSpPr>
          <p:nvPr/>
        </p:nvSpPr>
        <p:spPr>
          <a:xfrm xmlns:a="http://schemas.openxmlformats.org/drawingml/2006/main">
            <a:off x="857250" y="4524375"/>
            <a:ext cx="10477500" cy="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11" name="">
            <a:extLst xmlns:a="http://schemas.openxmlformats.org/drawingml/2006/main">
              <a:ext uri="{FF2B5EF4-FFF2-40B4-BE49-F238E27FC236}">
                <a16:creationId xmlns:a16="http://schemas.microsoft.com/office/drawing/2014/main" id="{8658FD2B-66FD-420A-9316-CF425F60311B}"/>
              </a:ext>
            </a:extLst>
          </p:cNvPr>
          <p:cNvSpPr>
            <a:spLocks xmlns:a="http://schemas.openxmlformats.org/drawingml/2006/main" noGrp="1"/>
          </p:cNvSpPr>
          <p:nvPr/>
        </p:nvSpPr>
        <p:spPr>
          <a:xfrm xmlns:a="http://schemas.openxmlformats.org/drawingml/2006/main">
            <a:off x="857250" y="4857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4142B"/>
                </a:solidFill>
                <a:latin typeface="Calibri"/>
                <a:ea typeface="Calibri"/>
                <a:cs typeface="Calibri"/>
              </a:defRPr>
            </a:pPr>
            <a:r>
              <a:rPr sz="1650" b="1">
                <a:solidFill>
                  <a:srgbClr val="14142B"/>
                </a:solidFill>
                <a:latin typeface="Calibri"/>
                <a:ea typeface="Calibri"/>
                <a:cs typeface="Calibri"/>
              </a:rPr>
              <a:t>Verification: 13 automated tests pass, including two-stage transport, hallucinated URI rejection, official-data normalization, routing, and catalog integrity.</a:t>
            </a:r>
          </a:p>
        </p:txBody>
      </p:sp>
    </p:spTree>
    <p:extLst>
      <p:ext uri="{BB962C8B-B14F-4D97-AF65-F5344CB8AC3E}">
        <p14:creationId xmlns:p14="http://schemas.microsoft.com/office/powerpoint/2010/main" val="199323702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spcAft>
                <a:spcPts val="500"/>
              </a:spcAft>
              <a:buSzPct val="100000"/>
              <a:buNone/>
              <a:defRPr sz="3150" b="1">
                <a:solidFill>
                  <a:srgbClr val="704EA6"/>
                </a:solidFill>
                <a:latin typeface="Calibri"/>
                <a:ea typeface="Calibri"/>
                <a:cs typeface="Calibri"/>
              </a:defRPr>
            </a:pPr>
            <a:r>
              <a:rPr sz="3150" b="1">
                <a:solidFill>
                  <a:srgbClr val="704EA6"/>
                </a:solidFill>
                <a:latin typeface="Calibri"/>
                <a:ea typeface="Calibri"/>
                <a:cs typeface="Calibri"/>
              </a:rPr>
              <a:t>Build phases and next milestones</a:t>
            </a:r>
            <a:endParaRPr sz="4400"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F3671302-D4DD-424E-8107-C5EAC23B1C2B}"/>
              </a:ext>
            </a:extLst>
          </p:cNvPr>
          <p:cNvSpPr>
            <a:spLocks xmlns:a="http://schemas.openxmlformats.org/drawingml/2006/main" noGrp="1"/>
          </p:cNvSpPr>
          <p:nvPr/>
        </p:nvSpPr>
        <p:spPr>
          <a:xfrm xmlns:a="http://schemas.openxmlformats.org/drawingml/2006/main">
            <a:off x="904875" y="16192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6964682-318B-4D8B-9045-9C249090E3A6}"/>
              </a:ext>
            </a:extLst>
          </p:cNvPr>
          <p:cNvSpPr>
            <a:spLocks xmlns:a="http://schemas.openxmlformats.org/drawingml/2006/main" noGrp="1"/>
          </p:cNvSpPr>
          <p:nvPr/>
        </p:nvSpPr>
        <p:spPr>
          <a:xfrm xmlns:a="http://schemas.openxmlformats.org/drawingml/2006/main">
            <a:off x="1524000" y="1619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6" name="">
            <a:extLst xmlns:a="http://schemas.openxmlformats.org/drawingml/2006/main">
              <a:ext uri="{FF2B5EF4-FFF2-40B4-BE49-F238E27FC236}">
                <a16:creationId xmlns:a16="http://schemas.microsoft.com/office/drawing/2014/main" id="{A0B73C5B-617F-4C2A-81C2-046C970EDFB5}"/>
              </a:ext>
            </a:extLst>
          </p:cNvPr>
          <p:cNvSpPr>
            <a:spLocks xmlns:a="http://schemas.openxmlformats.org/drawingml/2006/main" noGrp="1"/>
          </p:cNvSpPr>
          <p:nvPr/>
        </p:nvSpPr>
        <p:spPr>
          <a:xfrm xmlns:a="http://schemas.openxmlformats.org/drawingml/2006/main">
            <a:off x="3048000" y="16192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Schema, validators, ordering, fallbacks</a:t>
            </a:r>
          </a:p>
        </p:txBody>
      </p:sp>
      <p:sp>
        <p:nvSpPr>
          <p:cNvPr id="7" name="">
            <a:extLst xmlns:a="http://schemas.openxmlformats.org/drawingml/2006/main">
              <a:ext uri="{FF2B5EF4-FFF2-40B4-BE49-F238E27FC236}">
                <a16:creationId xmlns:a16="http://schemas.microsoft.com/office/drawing/2014/main" id="{59476A2A-01EC-4CC8-8ACE-6F3950DEA24E}"/>
              </a:ext>
            </a:extLst>
          </p:cNvPr>
          <p:cNvSpPr>
            <a:spLocks xmlns:a="http://schemas.openxmlformats.org/drawingml/2006/main" noGrp="1"/>
          </p:cNvSpPr>
          <p:nvPr/>
        </p:nvSpPr>
        <p:spPr>
          <a:xfrm xmlns:a="http://schemas.openxmlformats.org/drawingml/2006/main">
            <a:off x="857250" y="20764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8" name="">
            <a:extLst xmlns:a="http://schemas.openxmlformats.org/drawingml/2006/main">
              <a:ext uri="{FF2B5EF4-FFF2-40B4-BE49-F238E27FC236}">
                <a16:creationId xmlns:a16="http://schemas.microsoft.com/office/drawing/2014/main" id="{1F2CF5B3-BDA9-4989-BFDA-10982E3BB766}"/>
              </a:ext>
            </a:extLst>
          </p:cNvPr>
          <p:cNvSpPr>
            <a:spLocks xmlns:a="http://schemas.openxmlformats.org/drawingml/2006/main" noGrp="1"/>
          </p:cNvSpPr>
          <p:nvPr/>
        </p:nvSpPr>
        <p:spPr>
          <a:xfrm xmlns:a="http://schemas.openxmlformats.org/drawingml/2006/main">
            <a:off x="904875" y="23050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2</a:t>
            </a:r>
          </a:p>
        </p:txBody>
      </p:sp>
      <p:sp>
        <p:nvSpPr>
          <p:cNvPr id="9" name="">
            <a:extLst xmlns:a="http://schemas.openxmlformats.org/drawingml/2006/main">
              <a:ext uri="{FF2B5EF4-FFF2-40B4-BE49-F238E27FC236}">
                <a16:creationId xmlns:a16="http://schemas.microsoft.com/office/drawing/2014/main" id="{7D4A96B7-0CE2-4A11-8DF6-3887360DB076}"/>
              </a:ext>
            </a:extLst>
          </p:cNvPr>
          <p:cNvSpPr>
            <a:spLocks xmlns:a="http://schemas.openxmlformats.org/drawingml/2006/main" noGrp="1"/>
          </p:cNvSpPr>
          <p:nvPr/>
        </p:nvSpPr>
        <p:spPr>
          <a:xfrm xmlns:a="http://schemas.openxmlformats.org/drawingml/2006/main">
            <a:off x="1524000" y="23050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10" name="">
            <a:extLst xmlns:a="http://schemas.openxmlformats.org/drawingml/2006/main">
              <a:ext uri="{FF2B5EF4-FFF2-40B4-BE49-F238E27FC236}">
                <a16:creationId xmlns:a16="http://schemas.microsoft.com/office/drawing/2014/main" id="{D81954B6-B062-40C6-8C4D-49A592BEE337}"/>
              </a:ext>
            </a:extLst>
          </p:cNvPr>
          <p:cNvSpPr>
            <a:spLocks xmlns:a="http://schemas.openxmlformats.org/drawingml/2006/main" noGrp="1"/>
          </p:cNvSpPr>
          <p:nvPr/>
        </p:nvSpPr>
        <p:spPr>
          <a:xfrm xmlns:a="http://schemas.openxmlformats.org/drawingml/2006/main">
            <a:off x="3048000" y="23050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Grounded retrieval and exact deeplink resolver</a:t>
            </a:r>
          </a:p>
        </p:txBody>
      </p:sp>
      <p:sp>
        <p:nvSpPr>
          <p:cNvPr id="11" name="">
            <a:extLst xmlns:a="http://schemas.openxmlformats.org/drawingml/2006/main">
              <a:ext uri="{FF2B5EF4-FFF2-40B4-BE49-F238E27FC236}">
                <a16:creationId xmlns:a16="http://schemas.microsoft.com/office/drawing/2014/main" id="{A02FAE0E-55C1-455E-BFF7-9503D98BB207}"/>
              </a:ext>
            </a:extLst>
          </p:cNvPr>
          <p:cNvSpPr>
            <a:spLocks xmlns:a="http://schemas.openxmlformats.org/drawingml/2006/main" noGrp="1"/>
          </p:cNvSpPr>
          <p:nvPr/>
        </p:nvSpPr>
        <p:spPr>
          <a:xfrm xmlns:a="http://schemas.openxmlformats.org/drawingml/2006/main">
            <a:off x="857250" y="27622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12" name="">
            <a:extLst xmlns:a="http://schemas.openxmlformats.org/drawingml/2006/main">
              <a:ext uri="{FF2B5EF4-FFF2-40B4-BE49-F238E27FC236}">
                <a16:creationId xmlns:a16="http://schemas.microsoft.com/office/drawing/2014/main" id="{B8706CDC-0D29-4730-8DB6-12B1D261061C}"/>
              </a:ext>
            </a:extLst>
          </p:cNvPr>
          <p:cNvSpPr>
            <a:spLocks xmlns:a="http://schemas.openxmlformats.org/drawingml/2006/main" noGrp="1"/>
          </p:cNvSpPr>
          <p:nvPr/>
        </p:nvSpPr>
        <p:spPr>
          <a:xfrm xmlns:a="http://schemas.openxmlformats.org/drawingml/2006/main">
            <a:off x="904875" y="29908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3</a:t>
            </a:r>
          </a:p>
        </p:txBody>
      </p:sp>
      <p:sp>
        <p:nvSpPr>
          <p:cNvPr id="13" name="">
            <a:extLst xmlns:a="http://schemas.openxmlformats.org/drawingml/2006/main">
              <a:ext uri="{FF2B5EF4-FFF2-40B4-BE49-F238E27FC236}">
                <a16:creationId xmlns:a16="http://schemas.microsoft.com/office/drawing/2014/main" id="{0E4B7051-AB6A-445C-A278-EDFAE0AB0437}"/>
              </a:ext>
            </a:extLst>
          </p:cNvPr>
          <p:cNvSpPr>
            <a:spLocks xmlns:a="http://schemas.openxmlformats.org/drawingml/2006/main" noGrp="1"/>
          </p:cNvSpPr>
          <p:nvPr/>
        </p:nvSpPr>
        <p:spPr>
          <a:xfrm xmlns:a="http://schemas.openxmlformats.org/drawingml/2006/main">
            <a:off x="1524000" y="29908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14" name="">
            <a:extLst xmlns:a="http://schemas.openxmlformats.org/drawingml/2006/main">
              <a:ext uri="{FF2B5EF4-FFF2-40B4-BE49-F238E27FC236}">
                <a16:creationId xmlns:a16="http://schemas.microsoft.com/office/drawing/2014/main" id="{E6B85F8D-668C-4CFE-9420-AB14CD2A4A1F}"/>
              </a:ext>
            </a:extLst>
          </p:cNvPr>
          <p:cNvSpPr>
            <a:spLocks xmlns:a="http://schemas.openxmlformats.org/drawingml/2006/main" noGrp="1"/>
          </p:cNvSpPr>
          <p:nvPr/>
        </p:nvSpPr>
        <p:spPr>
          <a:xfrm xmlns:a="http://schemas.openxmlformats.org/drawingml/2006/main">
            <a:off x="3048000" y="29908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Validated semantic cache and latency benchmark</a:t>
            </a:r>
          </a:p>
        </p:txBody>
      </p:sp>
      <p:sp>
        <p:nvSpPr>
          <p:cNvPr id="15" name="">
            <a:extLst xmlns:a="http://schemas.openxmlformats.org/drawingml/2006/main">
              <a:ext uri="{FF2B5EF4-FFF2-40B4-BE49-F238E27FC236}">
                <a16:creationId xmlns:a16="http://schemas.microsoft.com/office/drawing/2014/main" id="{F9C27E6C-017D-4240-945F-798AA7B22C70}"/>
              </a:ext>
            </a:extLst>
          </p:cNvPr>
          <p:cNvSpPr>
            <a:spLocks xmlns:a="http://schemas.openxmlformats.org/drawingml/2006/main" noGrp="1"/>
          </p:cNvSpPr>
          <p:nvPr/>
        </p:nvSpPr>
        <p:spPr>
          <a:xfrm xmlns:a="http://schemas.openxmlformats.org/drawingml/2006/main">
            <a:off x="857250" y="34480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16" name="">
            <a:extLst xmlns:a="http://schemas.openxmlformats.org/drawingml/2006/main">
              <a:ext uri="{FF2B5EF4-FFF2-40B4-BE49-F238E27FC236}">
                <a16:creationId xmlns:a16="http://schemas.microsoft.com/office/drawing/2014/main" id="{5F782721-96FB-4473-8385-1194C41C72B5}"/>
              </a:ext>
            </a:extLst>
          </p:cNvPr>
          <p:cNvSpPr>
            <a:spLocks xmlns:a="http://schemas.openxmlformats.org/drawingml/2006/main" noGrp="1"/>
          </p:cNvSpPr>
          <p:nvPr/>
        </p:nvSpPr>
        <p:spPr>
          <a:xfrm xmlns:a="http://schemas.openxmlformats.org/drawingml/2006/main">
            <a:off x="904875" y="36766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4</a:t>
            </a:r>
          </a:p>
        </p:txBody>
      </p:sp>
      <p:sp>
        <p:nvSpPr>
          <p:cNvPr id="17" name="">
            <a:extLst xmlns:a="http://schemas.openxmlformats.org/drawingml/2006/main">
              <a:ext uri="{FF2B5EF4-FFF2-40B4-BE49-F238E27FC236}">
                <a16:creationId xmlns:a16="http://schemas.microsoft.com/office/drawing/2014/main" id="{DCF01752-40C6-44C6-AD5B-03BF99B3BA29}"/>
              </a:ext>
            </a:extLst>
          </p:cNvPr>
          <p:cNvSpPr>
            <a:spLocks xmlns:a="http://schemas.openxmlformats.org/drawingml/2006/main" noGrp="1"/>
          </p:cNvSpPr>
          <p:nvPr/>
        </p:nvSpPr>
        <p:spPr>
          <a:xfrm xmlns:a="http://schemas.openxmlformats.org/drawingml/2006/main">
            <a:off x="1524000" y="36766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18" name="">
            <a:extLst xmlns:a="http://schemas.openxmlformats.org/drawingml/2006/main">
              <a:ext uri="{FF2B5EF4-FFF2-40B4-BE49-F238E27FC236}">
                <a16:creationId xmlns:a16="http://schemas.microsoft.com/office/drawing/2014/main" id="{CB2050D3-6B52-4986-B7B5-121DB54EAC09}"/>
              </a:ext>
            </a:extLst>
          </p:cNvPr>
          <p:cNvSpPr>
            <a:spLocks xmlns:a="http://schemas.openxmlformats.org/drawingml/2006/main" noGrp="1"/>
          </p:cNvSpPr>
          <p:nvPr/>
        </p:nvSpPr>
        <p:spPr>
          <a:xfrm xmlns:a="http://schemas.openxmlformats.org/drawingml/2006/main">
            <a:off x="3048000" y="36766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Two-stage model orchestration, API, interface, Docker, tests</a:t>
            </a:r>
          </a:p>
        </p:txBody>
      </p:sp>
      <p:sp>
        <p:nvSpPr>
          <p:cNvPr id="19" name="">
            <a:extLst xmlns:a="http://schemas.openxmlformats.org/drawingml/2006/main">
              <a:ext uri="{FF2B5EF4-FFF2-40B4-BE49-F238E27FC236}">
                <a16:creationId xmlns:a16="http://schemas.microsoft.com/office/drawing/2014/main" id="{8CA654B1-84ED-4F10-AE54-53DAB50C5203}"/>
              </a:ext>
            </a:extLst>
          </p:cNvPr>
          <p:cNvSpPr>
            <a:spLocks xmlns:a="http://schemas.openxmlformats.org/drawingml/2006/main" noGrp="1"/>
          </p:cNvSpPr>
          <p:nvPr/>
        </p:nvSpPr>
        <p:spPr>
          <a:xfrm xmlns:a="http://schemas.openxmlformats.org/drawingml/2006/main">
            <a:off x="857250" y="41338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20" name="">
            <a:extLst xmlns:a="http://schemas.openxmlformats.org/drawingml/2006/main">
              <a:ext uri="{FF2B5EF4-FFF2-40B4-BE49-F238E27FC236}">
                <a16:creationId xmlns:a16="http://schemas.microsoft.com/office/drawing/2014/main" id="{ED6A63FB-3BC9-4B6E-AC60-06EFA5DA526E}"/>
              </a:ext>
            </a:extLst>
          </p:cNvPr>
          <p:cNvSpPr>
            <a:spLocks xmlns:a="http://schemas.openxmlformats.org/drawingml/2006/main" noGrp="1"/>
          </p:cNvSpPr>
          <p:nvPr/>
        </p:nvSpPr>
        <p:spPr>
          <a:xfrm xmlns:a="http://schemas.openxmlformats.org/drawingml/2006/main">
            <a:off x="904875" y="43624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704EA6"/>
                </a:solidFill>
                <a:latin typeface="Calibri"/>
                <a:ea typeface="Calibri"/>
                <a:cs typeface="Calibri"/>
              </a:defRPr>
            </a:pPr>
            <a:r>
              <a:rPr sz="1725" b="1">
                <a:solidFill>
                  <a:srgbClr val="704EA6"/>
                </a:solidFill>
                <a:latin typeface="Calibri"/>
                <a:ea typeface="Calibri"/>
                <a:cs typeface="Calibri"/>
              </a:rPr>
              <a:t>5</a:t>
            </a:r>
          </a:p>
        </p:txBody>
      </p:sp>
      <p:sp>
        <p:nvSpPr>
          <p:cNvPr id="21" name="">
            <a:extLst xmlns:a="http://schemas.openxmlformats.org/drawingml/2006/main">
              <a:ext uri="{FF2B5EF4-FFF2-40B4-BE49-F238E27FC236}">
                <a16:creationId xmlns:a16="http://schemas.microsoft.com/office/drawing/2014/main" id="{10422262-EB07-44FD-B482-55D400F288FF}"/>
              </a:ext>
            </a:extLst>
          </p:cNvPr>
          <p:cNvSpPr>
            <a:spLocks xmlns:a="http://schemas.openxmlformats.org/drawingml/2006/main" noGrp="1"/>
          </p:cNvSpPr>
          <p:nvPr/>
        </p:nvSpPr>
        <p:spPr>
          <a:xfrm xmlns:a="http://schemas.openxmlformats.org/drawingml/2006/main">
            <a:off x="1524000" y="43624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704EA6"/>
                </a:solidFill>
                <a:latin typeface="Calibri"/>
                <a:ea typeface="Calibri"/>
                <a:cs typeface="Calibri"/>
              </a:defRPr>
            </a:pPr>
            <a:r>
              <a:rPr sz="1350" b="1">
                <a:solidFill>
                  <a:srgbClr val="704EA6"/>
                </a:solidFill>
                <a:latin typeface="Calibri"/>
                <a:ea typeface="Calibri"/>
                <a:cs typeface="Calibri"/>
              </a:rPr>
              <a:t>Next</a:t>
            </a:r>
          </a:p>
        </p:txBody>
      </p:sp>
      <p:sp>
        <p:nvSpPr>
          <p:cNvPr id="22" name="">
            <a:extLst xmlns:a="http://schemas.openxmlformats.org/drawingml/2006/main">
              <a:ext uri="{FF2B5EF4-FFF2-40B4-BE49-F238E27FC236}">
                <a16:creationId xmlns:a16="http://schemas.microsoft.com/office/drawing/2014/main" id="{A84EE353-5327-4A87-9B23-58D47AB64F8F}"/>
              </a:ext>
            </a:extLst>
          </p:cNvPr>
          <p:cNvSpPr>
            <a:spLocks xmlns:a="http://schemas.openxmlformats.org/drawingml/2006/main" noGrp="1"/>
          </p:cNvSpPr>
          <p:nvPr/>
        </p:nvSpPr>
        <p:spPr>
          <a:xfrm xmlns:a="http://schemas.openxmlformats.org/drawingml/2006/main">
            <a:off x="3048000" y="43624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Load official assets and reproduce supplied samples</a:t>
            </a:r>
          </a:p>
        </p:txBody>
      </p:sp>
      <p:sp>
        <p:nvSpPr>
          <p:cNvPr id="23" name="">
            <a:extLst xmlns:a="http://schemas.openxmlformats.org/drawingml/2006/main">
              <a:ext uri="{FF2B5EF4-FFF2-40B4-BE49-F238E27FC236}">
                <a16:creationId xmlns:a16="http://schemas.microsoft.com/office/drawing/2014/main" id="{8E19D95A-0A94-47D2-AFC4-AD9772450E0D}"/>
              </a:ext>
            </a:extLst>
          </p:cNvPr>
          <p:cNvSpPr>
            <a:spLocks xmlns:a="http://schemas.openxmlformats.org/drawingml/2006/main" noGrp="1"/>
          </p:cNvSpPr>
          <p:nvPr/>
        </p:nvSpPr>
        <p:spPr>
          <a:xfrm xmlns:a="http://schemas.openxmlformats.org/drawingml/2006/main">
            <a:off x="857250" y="48196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24" name="">
            <a:extLst xmlns:a="http://schemas.openxmlformats.org/drawingml/2006/main">
              <a:ext uri="{FF2B5EF4-FFF2-40B4-BE49-F238E27FC236}">
                <a16:creationId xmlns:a16="http://schemas.microsoft.com/office/drawing/2014/main" id="{B0CE0577-7634-466E-8566-B9686A5E53FB}"/>
              </a:ext>
            </a:extLst>
          </p:cNvPr>
          <p:cNvSpPr>
            <a:spLocks xmlns:a="http://schemas.openxmlformats.org/drawingml/2006/main" noGrp="1"/>
          </p:cNvSpPr>
          <p:nvPr/>
        </p:nvSpPr>
        <p:spPr>
          <a:xfrm xmlns:a="http://schemas.openxmlformats.org/drawingml/2006/main">
            <a:off x="904875" y="50482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704EA6"/>
                </a:solidFill>
                <a:latin typeface="Calibri"/>
                <a:ea typeface="Calibri"/>
                <a:cs typeface="Calibri"/>
              </a:defRPr>
            </a:pPr>
            <a:r>
              <a:rPr sz="1725" b="1">
                <a:solidFill>
                  <a:srgbClr val="704EA6"/>
                </a:solidFill>
                <a:latin typeface="Calibri"/>
                <a:ea typeface="Calibri"/>
                <a:cs typeface="Calibri"/>
              </a:rPr>
              <a:t>6</a:t>
            </a:r>
          </a:p>
        </p:txBody>
      </p:sp>
      <p:sp>
        <p:nvSpPr>
          <p:cNvPr id="25" name="">
            <a:extLst xmlns:a="http://schemas.openxmlformats.org/drawingml/2006/main">
              <a:ext uri="{FF2B5EF4-FFF2-40B4-BE49-F238E27FC236}">
                <a16:creationId xmlns:a16="http://schemas.microsoft.com/office/drawing/2014/main" id="{A131F85B-E49B-43C5-8A2F-855FB528E5F1}"/>
              </a:ext>
            </a:extLst>
          </p:cNvPr>
          <p:cNvSpPr>
            <a:spLocks xmlns:a="http://schemas.openxmlformats.org/drawingml/2006/main" noGrp="1"/>
          </p:cNvSpPr>
          <p:nvPr/>
        </p:nvSpPr>
        <p:spPr>
          <a:xfrm xmlns:a="http://schemas.openxmlformats.org/drawingml/2006/main">
            <a:off x="1524000" y="5048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704EA6"/>
                </a:solidFill>
                <a:latin typeface="Calibri"/>
                <a:ea typeface="Calibri"/>
                <a:cs typeface="Calibri"/>
              </a:defRPr>
            </a:pPr>
            <a:r>
              <a:rPr sz="1350" b="1">
                <a:solidFill>
                  <a:srgbClr val="704EA6"/>
                </a:solidFill>
                <a:latin typeface="Calibri"/>
                <a:ea typeface="Calibri"/>
                <a:cs typeface="Calibri"/>
              </a:rPr>
              <a:t>Next</a:t>
            </a:r>
          </a:p>
        </p:txBody>
      </p:sp>
      <p:sp>
        <p:nvSpPr>
          <p:cNvPr id="26" name="">
            <a:extLst xmlns:a="http://schemas.openxmlformats.org/drawingml/2006/main">
              <a:ext uri="{FF2B5EF4-FFF2-40B4-BE49-F238E27FC236}">
                <a16:creationId xmlns:a16="http://schemas.microsoft.com/office/drawing/2014/main" id="{8B7001F9-1323-4317-B6F8-7BF0054E7FC2}"/>
              </a:ext>
            </a:extLst>
          </p:cNvPr>
          <p:cNvSpPr>
            <a:spLocks xmlns:a="http://schemas.openxmlformats.org/drawingml/2006/main" noGrp="1"/>
          </p:cNvSpPr>
          <p:nvPr/>
        </p:nvSpPr>
        <p:spPr>
          <a:xfrm xmlns:a="http://schemas.openxmlformats.org/drawingml/2006/main">
            <a:off x="3048000" y="50482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Run official holdout, tune thresholds, record demo, tag release</a:t>
            </a:r>
          </a:p>
        </p:txBody>
      </p:sp>
      <p:sp>
        <p:nvSpPr>
          <p:cNvPr id="27" name="">
            <a:extLst xmlns:a="http://schemas.openxmlformats.org/drawingml/2006/main">
              <a:ext uri="{FF2B5EF4-FFF2-40B4-BE49-F238E27FC236}">
                <a16:creationId xmlns:a16="http://schemas.microsoft.com/office/drawing/2014/main" id="{F7F923BD-5F5E-4115-AAE7-01AEB9985FC7}"/>
              </a:ext>
            </a:extLst>
          </p:cNvPr>
          <p:cNvSpPr>
            <a:spLocks xmlns:a="http://schemas.openxmlformats.org/drawingml/2006/main" noGrp="1"/>
          </p:cNvSpPr>
          <p:nvPr/>
        </p:nvSpPr>
        <p:spPr>
          <a:xfrm xmlns:a="http://schemas.openxmlformats.org/drawingml/2006/main">
            <a:off x="857250" y="55054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Tree>
    <p:extLst>
      <p:ext uri="{BB962C8B-B14F-4D97-AF65-F5344CB8AC3E}">
        <p14:creationId xmlns:p14="http://schemas.microsoft.com/office/powerpoint/2010/main" val="39859146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spcAft>
                <a:spcPts val="500"/>
              </a:spcAft>
              <a:buSzPct val="100000"/>
              <a:buNone/>
              <a:defRPr sz="3150" b="1">
                <a:solidFill>
                  <a:srgbClr val="704EA6"/>
                </a:solidFill>
                <a:latin typeface="Calibri"/>
                <a:ea typeface="Calibri"/>
                <a:cs typeface="Calibri"/>
              </a:defRPr>
            </a:pPr>
            <a:r>
              <a:rPr sz="3150" b="1">
                <a:solidFill>
                  <a:srgbClr val="704EA6"/>
                </a:solidFill>
                <a:latin typeface="Calibri"/>
                <a:ea typeface="Calibri"/>
                <a:cs typeface="Calibri"/>
              </a:rPr>
              <a:t>Why GuideRail is different</a:t>
            </a:r>
            <a:endParaRPr sz="4400"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4B45D927-3358-4B6F-AA5F-1DF9EDAF8B23}"/>
              </a:ext>
            </a:extLst>
          </p:cNvPr>
          <p:cNvSpPr>
            <a:spLocks xmlns:a="http://schemas.openxmlformats.org/drawingml/2006/main" noGrp="1"/>
          </p:cNvSpPr>
          <p:nvPr/>
        </p:nvSpPr>
        <p:spPr>
          <a:xfrm xmlns:a="http://schemas.openxmlformats.org/drawingml/2006/main">
            <a:off x="904875" y="17145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A32929"/>
                </a:solidFill>
                <a:latin typeface="Calibri"/>
                <a:ea typeface="Calibri"/>
                <a:cs typeface="Calibri"/>
              </a:defRPr>
            </a:pPr>
            <a:r>
              <a:rPr sz="2025" b="1">
                <a:solidFill>
                  <a:srgbClr val="A32929"/>
                </a:solidFill>
                <a:latin typeface="Calibri"/>
                <a:ea typeface="Calibri"/>
                <a:cs typeface="Calibri"/>
              </a:rPr>
              <a:t>Naive generated answer</a:t>
            </a:r>
          </a:p>
        </p:txBody>
      </p:sp>
      <p:sp>
        <p:nvSpPr>
          <p:cNvPr id="5" name="">
            <a:extLst xmlns:a="http://schemas.openxmlformats.org/drawingml/2006/main">
              <a:ext uri="{FF2B5EF4-FFF2-40B4-BE49-F238E27FC236}">
                <a16:creationId xmlns:a16="http://schemas.microsoft.com/office/drawing/2014/main" id="{A84554F7-B0CC-4F9E-9404-177252224706}"/>
              </a:ext>
            </a:extLst>
          </p:cNvPr>
          <p:cNvSpPr>
            <a:spLocks xmlns:a="http://schemas.openxmlformats.org/drawingml/2006/main" noGrp="1"/>
          </p:cNvSpPr>
          <p:nvPr/>
        </p:nvSpPr>
        <p:spPr>
          <a:xfrm xmlns:a="http://schemas.openxmlformats.org/drawingml/2006/main">
            <a:off x="904875" y="2333625"/>
            <a:ext cx="4000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One model pass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Free-form text</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Generated Settings paths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Raw-string caching</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Confident answer on weak evidence</a:t>
            </a:r>
          </a:p>
        </p:txBody>
      </p:sp>
      <p:sp>
        <p:nvSpPr>
          <p:cNvPr id="6" name="">
            <a:extLst xmlns:a="http://schemas.openxmlformats.org/drawingml/2006/main">
              <a:ext uri="{FF2B5EF4-FFF2-40B4-BE49-F238E27FC236}">
                <a16:creationId xmlns:a16="http://schemas.microsoft.com/office/drawing/2014/main" id="{342B7D17-2FE1-4EE4-AD6D-60A43C0541EB}"/>
              </a:ext>
            </a:extLst>
          </p:cNvPr>
          <p:cNvSpPr>
            <a:spLocks xmlns:a="http://schemas.openxmlformats.org/drawingml/2006/main" noGrp="1"/>
          </p:cNvSpPr>
          <p:nvPr/>
        </p:nvSpPr>
        <p:spPr>
          <a:xfrm xmlns:a="http://schemas.openxmlformats.org/drawingml/2006/main">
            <a:off x="6667500" y="17145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0D6A4B"/>
                </a:solidFill>
                <a:latin typeface="Calibri"/>
                <a:ea typeface="Calibri"/>
                <a:cs typeface="Calibri"/>
              </a:defRPr>
            </a:pPr>
            <a:r>
              <a:rPr sz="2025" b="1">
                <a:solidFill>
                  <a:srgbClr val="0D6A4B"/>
                </a:solidFill>
                <a:latin typeface="Calibri"/>
                <a:ea typeface="Calibri"/>
                <a:cs typeface="Calibri"/>
              </a:rPr>
              <a:t>GuideRail</a:t>
            </a:r>
          </a:p>
        </p:txBody>
      </p:sp>
      <p:sp>
        <p:nvSpPr>
          <p:cNvPr id="7" name="">
            <a:extLst xmlns:a="http://schemas.openxmlformats.org/drawingml/2006/main">
              <a:ext uri="{FF2B5EF4-FFF2-40B4-BE49-F238E27FC236}">
                <a16:creationId xmlns:a16="http://schemas.microsoft.com/office/drawing/2014/main" id="{9E429739-DB1A-4F51-8EF1-2A440083A9B3}"/>
              </a:ext>
            </a:extLst>
          </p:cNvPr>
          <p:cNvSpPr>
            <a:spLocks xmlns:a="http://schemas.openxmlformats.org/drawingml/2006/main" noGrp="1"/>
          </p:cNvSpPr>
          <p:nvPr/>
        </p:nvSpPr>
        <p:spPr>
          <a:xfrm xmlns:a="http://schemas.openxmlformats.org/drawingml/2006/main">
            <a:off x="6667500" y="2333625"/>
            <a:ext cx="4000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Separated structure and mapping</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Strict response schema</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Exact catalog identifiers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Validated semantic cache</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Named fallback below confidence threshold</a:t>
            </a:r>
          </a:p>
        </p:txBody>
      </p:sp>
      <p:sp>
        <p:nvSpPr>
          <p:cNvPr id="8" name="">
            <a:extLst xmlns:a="http://schemas.openxmlformats.org/drawingml/2006/main">
              <a:ext uri="{FF2B5EF4-FFF2-40B4-BE49-F238E27FC236}">
                <a16:creationId xmlns:a16="http://schemas.microsoft.com/office/drawing/2014/main" id="{2FD8CBA8-1321-4941-8C95-0E0ED9E19655}"/>
              </a:ext>
            </a:extLst>
          </p:cNvPr>
          <p:cNvSpPr>
            <a:spLocks xmlns:a="http://schemas.openxmlformats.org/drawingml/2006/main" noGrp="1"/>
          </p:cNvSpPr>
          <p:nvPr/>
        </p:nvSpPr>
        <p:spPr>
          <a:xfrm xmlns:a="http://schemas.openxmlformats.org/drawingml/2006/main">
            <a:off x="5810250" y="1619250"/>
            <a:ext cx="0" cy="371475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9" name="">
            <a:extLst xmlns:a="http://schemas.openxmlformats.org/drawingml/2006/main">
              <a:ext uri="{FF2B5EF4-FFF2-40B4-BE49-F238E27FC236}">
                <a16:creationId xmlns:a16="http://schemas.microsoft.com/office/drawing/2014/main" id="{811A945F-8726-4313-8AC8-4A1403E6FFE1}"/>
              </a:ext>
            </a:extLst>
          </p:cNvPr>
          <p:cNvSpPr>
            <a:spLocks xmlns:a="http://schemas.openxmlformats.org/drawingml/2006/main" noGrp="1"/>
          </p:cNvSpPr>
          <p:nvPr/>
        </p:nvSpPr>
        <p:spPr>
          <a:xfrm xmlns:a="http://schemas.openxmlformats.org/drawingml/2006/main">
            <a:off x="952500" y="51435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ctr">
              <a:defRPr sz="1500" b="1">
                <a:solidFill>
                  <a:srgbClr val="14142B"/>
                </a:solidFill>
                <a:latin typeface="Calibri"/>
                <a:ea typeface="Calibri"/>
                <a:cs typeface="Calibri"/>
              </a:defRPr>
            </a:pPr>
            <a:r>
              <a:rPr sz="1500" b="1">
                <a:solidFill>
                  <a:srgbClr val="14142B"/>
                </a:solidFill>
                <a:latin typeface="Calibri"/>
                <a:ea typeface="Calibri"/>
                <a:cs typeface="Calibri"/>
              </a:rPr>
              <a:t>Research anchors: RAG grounding, hybrid rank fusion, constrained generation, zero-shot retrieval caution, and verified semantic caching.</a:t>
            </a:r>
          </a:p>
        </p:txBody>
      </p:sp>
    </p:spTree>
    <p:extLst>
      <p:ext uri="{BB962C8B-B14F-4D97-AF65-F5344CB8AC3E}">
        <p14:creationId xmlns:p14="http://schemas.microsoft.com/office/powerpoint/2010/main" val="20955176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04E28A-8ABF-4E15-B9E1-B0F49C0EE29F}"/>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Submission checklist</a:t>
            </a:r>
          </a:p>
        </p:txBody>
      </p:sp>
      <p:sp>
        <p:nvSpPr>
          <p:cNvPr id="3" name="Content Placeholder 2">
            <a:extLst xmlns:a="http://schemas.openxmlformats.org/drawingml/2006/main">
              <a:ext uri="{FF2B5EF4-FFF2-40B4-BE49-F238E27FC236}">
                <a16:creationId xmlns:a16="http://schemas.microsoft.com/office/drawing/2014/main" id="{DAB3E6F6-9D00-4480-90E6-EC3C876F2628}"/>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Working prototype code</a:t>
            </a:r>
            <a:endParaRPr sz="2800"/>
          </a:p>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Reproducible README</a:t>
            </a:r>
            <a:endParaRPr sz="2800"/>
          </a:p>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Dockerfile and requirements</a:t>
            </a:r>
            <a:endParaRPr sz="2800"/>
          </a:p>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Automated tests and benchmark harness</a:t>
            </a:r>
            <a:endParaRPr sz="2800"/>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YES   Presentation and AI disclosure draft</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PENDING   Public or shared GitHub link</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PENDING   Unedited demo video, maximum 5 minutes</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PENDING   Official starter assets and final held-out results</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PENDING   Release tag PRISM_GENAI_HACKATHON_Y2026</a:t>
            </a:r>
            <a:endParaRPr/>
          </a:p>
        </p:txBody>
      </p:sp>
    </p:spTree>
    <p:extLst>
      <p:ext uri="{BB962C8B-B14F-4D97-AF65-F5344CB8AC3E}">
        <p14:creationId xmlns:p14="http://schemas.microsoft.com/office/powerpoint/2010/main" val="18069930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3BFEAF9-0197-4D93-A0F3-88B3CB52C1C2}"/>
              </a:ext>
            </a:extLst>
          </p:cNvPr>
          <p:cNvSpPr>
            <a:spLocks xmlns:a="http://schemas.openxmlformats.org/drawingml/2006/main" noGrp="1"/>
          </p:cNvSpPr>
          <p:nvPr/>
        </p:nvSpPr>
        <p:spPr>
          <a:xfrm xmlns:a="http://schemas.openxmlformats.org/drawingml/2006/main">
            <a:off x="1046181" y="3730214"/>
            <a:ext cx="67665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6000"/>
          </a:bodyPr>
          <a:lstStyle xmlns:a="http://schemas.openxmlformats.org/drawingml/2006/main"/>
          <a:p xmlns:a="http://schemas.openxmlformats.org/drawingml/2006/main">
            <a:pPr marL="0" indent="0">
              <a:buNone/>
              <a:defRPr sz="3750" b="1">
                <a:solidFill>
                  <a:srgbClr val="14142B"/>
                </a:solidFill>
                <a:latin typeface="Arial"/>
                <a:ea typeface="Arial"/>
                <a:cs typeface="Arial"/>
              </a:defRPr>
            </a:pPr>
            <a:r>
              <a:rPr sz="3750" b="1">
                <a:solidFill>
                  <a:srgbClr val="14142B"/>
                </a:solidFill>
                <a:latin typeface="Arial"/>
                <a:ea typeface="Arial"/>
                <a:cs typeface="Arial"/>
              </a:rPr>
              <a:t>Thank you</a:t>
            </a:r>
            <a:endParaRPr sz="4600"/>
          </a:p>
          <a:p xmlns:a="http://schemas.openxmlformats.org/drawingml/2006/main">
            <a:pPr marL="0" indent="0">
              <a:buNone/>
              <a:defRPr sz="3750" b="1">
                <a:solidFill>
                  <a:srgbClr val="14142B"/>
                </a:solidFill>
                <a:latin typeface="Arial"/>
                <a:ea typeface="Arial"/>
                <a:cs typeface="Arial"/>
              </a:defRPr>
            </a:pPr>
            <a:r>
              <a:rPr sz="3750" b="1">
                <a:solidFill>
                  <a:srgbClr val="14142B"/>
                </a:solidFill>
                <a:latin typeface="Arial"/>
                <a:ea typeface="Arial"/>
                <a:cs typeface="Arial"/>
              </a:rPr>
              <a:t>GuideRail</a:t>
            </a:r>
            <a:endParaRPr sz="4600"/>
          </a:p>
        </p:txBody>
      </p:sp>
      <p:sp>
        <p:nvSpPr>
          <p:cNvPr id="28" name="Text 25">
            <a:extLst xmlns:a="http://schemas.openxmlformats.org/drawingml/2006/main">
              <a:ext uri="{FF2B5EF4-FFF2-40B4-BE49-F238E27FC236}">
                <a16:creationId xmlns:a16="http://schemas.microsoft.com/office/drawing/2014/main" id="{804685B4-093C-430F-8318-C8913028C12D}"/>
              </a:ext>
            </a:extLst>
          </p:cNvPr>
          <p:cNvSpPr>
            <a:spLocks xmlns:a="http://schemas.openxmlformats.org/drawingml/2006/main" noGrp="1"/>
          </p:cNvSpPr>
          <p:nvPr/>
        </p:nvSpPr>
        <p:spPr>
          <a:xfrm xmlns:a="http://schemas.openxmlformats.org/drawingml/2006/main">
            <a:off x="777240" y="5897880"/>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3637E"/>
                </a:solidFill>
                <a:latin typeface="Calibri"/>
                <a:ea typeface="Calibri"/>
                <a:cs typeface="Calibri"/>
              </a:rPr>
              <a:t>Organised by the Language AI Team and the PRISM Team, Samsung R&amp;D Institute India</a:t>
            </a:r>
            <a:endParaRPr sz="1100"/>
          </a:p>
        </p:txBody>
      </p:sp>
      <p:sp>
        <p:nvSpPr>
          <p:cNvPr id="29" name="">
            <a:extLst xmlns:a="http://schemas.openxmlformats.org/drawingml/2006/main">
              <a:ext uri="{FF2B5EF4-FFF2-40B4-BE49-F238E27FC236}">
                <a16:creationId xmlns:a16="http://schemas.microsoft.com/office/drawing/2014/main" id="{261784A4-2096-4C64-B820-99F026BB33B8}"/>
              </a:ext>
            </a:extLst>
          </p:cNvPr>
          <p:cNvSpPr>
            <a:spLocks xmlns:a="http://schemas.openxmlformats.org/drawingml/2006/main" noGrp="1"/>
          </p:cNvSpPr>
          <p:nvPr/>
        </p:nvSpPr>
        <p:spPr>
          <a:xfrm xmlns:a="http://schemas.openxmlformats.org/drawingml/2006/main">
            <a:off x="1047750" y="46672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704EA6"/>
                </a:solidFill>
                <a:latin typeface="Calibri"/>
                <a:ea typeface="Calibri"/>
                <a:cs typeface="Calibri"/>
              </a:defRPr>
            </a:pPr>
            <a:r>
              <a:rPr sz="1725" b="0">
                <a:solidFill>
                  <a:srgbClr val="704EA6"/>
                </a:solidFill>
                <a:latin typeface="Calibri"/>
                <a:ea typeface="Calibri"/>
                <a:cs typeface="Calibri"/>
              </a:rPr>
              <a:t>Theme 02  Smart Guided Troubleshooting</a:t>
            </a:r>
          </a:p>
          <a:p xmlns:a="http://schemas.openxmlformats.org/drawingml/2006/main">
            <a:pPr algn="l">
              <a:defRPr sz="1725" b="0">
                <a:solidFill>
                  <a:srgbClr val="704EA6"/>
                </a:solidFill>
                <a:latin typeface="Calibri"/>
                <a:ea typeface="Calibri"/>
                <a:cs typeface="Calibri"/>
              </a:defRPr>
            </a:pPr>
            <a:r>
              <a:rPr sz="1725" b="0">
                <a:solidFill>
                  <a:srgbClr val="704EA6"/>
                </a:solidFill>
                <a:latin typeface="Calibri"/>
                <a:ea typeface="Calibri"/>
                <a:cs typeface="Calibri"/>
              </a:rPr>
              <a:t>Questions and live prototype walkthrough</a:t>
            </a:r>
          </a:p>
        </p:txBody>
      </p:sp>
    </p:spTree>
    <p:extLst>
      <p:ext uri="{BB962C8B-B14F-4D97-AF65-F5344CB8AC3E}">
        <p14:creationId xmlns:p14="http://schemas.microsoft.com/office/powerpoint/2010/main" val="84559221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2026-09-30T16:51:15.2290000Z</dcterms:created>
  <dcterms:modified xsi:type="dcterms:W3CDTF">2026-09-30T16:51:15.2290000Z</dcterms:modified>
</coreProperties>
</file>