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2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idx="10"/>
          </p:nvPr>
        </p:nvSpPr>
        <p:spPr/>
        <p:txBody>
          <a:bodyPr/>
          <a:lstStyle/>
          <a:p>
            <a:fld id="{2AF27EEE-1B67-445E-AA5D-351EC91D1DEB}" type="datetimeFigureOut">
              <a:t>9/30/2026</a:t>
            </a:fld>
            <a:endParaRPr/>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idx="10"/>
          </p:nvPr>
        </p:nvSpPr>
        <p:spPr/>
        <p:txBody>
          <a:bodyPr/>
          <a:lstStyle/>
          <a:p>
            <a:fld id="{2AF27EEE-1B67-445E-AA5D-351EC91D1DEB}" type="datetimeFigureOut">
              <a:t>9/30/2026</a:t>
            </a:fld>
            <a:endParaRPr/>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idx="10"/>
          </p:nvPr>
        </p:nvSpPr>
        <p:spPr/>
        <p:txBody>
          <a:bodyPr/>
          <a:lstStyle/>
          <a:p>
            <a:fld id="{2AF27EEE-1B67-445E-AA5D-351EC91D1DEB}" type="datetimeFigureOut">
              <a:t>9/30/2026</a:t>
            </a:fld>
            <a:endParaRPr/>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idx="10"/>
          </p:nvPr>
        </p:nvSpPr>
        <p:spPr/>
        <p:txBody>
          <a:bodyPr/>
          <a:lstStyle/>
          <a:p>
            <a:fld id="{2AF27EEE-1B67-445E-AA5D-351EC91D1DEB}" type="datetimeFigureOut">
              <a:t>9/30/2026</a:t>
            </a:fld>
            <a:endParaRPr/>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idx="10"/>
          </p:nvPr>
        </p:nvSpPr>
        <p:spPr/>
        <p:txBody>
          <a:bodyPr/>
          <a:lstStyle/>
          <a:p>
            <a:fld id="{2AF27EEE-1B67-445E-AA5D-351EC91D1DEB}" type="datetimeFigureOut">
              <a:t>9/30/2026</a:t>
            </a:fld>
            <a:endParaRPr/>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idx="10"/>
          </p:nvPr>
        </p:nvSpPr>
        <p:spPr/>
        <p:txBody>
          <a:bodyPr/>
          <a:lstStyle/>
          <a:p>
            <a:fld id="{2AF27EEE-1B67-445E-AA5D-351EC91D1DEB}" type="datetimeFigureOut">
              <a:t>9/30/2026</a:t>
            </a:fld>
            <a:endParaRPr/>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idx="10"/>
          </p:nvPr>
        </p:nvSpPr>
        <p:spPr/>
        <p:txBody>
          <a:body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idx="12"/>
          </p:nvPr>
        </p:nvSpPr>
        <p:spPr/>
        <p:txBody>
          <a:bodyPr/>
          <a:lstStyle/>
          <a:p>
            <a:fld id="{BF5B04A4-2082-4D7E-8466-9BA22C990A78}"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2AF27EEE-1B67-445E-AA5D-351EC91D1DEB}" type="datetimeFigureOut">
              <a:t>9/30/2026</a:t>
            </a:fld>
            <a:endParaRPr/>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F5B04A4-2082-4D7E-8466-9BA22C990A7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0AA3F4B-AE21-4401-9DCB-203B39FAE85A}"/>
              </a:ext>
            </a:extLst>
          </p:cNvPr>
          <p:cNvSpPr>
            <a:spLocks noGrp="1"/>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lang="en-IN"/>
          </a:p>
        </p:txBody>
      </p:sp>
      <p:sp>
        <p:nvSpPr>
          <p:cNvPr id="3" name="Text 1">
            <a:extLst>
              <a:ext uri="{FF2B5EF4-FFF2-40B4-BE49-F238E27FC236}">
                <a16:creationId xmlns:a16="http://schemas.microsoft.com/office/drawing/2014/main" id="{042526D9-927B-4CEA-82FD-42769FB3FEE9}"/>
              </a:ext>
            </a:extLst>
          </p:cNvPr>
          <p:cNvSpPr>
            <a:spLocks noGrp="1"/>
          </p:cNvSpPr>
          <p:nvPr/>
        </p:nvSpPr>
        <p:spPr>
          <a:xfrm>
            <a:off x="777240" y="676656"/>
            <a:ext cx="2423160" cy="347472"/>
          </a:xfrm>
          <a:prstGeom prst="rect">
            <a:avLst/>
          </a:prstGeom>
          <a:noFill/>
        </p:spPr>
        <p:txBody>
          <a:bodyPr wrap="square" lIns="0" tIns="0" rIns="0" bIns="0" anchor="ctr"/>
          <a:lstStyle/>
          <a:p>
            <a:pPr marL="0" indent="0" algn="ctr">
              <a:buNone/>
            </a:pPr>
            <a:r>
              <a:rPr sz="1100" b="1" spc="110">
                <a:solidFill>
                  <a:srgbClr val="6D28D9"/>
                </a:solidFill>
                <a:latin typeface="Arial"/>
                <a:ea typeface="Arial"/>
                <a:cs typeface="Arial"/>
              </a:rPr>
              <a:t>SAMSUNG PRISM</a:t>
            </a:r>
            <a:endParaRPr sz="1100"/>
          </a:p>
        </p:txBody>
      </p:sp>
      <p:sp>
        <p:nvSpPr>
          <p:cNvPr id="4" name="Text 2">
            <a:extLst>
              <a:ext uri="{FF2B5EF4-FFF2-40B4-BE49-F238E27FC236}">
                <a16:creationId xmlns:a16="http://schemas.microsoft.com/office/drawing/2014/main" id="{AE23C9B3-C227-44FF-B3D9-0CEE54015ACE}"/>
              </a:ext>
            </a:extLst>
          </p:cNvPr>
          <p:cNvSpPr>
            <a:spLocks noGrp="1"/>
          </p:cNvSpPr>
          <p:nvPr/>
        </p:nvSpPr>
        <p:spPr>
          <a:xfrm>
            <a:off x="777240" y="1088136"/>
            <a:ext cx="6126480" cy="749808"/>
          </a:xfrm>
          <a:prstGeom prst="rect">
            <a:avLst/>
          </a:prstGeom>
          <a:noFill/>
        </p:spPr>
        <p:txBody>
          <a:bodyPr wrap="square" lIns="0" tIns="0" rIns="0" bIns="0" anchor="ctr">
            <a:normAutofit/>
          </a:bodyPr>
          <a:lstStyle/>
          <a:p>
            <a:pPr marL="0" indent="0">
              <a:buNone/>
              <a:defRPr sz="4500" b="1">
                <a:solidFill>
                  <a:srgbClr val="14142B"/>
                </a:solidFill>
                <a:latin typeface="Arial"/>
                <a:ea typeface="Arial"/>
                <a:cs typeface="Arial"/>
              </a:defRPr>
            </a:pPr>
            <a:r>
              <a:rPr sz="4500" b="1" dirty="0" err="1">
                <a:solidFill>
                  <a:srgbClr val="14142B"/>
                </a:solidFill>
                <a:latin typeface="Arial"/>
                <a:ea typeface="Arial"/>
                <a:cs typeface="Arial"/>
              </a:rPr>
              <a:t>GuideRail</a:t>
            </a:r>
            <a:endParaRPr sz="5000" dirty="0"/>
          </a:p>
        </p:txBody>
      </p:sp>
      <p:sp>
        <p:nvSpPr>
          <p:cNvPr id="5" name="Text 3">
            <a:extLst>
              <a:ext uri="{FF2B5EF4-FFF2-40B4-BE49-F238E27FC236}">
                <a16:creationId xmlns:a16="http://schemas.microsoft.com/office/drawing/2014/main" id="{8B6729CD-6A28-4446-B368-FAFDA8BECF30}"/>
              </a:ext>
            </a:extLst>
          </p:cNvPr>
          <p:cNvSpPr>
            <a:spLocks noGrp="1"/>
          </p:cNvSpPr>
          <p:nvPr/>
        </p:nvSpPr>
        <p:spPr>
          <a:xfrm>
            <a:off x="777240" y="1901952"/>
            <a:ext cx="6281928" cy="749808"/>
          </a:xfrm>
          <a:prstGeom prst="rect">
            <a:avLst/>
          </a:prstGeom>
          <a:noFill/>
        </p:spPr>
        <p:txBody>
          <a:bodyPr wrap="square" lIns="0" tIns="0" rIns="0" bIns="0" anchor="ctr">
            <a:normAutofit fontScale="85595" lnSpcReduction="10000"/>
          </a:bodyPr>
          <a:lstStyle/>
          <a:p>
            <a:pPr marL="0" indent="0">
              <a:buNone/>
              <a:defRPr sz="3150" b="1">
                <a:solidFill>
                  <a:srgbClr val="6D28D9"/>
                </a:solidFill>
                <a:latin typeface="Arial"/>
                <a:ea typeface="Arial"/>
                <a:cs typeface="Arial"/>
              </a:defRPr>
            </a:pPr>
            <a:r>
              <a:rPr lang="en-US" sz="3150" b="1" dirty="0">
                <a:solidFill>
                  <a:srgbClr val="6D28D9"/>
                </a:solidFill>
                <a:latin typeface="Arial"/>
                <a:ea typeface="Arial"/>
                <a:cs typeface="Arial"/>
              </a:rPr>
              <a:t>Theme 2: </a:t>
            </a:r>
            <a:br>
              <a:rPr lang="en-US" sz="3150" b="1" dirty="0">
                <a:solidFill>
                  <a:srgbClr val="6D28D9"/>
                </a:solidFill>
                <a:latin typeface="Arial"/>
                <a:ea typeface="Arial"/>
                <a:cs typeface="Arial"/>
              </a:rPr>
            </a:br>
            <a:r>
              <a:rPr sz="3150" b="1" dirty="0">
                <a:solidFill>
                  <a:srgbClr val="6D28D9"/>
                </a:solidFill>
                <a:latin typeface="Arial"/>
                <a:ea typeface="Arial"/>
                <a:cs typeface="Arial"/>
              </a:rPr>
              <a:t>Smart Guided</a:t>
            </a:r>
            <a:r>
              <a:rPr lang="en-US" sz="3150" b="1" dirty="0">
                <a:solidFill>
                  <a:srgbClr val="6D28D9"/>
                </a:solidFill>
                <a:latin typeface="Arial"/>
                <a:ea typeface="Arial"/>
                <a:cs typeface="Arial"/>
              </a:rPr>
              <a:t> </a:t>
            </a:r>
            <a:r>
              <a:rPr sz="3150" b="1" dirty="0">
                <a:solidFill>
                  <a:srgbClr val="6D28D9"/>
                </a:solidFill>
                <a:latin typeface="Arial"/>
                <a:ea typeface="Arial"/>
                <a:cs typeface="Arial"/>
              </a:rPr>
              <a:t>Troubleshooting</a:t>
            </a:r>
            <a:endParaRPr sz="5000" dirty="0"/>
          </a:p>
        </p:txBody>
      </p:sp>
      <p:sp>
        <p:nvSpPr>
          <p:cNvPr id="7" name="Text 5">
            <a:extLst>
              <a:ext uri="{FF2B5EF4-FFF2-40B4-BE49-F238E27FC236}">
                <a16:creationId xmlns:a16="http://schemas.microsoft.com/office/drawing/2014/main" id="{B76C5767-4D9F-4AB3-A63C-08954D80CA20}"/>
              </a:ext>
            </a:extLst>
          </p:cNvPr>
          <p:cNvSpPr>
            <a:spLocks noGrp="1"/>
          </p:cNvSpPr>
          <p:nvPr/>
        </p:nvSpPr>
        <p:spPr>
          <a:xfrm>
            <a:off x="777240" y="2784348"/>
            <a:ext cx="6850476" cy="2871216"/>
          </a:xfrm>
          <a:prstGeom prst="rect">
            <a:avLst/>
          </a:prstGeom>
          <a:noFill/>
        </p:spPr>
        <p:txBody>
          <a:bodyPr wrap="square" lIns="0" tIns="0" rIns="0" bIns="0" anchor="t">
            <a:noAutofit/>
          </a:bodyPr>
          <a:lstStyle/>
          <a:p>
            <a:pPr marL="177800" indent="-177800">
              <a:spcAft>
                <a:spcPts val="500"/>
              </a:spcAft>
              <a:buSzPct val="100000"/>
              <a:buChar char="•"/>
              <a:defRPr sz="1275">
                <a:solidFill>
                  <a:srgbClr val="63637E"/>
                </a:solidFill>
                <a:latin typeface="Calibri"/>
                <a:ea typeface="Calibri"/>
                <a:cs typeface="Calibri"/>
              </a:defRPr>
            </a:pPr>
            <a:r>
              <a:rPr sz="2000" dirty="0">
                <a:solidFill>
                  <a:srgbClr val="63637E"/>
                </a:solidFill>
                <a:latin typeface="Calibri"/>
                <a:ea typeface="Calibri"/>
                <a:cs typeface="Calibri"/>
              </a:rPr>
              <a:t>Team Name </a:t>
            </a:r>
            <a:r>
              <a:rPr lang="en-IN" sz="2000" dirty="0">
                <a:solidFill>
                  <a:srgbClr val="63637E"/>
                </a:solidFill>
                <a:latin typeface="Calibri"/>
                <a:ea typeface="Calibri"/>
                <a:cs typeface="Calibri"/>
              </a:rPr>
              <a:t>–</a:t>
            </a:r>
            <a:r>
              <a:rPr sz="2000" dirty="0">
                <a:solidFill>
                  <a:srgbClr val="63637E"/>
                </a:solidFill>
                <a:latin typeface="Calibri"/>
                <a:ea typeface="Calibri"/>
                <a:cs typeface="Calibri"/>
              </a:rPr>
              <a:t> </a:t>
            </a:r>
            <a:r>
              <a:rPr lang="en-US" sz="2000" dirty="0">
                <a:solidFill>
                  <a:srgbClr val="63637E"/>
                </a:solidFill>
                <a:latin typeface="Calibri"/>
                <a:ea typeface="Calibri"/>
                <a:cs typeface="Calibri"/>
              </a:rPr>
              <a:t>Power Rangers</a:t>
            </a:r>
          </a:p>
          <a:p>
            <a:pPr marL="177800" indent="-177800">
              <a:spcAft>
                <a:spcPts val="500"/>
              </a:spcAft>
              <a:buSzPct val="100000"/>
              <a:buChar char="•"/>
              <a:defRPr sz="1275">
                <a:solidFill>
                  <a:srgbClr val="63637E"/>
                </a:solidFill>
                <a:latin typeface="Calibri"/>
                <a:ea typeface="Calibri"/>
                <a:cs typeface="Calibri"/>
              </a:defRPr>
            </a:pPr>
            <a:r>
              <a:rPr sz="2000" dirty="0">
                <a:solidFill>
                  <a:srgbClr val="63637E"/>
                </a:solidFill>
                <a:latin typeface="Calibri"/>
                <a:ea typeface="Calibri"/>
                <a:cs typeface="Calibri"/>
              </a:rPr>
              <a:t>College Name </a:t>
            </a:r>
            <a:r>
              <a:rPr lang="en-IN" sz="2000" dirty="0">
                <a:solidFill>
                  <a:srgbClr val="63637E"/>
                </a:solidFill>
                <a:latin typeface="Calibri"/>
                <a:ea typeface="Calibri"/>
                <a:cs typeface="Calibri"/>
              </a:rPr>
              <a:t>–</a:t>
            </a:r>
            <a:r>
              <a:rPr sz="2000" dirty="0">
                <a:solidFill>
                  <a:srgbClr val="63637E"/>
                </a:solidFill>
                <a:latin typeface="Calibri"/>
                <a:ea typeface="Calibri"/>
                <a:cs typeface="Calibri"/>
              </a:rPr>
              <a:t> </a:t>
            </a:r>
            <a:r>
              <a:rPr lang="en-US" sz="2000" dirty="0">
                <a:solidFill>
                  <a:srgbClr val="63637E"/>
                </a:solidFill>
                <a:latin typeface="Calibri"/>
                <a:ea typeface="Calibri"/>
                <a:cs typeface="Calibri"/>
              </a:rPr>
              <a:t>Thapar Institute Of Engineering And Technology</a:t>
            </a:r>
            <a:endParaRPr sz="2000" dirty="0">
              <a:solidFill>
                <a:srgbClr val="63637E"/>
              </a:solidFill>
              <a:latin typeface="Calibri"/>
              <a:ea typeface="Calibri"/>
              <a:cs typeface="Calibri"/>
            </a:endParaRPr>
          </a:p>
          <a:p>
            <a:pPr marL="177800" indent="-177800">
              <a:spcAft>
                <a:spcPts val="500"/>
              </a:spcAft>
              <a:buSzPct val="100000"/>
              <a:buChar char="•"/>
              <a:defRPr sz="1275">
                <a:solidFill>
                  <a:srgbClr val="63637E"/>
                </a:solidFill>
                <a:latin typeface="Calibri"/>
                <a:ea typeface="Calibri"/>
                <a:cs typeface="Calibri"/>
              </a:defRPr>
            </a:pPr>
            <a:r>
              <a:rPr sz="2000" dirty="0">
                <a:solidFill>
                  <a:srgbClr val="63637E"/>
                </a:solidFill>
                <a:latin typeface="Calibri"/>
                <a:ea typeface="Calibri"/>
                <a:cs typeface="Calibri"/>
              </a:rPr>
              <a:t>Members </a:t>
            </a:r>
            <a:r>
              <a:rPr lang="en-IN" sz="2000" dirty="0">
                <a:solidFill>
                  <a:srgbClr val="63637E"/>
                </a:solidFill>
                <a:latin typeface="Calibri"/>
                <a:ea typeface="Calibri"/>
                <a:cs typeface="Calibri"/>
              </a:rPr>
              <a:t>–</a:t>
            </a:r>
            <a:r>
              <a:rPr sz="2000" dirty="0">
                <a:solidFill>
                  <a:srgbClr val="63637E"/>
                </a:solidFill>
                <a:latin typeface="Calibri"/>
                <a:ea typeface="Calibri"/>
                <a:cs typeface="Calibri"/>
              </a:rPr>
              <a:t> </a:t>
            </a:r>
            <a:br>
              <a:rPr lang="en-US" sz="2000" dirty="0">
                <a:solidFill>
                  <a:srgbClr val="63637E"/>
                </a:solidFill>
                <a:latin typeface="Calibri"/>
                <a:ea typeface="Calibri"/>
                <a:cs typeface="Calibri"/>
              </a:rPr>
            </a:br>
            <a:r>
              <a:rPr lang="en-US" sz="2000" dirty="0">
                <a:solidFill>
                  <a:srgbClr val="63637E"/>
                </a:solidFill>
                <a:latin typeface="Calibri"/>
                <a:ea typeface="Calibri"/>
                <a:cs typeface="Calibri"/>
              </a:rPr>
              <a:t>1. Akshay Kumar Pandey (apandey1_be25@thapar.edu)</a:t>
            </a:r>
            <a:br>
              <a:rPr lang="en-US" sz="2000" dirty="0">
                <a:solidFill>
                  <a:srgbClr val="63637E"/>
                </a:solidFill>
                <a:latin typeface="Calibri"/>
                <a:ea typeface="Calibri"/>
                <a:cs typeface="Calibri"/>
              </a:rPr>
            </a:br>
            <a:r>
              <a:rPr lang="en-US" sz="2000" dirty="0">
                <a:solidFill>
                  <a:srgbClr val="63637E"/>
                </a:solidFill>
                <a:latin typeface="Calibri"/>
                <a:ea typeface="Calibri"/>
                <a:cs typeface="Calibri"/>
              </a:rPr>
              <a:t>2. Vartika </a:t>
            </a:r>
            <a:r>
              <a:rPr lang="en-US" sz="2000" dirty="0" err="1">
                <a:solidFill>
                  <a:srgbClr val="63637E"/>
                </a:solidFill>
                <a:latin typeface="Calibri"/>
                <a:ea typeface="Calibri"/>
                <a:cs typeface="Calibri"/>
              </a:rPr>
              <a:t>Kureel</a:t>
            </a:r>
            <a:r>
              <a:rPr lang="en-US" sz="2000" dirty="0">
                <a:solidFill>
                  <a:srgbClr val="63637E"/>
                </a:solidFill>
                <a:latin typeface="Calibri"/>
                <a:ea typeface="Calibri"/>
                <a:cs typeface="Calibri"/>
              </a:rPr>
              <a:t> (vkureel_be25@thapar.edu)</a:t>
            </a:r>
            <a:br>
              <a:rPr lang="en-US" sz="2000" dirty="0">
                <a:solidFill>
                  <a:srgbClr val="63637E"/>
                </a:solidFill>
                <a:latin typeface="Calibri"/>
                <a:ea typeface="Calibri"/>
                <a:cs typeface="Calibri"/>
              </a:rPr>
            </a:br>
            <a:r>
              <a:rPr lang="en-US" sz="2000" dirty="0">
                <a:solidFill>
                  <a:srgbClr val="63637E"/>
                </a:solidFill>
                <a:latin typeface="Calibri"/>
                <a:ea typeface="Calibri"/>
                <a:cs typeface="Calibri"/>
              </a:rPr>
              <a:t>3. </a:t>
            </a:r>
            <a:r>
              <a:rPr lang="en-US" sz="2000" dirty="0" err="1">
                <a:solidFill>
                  <a:srgbClr val="63637E"/>
                </a:solidFill>
                <a:latin typeface="Calibri"/>
                <a:ea typeface="Calibri"/>
                <a:cs typeface="Calibri"/>
              </a:rPr>
              <a:t>Aryamann</a:t>
            </a:r>
            <a:r>
              <a:rPr lang="en-US" sz="2000" dirty="0">
                <a:solidFill>
                  <a:srgbClr val="63637E"/>
                </a:solidFill>
                <a:latin typeface="Calibri"/>
                <a:ea typeface="Calibri"/>
                <a:cs typeface="Calibri"/>
              </a:rPr>
              <a:t> Sharma (asharma19@thapar.edu)</a:t>
            </a:r>
            <a:endParaRPr sz="2000" dirty="0">
              <a:solidFill>
                <a:srgbClr val="63637E"/>
              </a:solidFill>
              <a:latin typeface="Calibri"/>
              <a:ea typeface="Calibri"/>
              <a:cs typeface="Calibri"/>
            </a:endParaRPr>
          </a:p>
          <a:p>
            <a:pPr marL="177800" indent="-177800">
              <a:spcAft>
                <a:spcPts val="500"/>
              </a:spcAft>
              <a:buSzPct val="100000"/>
              <a:buChar char="•"/>
              <a:defRPr sz="1275">
                <a:solidFill>
                  <a:srgbClr val="63637E"/>
                </a:solidFill>
                <a:latin typeface="Calibri"/>
                <a:ea typeface="Calibri"/>
                <a:cs typeface="Calibri"/>
              </a:defRPr>
            </a:pPr>
            <a:r>
              <a:rPr sz="2000" dirty="0">
                <a:solidFill>
                  <a:srgbClr val="63637E"/>
                </a:solidFill>
                <a:latin typeface="Calibri"/>
                <a:ea typeface="Calibri"/>
                <a:cs typeface="Calibri"/>
              </a:rPr>
              <a:t>GitHub - github.com/</a:t>
            </a:r>
            <a:r>
              <a:rPr sz="2000" dirty="0" err="1">
                <a:solidFill>
                  <a:srgbClr val="63637E"/>
                </a:solidFill>
                <a:latin typeface="Calibri"/>
                <a:ea typeface="Calibri"/>
                <a:cs typeface="Calibri"/>
              </a:rPr>
              <a:t>GhxstOSINT</a:t>
            </a:r>
            <a:r>
              <a:rPr sz="2000" dirty="0">
                <a:solidFill>
                  <a:srgbClr val="63637E"/>
                </a:solidFill>
                <a:latin typeface="Calibri"/>
                <a:ea typeface="Calibri"/>
                <a:cs typeface="Calibri"/>
              </a:rPr>
              <a:t>/Samsung-Prism</a:t>
            </a:r>
          </a:p>
          <a:p>
            <a:pPr marL="177800" indent="-177800">
              <a:spcAft>
                <a:spcPts val="500"/>
              </a:spcAft>
              <a:buSzPct val="100000"/>
              <a:buChar char="•"/>
              <a:defRPr sz="1275">
                <a:solidFill>
                  <a:srgbClr val="63637E"/>
                </a:solidFill>
                <a:latin typeface="Calibri"/>
                <a:ea typeface="Calibri"/>
                <a:cs typeface="Calibri"/>
              </a:defRPr>
            </a:pPr>
            <a:r>
              <a:rPr sz="2000" dirty="0">
                <a:solidFill>
                  <a:srgbClr val="63637E"/>
                </a:solidFill>
                <a:latin typeface="Calibri"/>
                <a:ea typeface="Calibri"/>
                <a:cs typeface="Calibri"/>
              </a:rPr>
              <a:t>Demo </a:t>
            </a:r>
            <a:r>
              <a:rPr lang="en-IN" sz="2000" dirty="0">
                <a:solidFill>
                  <a:srgbClr val="63637E"/>
                </a:solidFill>
                <a:latin typeface="Calibri"/>
                <a:ea typeface="Calibri"/>
                <a:cs typeface="Calibri"/>
              </a:rPr>
              <a:t>–</a:t>
            </a:r>
            <a:r>
              <a:rPr sz="2000" dirty="0">
                <a:solidFill>
                  <a:srgbClr val="63637E"/>
                </a:solidFill>
                <a:latin typeface="Calibri"/>
                <a:ea typeface="Calibri"/>
                <a:cs typeface="Calibri"/>
              </a:rPr>
              <a:t> </a:t>
            </a:r>
            <a:r>
              <a:rPr lang="en-US" sz="2000" dirty="0">
                <a:solidFill>
                  <a:srgbClr val="63637E"/>
                </a:solidFill>
                <a:latin typeface="Calibri"/>
                <a:ea typeface="Calibri"/>
                <a:cs typeface="Calibri"/>
              </a:rPr>
              <a:t>added in the </a:t>
            </a:r>
            <a:r>
              <a:rPr lang="en-US" sz="2000" dirty="0" err="1">
                <a:solidFill>
                  <a:srgbClr val="63637E"/>
                </a:solidFill>
                <a:latin typeface="Calibri"/>
                <a:ea typeface="Calibri"/>
                <a:cs typeface="Calibri"/>
              </a:rPr>
              <a:t>github</a:t>
            </a:r>
            <a:r>
              <a:rPr lang="en-US" sz="2000" dirty="0">
                <a:solidFill>
                  <a:srgbClr val="63637E"/>
                </a:solidFill>
                <a:latin typeface="Calibri"/>
                <a:ea typeface="Calibri"/>
                <a:cs typeface="Calibri"/>
              </a:rPr>
              <a:t> repo.</a:t>
            </a:r>
            <a:endParaRPr sz="2000" dirty="0">
              <a:solidFill>
                <a:srgbClr val="63637E"/>
              </a:solidFill>
              <a:latin typeface="Calibri"/>
              <a:ea typeface="Calibri"/>
              <a:cs typeface="Calibri"/>
            </a:endParaRPr>
          </a:p>
        </p:txBody>
      </p:sp>
      <p:pic>
        <p:nvPicPr>
          <p:cNvPr id="15" name="Image 0"/>
          <p:cNvPicPr>
            <a:picLocks noChangeAspect="1"/>
          </p:cNvPicPr>
          <p:nvPr/>
        </p:nvPicPr>
        <p:blipFill>
          <a:blip r:embed="rId3"/>
          <a:stretch>
            <a:fillRect/>
          </a:stretch>
        </p:blipFill>
        <p:spPr>
          <a:xfrm>
            <a:off x="7472123" y="1143000"/>
            <a:ext cx="4572000" cy="4572000"/>
          </a:xfrm>
          <a:prstGeom prst="rect">
            <a:avLst/>
          </a:prstGeom>
        </p:spPr>
      </p:pic>
    </p:spTree>
    <p:extLst>
      <p:ext uri="{BB962C8B-B14F-4D97-AF65-F5344CB8AC3E}">
        <p14:creationId xmlns:p14="http://schemas.microsoft.com/office/powerpoint/2010/main" val="1999383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38200" y="238126"/>
            <a:ext cx="10515600" cy="1325563"/>
          </a:xfrm>
        </p:spPr>
        <p:txBody>
          <a:bodyPr>
            <a:normAutofit/>
          </a:bodyPr>
          <a:lstStyle/>
          <a:p>
            <a:pPr algn="ctr">
              <a:defRPr sz="3000" b="1">
                <a:solidFill>
                  <a:srgbClr val="704EA6"/>
                </a:solidFill>
                <a:latin typeface="Calibri"/>
                <a:ea typeface="Calibri"/>
                <a:cs typeface="Calibri"/>
              </a:defRPr>
            </a:pPr>
            <a:r>
              <a:rPr sz="3600" b="1" dirty="0">
                <a:solidFill>
                  <a:srgbClr val="704EA6"/>
                </a:solidFill>
                <a:latin typeface="Calibri"/>
                <a:ea typeface="Calibri"/>
                <a:cs typeface="Calibri"/>
              </a:rPr>
              <a:t>Theme 02 </a:t>
            </a:r>
            <a:r>
              <a:rPr lang="en-US" sz="3600" b="1" dirty="0">
                <a:solidFill>
                  <a:srgbClr val="704EA6"/>
                </a:solidFill>
                <a:latin typeface="Calibri"/>
                <a:ea typeface="Calibri"/>
                <a:cs typeface="Calibri"/>
              </a:rPr>
              <a:t>-</a:t>
            </a:r>
            <a:r>
              <a:rPr sz="3600" b="1" dirty="0">
                <a:solidFill>
                  <a:srgbClr val="704EA6"/>
                </a:solidFill>
                <a:latin typeface="Calibri"/>
                <a:ea typeface="Calibri"/>
                <a:cs typeface="Calibri"/>
              </a:rPr>
              <a:t> Smart Guided Troubleshooting</a:t>
            </a:r>
          </a:p>
        </p:txBody>
      </p:sp>
      <p:sp>
        <p:nvSpPr>
          <p:cNvPr id="4" name="Rectangle 3">
            <a:extLst>
              <a:ext uri="{FF2B5EF4-FFF2-40B4-BE49-F238E27FC236}">
                <a16:creationId xmlns:a16="http://schemas.microsoft.com/office/drawing/2014/main" id="{A5D9B232-54CA-4EE3-B662-3E94BC989F60}"/>
              </a:ext>
            </a:extLst>
          </p:cNvPr>
          <p:cNvSpPr>
            <a:spLocks noGrp="1"/>
          </p:cNvSpPr>
          <p:nvPr/>
        </p:nvSpPr>
        <p:spPr>
          <a:xfrm>
            <a:off x="857250" y="1404938"/>
            <a:ext cx="10805449" cy="1285875"/>
          </a:xfrm>
          <a:prstGeom prst="rect">
            <a:avLst/>
          </a:prstGeom>
          <a:noFill/>
          <a:ln w="0">
            <a:noFill/>
          </a:ln>
        </p:spPr>
        <p:txBody>
          <a:bodyPr>
            <a:noAutofit/>
          </a:bodyPr>
          <a:lstStyle/>
          <a:p>
            <a:pPr algn="l">
              <a:defRPr sz="1800" b="0">
                <a:solidFill>
                  <a:srgbClr val="14142B"/>
                </a:solidFill>
                <a:latin typeface="Calibri"/>
                <a:ea typeface="Calibri"/>
                <a:cs typeface="Calibri"/>
              </a:defRPr>
            </a:pPr>
            <a:r>
              <a:rPr sz="2400" b="0" dirty="0">
                <a:solidFill>
                  <a:srgbClr val="14142B"/>
                </a:solidFill>
                <a:latin typeface="Calibri"/>
                <a:ea typeface="Calibri"/>
                <a:cs typeface="Calibri"/>
              </a:rPr>
              <a:t>Customers describe several symptoms in everyday language. Support agents currently translate them into technical issues, assemble steps, and tell users where to navigate. The supplied brief estimates roughly 15 minutes per scenario across millions of interactions.</a:t>
            </a:r>
          </a:p>
        </p:txBody>
      </p:sp>
      <p:sp>
        <p:nvSpPr>
          <p:cNvPr id="5" name="Rectangle: Rounded Corners 4">
            <a:extLst>
              <a:ext uri="{FF2B5EF4-FFF2-40B4-BE49-F238E27FC236}">
                <a16:creationId xmlns:a16="http://schemas.microsoft.com/office/drawing/2014/main" id="{388ACEDD-1D7E-4265-97D6-45D361C240FF}"/>
              </a:ext>
            </a:extLst>
          </p:cNvPr>
          <p:cNvSpPr>
            <a:spLocks noGrp="1"/>
          </p:cNvSpPr>
          <p:nvPr/>
        </p:nvSpPr>
        <p:spPr>
          <a:xfrm>
            <a:off x="7620000" y="3679031"/>
            <a:ext cx="4042699" cy="1643062"/>
          </a:xfrm>
          <a:prstGeom prst="roundRect">
            <a:avLst>
              <a:gd name="adj" fmla="val 10000"/>
            </a:avLst>
          </a:prstGeom>
          <a:solidFill>
            <a:srgbClr val="F5F2FB"/>
          </a:solidFill>
          <a:ln w="11430">
            <a:solidFill>
              <a:srgbClr val="D9D3F0"/>
            </a:solidFill>
            <a:prstDash val="solid"/>
          </a:ln>
        </p:spPr>
        <p:txBody>
          <a:bodyPr>
            <a:normAutofit/>
          </a:bodyPr>
          <a:lstStyle/>
          <a:p>
            <a:pPr algn="ctr">
              <a:defRPr sz="1500" b="1">
                <a:solidFill>
                  <a:srgbClr val="14142B"/>
                </a:solidFill>
                <a:latin typeface="Calibri"/>
                <a:ea typeface="Calibri"/>
                <a:cs typeface="Calibri"/>
              </a:defRPr>
            </a:pPr>
            <a:r>
              <a:rPr sz="2400" b="1" dirty="0">
                <a:solidFill>
                  <a:srgbClr val="14142B"/>
                </a:solidFill>
                <a:latin typeface="Calibri"/>
                <a:ea typeface="Calibri"/>
                <a:cs typeface="Calibri"/>
              </a:rPr>
              <a:t>Required output</a:t>
            </a:r>
          </a:p>
          <a:p>
            <a:pPr algn="ctr">
              <a:defRPr sz="1500" b="1">
                <a:solidFill>
                  <a:srgbClr val="14142B"/>
                </a:solidFill>
                <a:latin typeface="Calibri"/>
                <a:ea typeface="Calibri"/>
                <a:cs typeface="Calibri"/>
              </a:defRPr>
            </a:pPr>
            <a:r>
              <a:rPr sz="2000" b="1" dirty="0">
                <a:solidFill>
                  <a:srgbClr val="14142B"/>
                </a:solidFill>
                <a:latin typeface="Calibri"/>
                <a:ea typeface="Calibri"/>
                <a:cs typeface="Calibri"/>
              </a:rPr>
              <a:t>REST API with ordered JSON actions, steps, and exact in-app Settings </a:t>
            </a:r>
            <a:r>
              <a:rPr sz="2000" b="1" dirty="0" err="1">
                <a:solidFill>
                  <a:srgbClr val="14142B"/>
                </a:solidFill>
                <a:latin typeface="Calibri"/>
                <a:ea typeface="Calibri"/>
                <a:cs typeface="Calibri"/>
              </a:rPr>
              <a:t>deeplinks</a:t>
            </a:r>
            <a:endParaRPr sz="2000" b="1" dirty="0">
              <a:solidFill>
                <a:srgbClr val="14142B"/>
              </a:solidFill>
              <a:latin typeface="Calibri"/>
              <a:ea typeface="Calibri"/>
              <a:cs typeface="Calibri"/>
            </a:endParaRPr>
          </a:p>
        </p:txBody>
      </p:sp>
      <p:sp>
        <p:nvSpPr>
          <p:cNvPr id="6" name="Rectangle 5">
            <a:extLst>
              <a:ext uri="{FF2B5EF4-FFF2-40B4-BE49-F238E27FC236}">
                <a16:creationId xmlns:a16="http://schemas.microsoft.com/office/drawing/2014/main" id="{A0839AFD-A1B2-4C4E-8AFA-7DD4028E1C16}"/>
              </a:ext>
            </a:extLst>
          </p:cNvPr>
          <p:cNvSpPr>
            <a:spLocks noGrp="1"/>
          </p:cNvSpPr>
          <p:nvPr/>
        </p:nvSpPr>
        <p:spPr>
          <a:xfrm>
            <a:off x="857249" y="3381375"/>
            <a:ext cx="4582851" cy="381000"/>
          </a:xfrm>
          <a:prstGeom prst="rect">
            <a:avLst/>
          </a:prstGeom>
          <a:noFill/>
          <a:ln w="0">
            <a:noFill/>
          </a:ln>
        </p:spPr>
        <p:txBody>
          <a:bodyPr>
            <a:noAutofit/>
          </a:bodyPr>
          <a:lstStyle/>
          <a:p>
            <a:pPr algn="l">
              <a:defRPr sz="1725" b="1">
                <a:solidFill>
                  <a:srgbClr val="704EA6"/>
                </a:solidFill>
                <a:latin typeface="Calibri"/>
                <a:ea typeface="Calibri"/>
                <a:cs typeface="Calibri"/>
              </a:defRPr>
            </a:pPr>
            <a:r>
              <a:rPr sz="2800" b="1" dirty="0">
                <a:solidFill>
                  <a:srgbClr val="704EA6"/>
                </a:solidFill>
                <a:latin typeface="Calibri"/>
                <a:ea typeface="Calibri"/>
                <a:cs typeface="Calibri"/>
              </a:rPr>
              <a:t>Four non-negotiable targets</a:t>
            </a:r>
            <a:r>
              <a:rPr lang="en-US" sz="2800" b="1" dirty="0">
                <a:solidFill>
                  <a:srgbClr val="704EA6"/>
                </a:solidFill>
                <a:latin typeface="Calibri"/>
                <a:ea typeface="Calibri"/>
                <a:cs typeface="Calibri"/>
              </a:rPr>
              <a:t>:</a:t>
            </a:r>
            <a:endParaRPr sz="2800" b="1" dirty="0">
              <a:solidFill>
                <a:srgbClr val="704EA6"/>
              </a:solidFill>
              <a:latin typeface="Calibri"/>
              <a:ea typeface="Calibri"/>
              <a:cs typeface="Calibri"/>
            </a:endParaRPr>
          </a:p>
        </p:txBody>
      </p:sp>
      <p:sp>
        <p:nvSpPr>
          <p:cNvPr id="7" name="Rectangle 6">
            <a:extLst>
              <a:ext uri="{FF2B5EF4-FFF2-40B4-BE49-F238E27FC236}">
                <a16:creationId xmlns:a16="http://schemas.microsoft.com/office/drawing/2014/main" id="{10817745-C506-44DA-98D0-6819BE38FBDC}"/>
              </a:ext>
            </a:extLst>
          </p:cNvPr>
          <p:cNvSpPr>
            <a:spLocks noGrp="1"/>
          </p:cNvSpPr>
          <p:nvPr/>
        </p:nvSpPr>
        <p:spPr>
          <a:xfrm>
            <a:off x="857250" y="3857625"/>
            <a:ext cx="5879216" cy="1285875"/>
          </a:xfrm>
          <a:prstGeom prst="rect">
            <a:avLst/>
          </a:prstGeom>
          <a:noFill/>
          <a:ln w="0">
            <a:noFill/>
          </a:ln>
        </p:spPr>
        <p:txBody>
          <a:bodyPr>
            <a:noAutofit/>
          </a:bodyPr>
          <a:lstStyle/>
          <a:p>
            <a:pPr algn="l">
              <a:defRPr sz="1650" b="0">
                <a:solidFill>
                  <a:srgbClr val="4E5068"/>
                </a:solidFill>
                <a:latin typeface="Calibri"/>
                <a:ea typeface="Calibri"/>
                <a:cs typeface="Calibri"/>
              </a:defRPr>
            </a:pPr>
            <a:r>
              <a:rPr sz="2400" b="0" dirty="0">
                <a:solidFill>
                  <a:srgbClr val="4E5068"/>
                </a:solidFill>
                <a:latin typeface="Calibri"/>
                <a:ea typeface="Calibri"/>
                <a:cs typeface="Calibri"/>
              </a:rPr>
              <a:t>1  Query enrichment for vague complaints</a:t>
            </a:r>
          </a:p>
          <a:p>
            <a:pPr algn="l">
              <a:defRPr sz="1650" b="0">
                <a:solidFill>
                  <a:srgbClr val="4E5068"/>
                </a:solidFill>
                <a:latin typeface="Calibri"/>
                <a:ea typeface="Calibri"/>
                <a:cs typeface="Calibri"/>
              </a:defRPr>
            </a:pPr>
            <a:r>
              <a:rPr sz="2400" b="0" dirty="0">
                <a:solidFill>
                  <a:srgbClr val="4E5068"/>
                </a:solidFill>
                <a:latin typeface="Calibri"/>
                <a:ea typeface="Calibri"/>
                <a:cs typeface="Calibri"/>
              </a:rPr>
              <a:t>2  Two-stage structure and mapping pipeline</a:t>
            </a:r>
          </a:p>
          <a:p>
            <a:pPr algn="l">
              <a:defRPr sz="1650" b="0">
                <a:solidFill>
                  <a:srgbClr val="4E5068"/>
                </a:solidFill>
                <a:latin typeface="Calibri"/>
                <a:ea typeface="Calibri"/>
                <a:cs typeface="Calibri"/>
              </a:defRPr>
            </a:pPr>
            <a:r>
              <a:rPr sz="2400" b="0" dirty="0">
                <a:solidFill>
                  <a:srgbClr val="4E5068"/>
                </a:solidFill>
                <a:latin typeface="Calibri"/>
                <a:ea typeface="Calibri"/>
                <a:cs typeface="Calibri"/>
              </a:rPr>
              <a:t>3  Reusable catalog design for 10k+ scenarios</a:t>
            </a:r>
          </a:p>
          <a:p>
            <a:pPr algn="l">
              <a:defRPr sz="1650" b="0">
                <a:solidFill>
                  <a:srgbClr val="4E5068"/>
                </a:solidFill>
                <a:latin typeface="Calibri"/>
                <a:ea typeface="Calibri"/>
                <a:cs typeface="Calibri"/>
              </a:defRPr>
            </a:pPr>
            <a:r>
              <a:rPr sz="2400" b="0" dirty="0">
                <a:solidFill>
                  <a:srgbClr val="4E5068"/>
                </a:solidFill>
                <a:latin typeface="Calibri"/>
                <a:ea typeface="Calibri"/>
                <a:cs typeface="Calibri"/>
              </a:rPr>
              <a:t>4  </a:t>
            </a:r>
            <a:r>
              <a:rPr sz="2400" b="0" dirty="0" err="1">
                <a:solidFill>
                  <a:srgbClr val="4E5068"/>
                </a:solidFill>
                <a:latin typeface="Calibri"/>
                <a:ea typeface="Calibri"/>
                <a:cs typeface="Calibri"/>
              </a:rPr>
              <a:t>Prevalidated</a:t>
            </a:r>
            <a:r>
              <a:rPr sz="2400" b="0" dirty="0">
                <a:solidFill>
                  <a:srgbClr val="4E5068"/>
                </a:solidFill>
                <a:latin typeface="Calibri"/>
                <a:ea typeface="Calibri"/>
                <a:cs typeface="Calibri"/>
              </a:rPr>
              <a:t> cache at or below 300 </a:t>
            </a:r>
            <a:r>
              <a:rPr sz="2400" b="0" dirty="0" err="1">
                <a:solidFill>
                  <a:srgbClr val="4E5068"/>
                </a:solidFill>
                <a:latin typeface="Calibri"/>
                <a:ea typeface="Calibri"/>
                <a:cs typeface="Calibri"/>
              </a:rPr>
              <a:t>ms</a:t>
            </a:r>
            <a:r>
              <a:rPr sz="2400" b="0" dirty="0">
                <a:solidFill>
                  <a:srgbClr val="4E5068"/>
                </a:solidFill>
                <a:latin typeface="Calibri"/>
                <a:ea typeface="Calibri"/>
                <a:cs typeface="Calibri"/>
              </a:rPr>
              <a:t> P95</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pPr algn="ctr">
              <a:defRPr sz="3000" b="1">
                <a:solidFill>
                  <a:srgbClr val="704EA6"/>
                </a:solidFill>
                <a:latin typeface="Calibri"/>
                <a:ea typeface="Calibri"/>
                <a:cs typeface="Calibri"/>
              </a:defRPr>
            </a:pPr>
            <a:r>
              <a:rPr sz="3600" b="1" dirty="0">
                <a:solidFill>
                  <a:srgbClr val="704EA6"/>
                </a:solidFill>
                <a:latin typeface="Calibri"/>
                <a:ea typeface="Calibri"/>
                <a:cs typeface="Calibri"/>
              </a:rPr>
              <a:t>Existing approaches leave safety and scale gaps</a:t>
            </a:r>
          </a:p>
        </p:txBody>
      </p:sp>
      <p:sp>
        <p:nvSpPr>
          <p:cNvPr id="4" name="Rectangle 3">
            <a:extLst>
              <a:ext uri="{FF2B5EF4-FFF2-40B4-BE49-F238E27FC236}">
                <a16:creationId xmlns:a16="http://schemas.microsoft.com/office/drawing/2014/main" id="{B76B003D-635F-4537-A445-FB0784B2E58B}"/>
              </a:ext>
            </a:extLst>
          </p:cNvPr>
          <p:cNvSpPr>
            <a:spLocks noGrp="1"/>
          </p:cNvSpPr>
          <p:nvPr/>
        </p:nvSpPr>
        <p:spPr>
          <a:xfrm>
            <a:off x="611443" y="1783556"/>
            <a:ext cx="3598926" cy="361950"/>
          </a:xfrm>
          <a:prstGeom prst="rect">
            <a:avLst/>
          </a:prstGeom>
          <a:noFill/>
          <a:ln w="0">
            <a:noFill/>
          </a:ln>
        </p:spPr>
        <p:txBody>
          <a:bodyPr>
            <a:noAutofit/>
          </a:bodyPr>
          <a:lstStyle/>
          <a:p>
            <a:pPr algn="ctr">
              <a:defRPr sz="1875" b="1">
                <a:solidFill>
                  <a:srgbClr val="704EA6"/>
                </a:solidFill>
                <a:latin typeface="Calibri"/>
                <a:ea typeface="Calibri"/>
                <a:cs typeface="Calibri"/>
              </a:defRPr>
            </a:pPr>
            <a:r>
              <a:rPr sz="2400" b="1" dirty="0">
                <a:solidFill>
                  <a:srgbClr val="704EA6"/>
                </a:solidFill>
                <a:latin typeface="Calibri"/>
                <a:ea typeface="Calibri"/>
                <a:cs typeface="Calibri"/>
              </a:rPr>
              <a:t>Manual support workflow</a:t>
            </a:r>
          </a:p>
        </p:txBody>
      </p:sp>
      <p:sp>
        <p:nvSpPr>
          <p:cNvPr id="19" name="Rectangle: Rounded Corners 18">
            <a:extLst>
              <a:ext uri="{FF2B5EF4-FFF2-40B4-BE49-F238E27FC236}">
                <a16:creationId xmlns:a16="http://schemas.microsoft.com/office/drawing/2014/main" id="{A06D1841-1937-5A6E-F97B-A0B2A6B7C7E5}"/>
              </a:ext>
            </a:extLst>
          </p:cNvPr>
          <p:cNvSpPr>
            <a:spLocks noGrp="1"/>
          </p:cNvSpPr>
          <p:nvPr/>
        </p:nvSpPr>
        <p:spPr>
          <a:xfrm>
            <a:off x="857249" y="2259806"/>
            <a:ext cx="3143249" cy="1312069"/>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0">
                <a:solidFill>
                  <a:srgbClr val="14142B"/>
                </a:solidFill>
                <a:latin typeface="Calibri"/>
                <a:ea typeface="Calibri"/>
                <a:cs typeface="Calibri"/>
              </a:defRPr>
            </a:pPr>
            <a:endParaRPr sz="1350" b="0" dirty="0">
              <a:solidFill>
                <a:srgbClr val="14142B"/>
              </a:solidFill>
              <a:latin typeface="Calibri"/>
              <a:ea typeface="Calibri"/>
              <a:cs typeface="Calibri"/>
            </a:endParaRPr>
          </a:p>
        </p:txBody>
      </p:sp>
      <p:sp>
        <p:nvSpPr>
          <p:cNvPr id="5" name="Rectangle 4">
            <a:extLst>
              <a:ext uri="{FF2B5EF4-FFF2-40B4-BE49-F238E27FC236}">
                <a16:creationId xmlns:a16="http://schemas.microsoft.com/office/drawing/2014/main" id="{24E0713D-B7DB-4EBB-BA19-DF3D3EE67EB4}"/>
              </a:ext>
            </a:extLst>
          </p:cNvPr>
          <p:cNvSpPr>
            <a:spLocks noGrp="1"/>
          </p:cNvSpPr>
          <p:nvPr/>
        </p:nvSpPr>
        <p:spPr>
          <a:xfrm>
            <a:off x="876296" y="2306009"/>
            <a:ext cx="3143250" cy="1190622"/>
          </a:xfrm>
          <a:prstGeom prst="rect">
            <a:avLst/>
          </a:prstGeom>
          <a:noFill/>
          <a:ln w="0">
            <a:noFill/>
          </a:ln>
        </p:spPr>
        <p:txBody>
          <a:bodyPr>
            <a:normAutofit lnSpcReduction="10000"/>
          </a:bodyPr>
          <a:lstStyle/>
          <a:p>
            <a:pPr algn="ctr">
              <a:defRPr sz="1500" b="0">
                <a:solidFill>
                  <a:srgbClr val="4E5068"/>
                </a:solidFill>
                <a:latin typeface="Calibri"/>
                <a:ea typeface="Calibri"/>
                <a:cs typeface="Calibri"/>
              </a:defRPr>
            </a:pPr>
            <a:r>
              <a:rPr sz="1600" b="0" dirty="0">
                <a:solidFill>
                  <a:srgbClr val="4E5068"/>
                </a:solidFill>
                <a:latin typeface="Calibri"/>
                <a:ea typeface="Calibri"/>
                <a:cs typeface="Calibri"/>
              </a:rPr>
              <a:t>Agents search unstructured articles, interpret symptoms, order steps, then explain Settings navigation. The guide reports about 15 minutes per scenario.</a:t>
            </a:r>
          </a:p>
        </p:txBody>
      </p:sp>
      <p:sp>
        <p:nvSpPr>
          <p:cNvPr id="6" name="Rectangle 5">
            <a:extLst>
              <a:ext uri="{FF2B5EF4-FFF2-40B4-BE49-F238E27FC236}">
                <a16:creationId xmlns:a16="http://schemas.microsoft.com/office/drawing/2014/main" id="{D78D9ED0-6DF9-4F23-BE13-F42C1EB24885}"/>
              </a:ext>
            </a:extLst>
          </p:cNvPr>
          <p:cNvSpPr>
            <a:spLocks noGrp="1"/>
          </p:cNvSpPr>
          <p:nvPr/>
        </p:nvSpPr>
        <p:spPr>
          <a:xfrm>
            <a:off x="4278568" y="1783556"/>
            <a:ext cx="3598926" cy="361950"/>
          </a:xfrm>
          <a:prstGeom prst="rect">
            <a:avLst/>
          </a:prstGeom>
          <a:noFill/>
          <a:ln w="0">
            <a:noFill/>
          </a:ln>
        </p:spPr>
        <p:txBody>
          <a:bodyPr>
            <a:noAutofit/>
          </a:bodyPr>
          <a:lstStyle/>
          <a:p>
            <a:pPr algn="ctr">
              <a:defRPr sz="1875" b="1">
                <a:solidFill>
                  <a:srgbClr val="704EA6"/>
                </a:solidFill>
                <a:latin typeface="Calibri"/>
                <a:ea typeface="Calibri"/>
                <a:cs typeface="Calibri"/>
              </a:defRPr>
            </a:pPr>
            <a:r>
              <a:rPr sz="2400" b="1" dirty="0">
                <a:solidFill>
                  <a:srgbClr val="704EA6"/>
                </a:solidFill>
                <a:latin typeface="Calibri"/>
                <a:ea typeface="Calibri"/>
                <a:cs typeface="Calibri"/>
              </a:rPr>
              <a:t>Generic LLM answer</a:t>
            </a:r>
          </a:p>
        </p:txBody>
      </p:sp>
      <p:sp>
        <p:nvSpPr>
          <p:cNvPr id="15" name="Rectangle: Rounded Corners 14">
            <a:extLst>
              <a:ext uri="{FF2B5EF4-FFF2-40B4-BE49-F238E27FC236}">
                <a16:creationId xmlns:a16="http://schemas.microsoft.com/office/drawing/2014/main" id="{732981E5-A3CF-452C-FF06-4DDE96E3F53F}"/>
              </a:ext>
            </a:extLst>
          </p:cNvPr>
          <p:cNvSpPr>
            <a:spLocks noGrp="1"/>
          </p:cNvSpPr>
          <p:nvPr/>
        </p:nvSpPr>
        <p:spPr>
          <a:xfrm>
            <a:off x="4543423" y="2240755"/>
            <a:ext cx="3143250" cy="1331115"/>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0">
                <a:solidFill>
                  <a:srgbClr val="14142B"/>
                </a:solidFill>
                <a:latin typeface="Calibri"/>
                <a:ea typeface="Calibri"/>
                <a:cs typeface="Calibri"/>
              </a:defRPr>
            </a:pPr>
            <a:endParaRPr sz="1350" b="0" dirty="0">
              <a:solidFill>
                <a:srgbClr val="14142B"/>
              </a:solidFill>
              <a:latin typeface="Calibri"/>
              <a:ea typeface="Calibri"/>
              <a:cs typeface="Calibri"/>
            </a:endParaRPr>
          </a:p>
        </p:txBody>
      </p:sp>
      <p:sp>
        <p:nvSpPr>
          <p:cNvPr id="7" name="Rectangle 6">
            <a:extLst>
              <a:ext uri="{FF2B5EF4-FFF2-40B4-BE49-F238E27FC236}">
                <a16:creationId xmlns:a16="http://schemas.microsoft.com/office/drawing/2014/main" id="{C72214EE-364A-4E1D-B22E-F3EE3A518F36}"/>
              </a:ext>
            </a:extLst>
          </p:cNvPr>
          <p:cNvSpPr>
            <a:spLocks noGrp="1"/>
          </p:cNvSpPr>
          <p:nvPr/>
        </p:nvSpPr>
        <p:spPr>
          <a:xfrm>
            <a:off x="4524375" y="2363542"/>
            <a:ext cx="3143250" cy="1104592"/>
          </a:xfrm>
          <a:prstGeom prst="rect">
            <a:avLst/>
          </a:prstGeom>
          <a:noFill/>
          <a:ln w="0">
            <a:noFill/>
          </a:ln>
        </p:spPr>
        <p:txBody>
          <a:bodyPr>
            <a:normAutofit/>
          </a:bodyPr>
          <a:lstStyle/>
          <a:p>
            <a:pPr algn="ctr">
              <a:defRPr sz="1500" b="0">
                <a:solidFill>
                  <a:srgbClr val="4E5068"/>
                </a:solidFill>
                <a:latin typeface="Calibri"/>
                <a:ea typeface="Calibri"/>
                <a:cs typeface="Calibri"/>
              </a:defRPr>
            </a:pPr>
            <a:r>
              <a:rPr sz="1600" b="0" dirty="0">
                <a:solidFill>
                  <a:srgbClr val="4E5068"/>
                </a:solidFill>
                <a:latin typeface="Calibri"/>
                <a:ea typeface="Calibri"/>
                <a:cs typeface="Calibri"/>
              </a:rPr>
              <a:t>Fluent text can invent steps, leak web links, choose a parent Settings screen, or generate a URI that never existed in the catalog.</a:t>
            </a:r>
          </a:p>
        </p:txBody>
      </p:sp>
      <p:sp>
        <p:nvSpPr>
          <p:cNvPr id="17" name="Rectangle: Rounded Corners 16">
            <a:extLst>
              <a:ext uri="{FF2B5EF4-FFF2-40B4-BE49-F238E27FC236}">
                <a16:creationId xmlns:a16="http://schemas.microsoft.com/office/drawing/2014/main" id="{29107ACE-BAEA-5EE8-E1E6-51193E075534}"/>
              </a:ext>
            </a:extLst>
          </p:cNvPr>
          <p:cNvSpPr>
            <a:spLocks noGrp="1"/>
          </p:cNvSpPr>
          <p:nvPr/>
        </p:nvSpPr>
        <p:spPr>
          <a:xfrm>
            <a:off x="8229597" y="2259806"/>
            <a:ext cx="3143249" cy="1312064"/>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0">
                <a:solidFill>
                  <a:srgbClr val="14142B"/>
                </a:solidFill>
                <a:latin typeface="Calibri"/>
                <a:ea typeface="Calibri"/>
                <a:cs typeface="Calibri"/>
              </a:defRPr>
            </a:pPr>
            <a:endParaRPr sz="1350" b="0" dirty="0">
              <a:solidFill>
                <a:srgbClr val="14142B"/>
              </a:solidFill>
              <a:latin typeface="Calibri"/>
              <a:ea typeface="Calibri"/>
              <a:cs typeface="Calibri"/>
            </a:endParaRPr>
          </a:p>
        </p:txBody>
      </p:sp>
      <p:sp>
        <p:nvSpPr>
          <p:cNvPr id="8" name="Rectangle 7">
            <a:extLst>
              <a:ext uri="{FF2B5EF4-FFF2-40B4-BE49-F238E27FC236}">
                <a16:creationId xmlns:a16="http://schemas.microsoft.com/office/drawing/2014/main" id="{A45CBBFD-6201-49C2-9CFE-D6F01E884BDB}"/>
              </a:ext>
            </a:extLst>
          </p:cNvPr>
          <p:cNvSpPr>
            <a:spLocks noGrp="1"/>
          </p:cNvSpPr>
          <p:nvPr/>
        </p:nvSpPr>
        <p:spPr>
          <a:xfrm>
            <a:off x="7945693" y="1783556"/>
            <a:ext cx="3598926" cy="361950"/>
          </a:xfrm>
          <a:prstGeom prst="rect">
            <a:avLst/>
          </a:prstGeom>
          <a:noFill/>
          <a:ln w="0">
            <a:noFill/>
          </a:ln>
        </p:spPr>
        <p:txBody>
          <a:bodyPr>
            <a:noAutofit/>
          </a:bodyPr>
          <a:lstStyle/>
          <a:p>
            <a:pPr algn="ctr">
              <a:defRPr sz="1875" b="1">
                <a:solidFill>
                  <a:srgbClr val="0D6A4B"/>
                </a:solidFill>
                <a:latin typeface="Calibri"/>
                <a:ea typeface="Calibri"/>
                <a:cs typeface="Calibri"/>
              </a:defRPr>
            </a:pPr>
            <a:r>
              <a:rPr sz="2400" b="1" dirty="0" err="1">
                <a:solidFill>
                  <a:srgbClr val="0D6A4B"/>
                </a:solidFill>
                <a:latin typeface="Calibri"/>
                <a:ea typeface="Calibri"/>
                <a:cs typeface="Calibri"/>
              </a:rPr>
              <a:t>GuideRail</a:t>
            </a:r>
            <a:r>
              <a:rPr sz="2400" b="1" dirty="0">
                <a:solidFill>
                  <a:srgbClr val="0D6A4B"/>
                </a:solidFill>
                <a:latin typeface="Calibri"/>
                <a:ea typeface="Calibri"/>
                <a:cs typeface="Calibri"/>
              </a:rPr>
              <a:t> boundary</a:t>
            </a:r>
          </a:p>
        </p:txBody>
      </p:sp>
      <p:sp>
        <p:nvSpPr>
          <p:cNvPr id="9" name="Rectangle 8">
            <a:extLst>
              <a:ext uri="{FF2B5EF4-FFF2-40B4-BE49-F238E27FC236}">
                <a16:creationId xmlns:a16="http://schemas.microsoft.com/office/drawing/2014/main" id="{909CC3C0-AE26-4C6E-A8DD-D03ACB47C4D6}"/>
              </a:ext>
            </a:extLst>
          </p:cNvPr>
          <p:cNvSpPr>
            <a:spLocks noGrp="1"/>
          </p:cNvSpPr>
          <p:nvPr/>
        </p:nvSpPr>
        <p:spPr>
          <a:xfrm>
            <a:off x="8229597" y="2379174"/>
            <a:ext cx="3143249" cy="1073328"/>
          </a:xfrm>
          <a:prstGeom prst="rect">
            <a:avLst/>
          </a:prstGeom>
          <a:noFill/>
          <a:ln w="0">
            <a:noFill/>
          </a:ln>
        </p:spPr>
        <p:txBody>
          <a:bodyPr>
            <a:normAutofit/>
          </a:bodyPr>
          <a:lstStyle/>
          <a:p>
            <a:pPr algn="ctr">
              <a:defRPr sz="1500" b="0">
                <a:solidFill>
                  <a:srgbClr val="4E5068"/>
                </a:solidFill>
                <a:latin typeface="Calibri"/>
                <a:ea typeface="Calibri"/>
                <a:cs typeface="Calibri"/>
              </a:defRPr>
            </a:pPr>
            <a:r>
              <a:rPr sz="1600" b="0" dirty="0">
                <a:solidFill>
                  <a:srgbClr val="4E5068"/>
                </a:solidFill>
                <a:latin typeface="Calibri"/>
                <a:ea typeface="Calibri"/>
                <a:cs typeface="Calibri"/>
              </a:rPr>
              <a:t>The model may propose. Retrieval and deterministic validators decide what can leave the API or enter the fast cache.</a:t>
            </a:r>
          </a:p>
        </p:txBody>
      </p:sp>
      <p:sp>
        <p:nvSpPr>
          <p:cNvPr id="10" name="Straight Connector 9">
            <a:extLst>
              <a:ext uri="{FF2B5EF4-FFF2-40B4-BE49-F238E27FC236}">
                <a16:creationId xmlns:a16="http://schemas.microsoft.com/office/drawing/2014/main" id="{55646FF1-CF79-411D-9F28-9A95BDE67A56}"/>
              </a:ext>
            </a:extLst>
          </p:cNvPr>
          <p:cNvSpPr>
            <a:spLocks noGrp="1"/>
          </p:cNvSpPr>
          <p:nvPr/>
        </p:nvSpPr>
        <p:spPr>
          <a:xfrm>
            <a:off x="857250" y="4333875"/>
            <a:ext cx="10382250" cy="0"/>
          </a:xfrm>
          <a:prstGeom prst="line">
            <a:avLst/>
          </a:prstGeom>
          <a:noFill/>
          <a:ln w="19050">
            <a:solidFill>
              <a:srgbClr val="14142B"/>
            </a:solidFill>
            <a:prstDash val="solid"/>
          </a:ln>
        </p:spPr>
        <p:txBody>
          <a:bodyPr/>
          <a:lstStyle/>
          <a:p>
            <a:endParaRPr lang="en-IN"/>
          </a:p>
        </p:txBody>
      </p:sp>
      <p:sp>
        <p:nvSpPr>
          <p:cNvPr id="11" name="Rectangle 10">
            <a:extLst>
              <a:ext uri="{FF2B5EF4-FFF2-40B4-BE49-F238E27FC236}">
                <a16:creationId xmlns:a16="http://schemas.microsoft.com/office/drawing/2014/main" id="{D4B2AC22-498B-4B88-9744-CCB65C676D57}"/>
              </a:ext>
            </a:extLst>
          </p:cNvPr>
          <p:cNvSpPr>
            <a:spLocks noGrp="1"/>
          </p:cNvSpPr>
          <p:nvPr/>
        </p:nvSpPr>
        <p:spPr>
          <a:xfrm>
            <a:off x="857250" y="4619625"/>
            <a:ext cx="10096500" cy="762000"/>
          </a:xfrm>
          <a:prstGeom prst="rect">
            <a:avLst/>
          </a:prstGeom>
          <a:noFill/>
          <a:ln w="0">
            <a:noFill/>
          </a:ln>
        </p:spPr>
        <p:txBody>
          <a:bodyPr>
            <a:normAutofit/>
          </a:bodyPr>
          <a:lstStyle/>
          <a:p>
            <a:pPr algn="ctr">
              <a:defRPr sz="1725" b="1">
                <a:solidFill>
                  <a:srgbClr val="14142B"/>
                </a:solidFill>
                <a:latin typeface="Calibri"/>
                <a:ea typeface="Calibri"/>
                <a:cs typeface="Calibri"/>
              </a:defRPr>
            </a:pPr>
            <a:r>
              <a:rPr sz="1725" b="1" dirty="0">
                <a:solidFill>
                  <a:srgbClr val="14142B"/>
                </a:solidFill>
                <a:latin typeface="Calibri"/>
                <a:ea typeface="Calibri"/>
                <a:cs typeface="Calibri"/>
              </a:rPr>
              <a:t>Design consequence: low confidence returns a named </a:t>
            </a:r>
            <a:r>
              <a:rPr sz="1725" b="1" dirty="0" err="1">
                <a:solidFill>
                  <a:srgbClr val="14142B"/>
                </a:solidFill>
                <a:latin typeface="Calibri"/>
                <a:ea typeface="Calibri"/>
                <a:cs typeface="Calibri"/>
              </a:rPr>
              <a:t>no_match</a:t>
            </a:r>
            <a:r>
              <a:rPr sz="1725" b="1" dirty="0">
                <a:solidFill>
                  <a:srgbClr val="14142B"/>
                </a:solidFill>
                <a:latin typeface="Calibri"/>
                <a:ea typeface="Calibri"/>
                <a:cs typeface="Calibri"/>
              </a:rPr>
              <a:t> or </a:t>
            </a:r>
            <a:r>
              <a:rPr sz="1725" b="1" dirty="0" err="1">
                <a:solidFill>
                  <a:srgbClr val="14142B"/>
                </a:solidFill>
                <a:latin typeface="Calibri"/>
                <a:ea typeface="Calibri"/>
                <a:cs typeface="Calibri"/>
              </a:rPr>
              <a:t>no_siis_context</a:t>
            </a:r>
            <a:r>
              <a:rPr sz="1725" b="1" dirty="0">
                <a:solidFill>
                  <a:srgbClr val="14142B"/>
                </a:solidFill>
                <a:latin typeface="Calibri"/>
                <a:ea typeface="Calibri"/>
                <a:cs typeface="Calibri"/>
              </a:rPr>
              <a:t> fallback instead of guessed remediation.</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5" name="Straight Arrow Connector 14"/>
          <p:cNvCxnSpPr>
            <a:cxnSpLocks/>
            <a:stCxn id="7" idx="3"/>
            <a:endCxn id="8" idx="1"/>
          </p:cNvCxnSpPr>
          <p:nvPr/>
        </p:nvCxnSpPr>
        <p:spPr>
          <a:xfrm flipV="1">
            <a:off x="9048750" y="2651327"/>
            <a:ext cx="381000" cy="63299"/>
          </a:xfrm>
          <a:prstGeom prst="straightConnector1">
            <a:avLst/>
          </a:prstGeom>
          <a:ln w="19050">
            <a:solidFill>
              <a:srgbClr val="704EA6"/>
            </a:solidFill>
            <a:prstDash val="solid"/>
            <a:tailEnd type="triangle" w="sm" len="sm"/>
          </a:ln>
        </p:spPr>
      </p:cxnSp>
      <p:cxnSp>
        <p:nvCxnSpPr>
          <p:cNvPr id="16" name="Straight Arrow Connector 15"/>
          <p:cNvCxnSpPr>
            <a:cxnSpLocks/>
            <a:stCxn id="6" idx="3"/>
            <a:endCxn id="7" idx="1"/>
          </p:cNvCxnSpPr>
          <p:nvPr/>
        </p:nvCxnSpPr>
        <p:spPr>
          <a:xfrm>
            <a:off x="6858000" y="2714626"/>
            <a:ext cx="381000" cy="0"/>
          </a:xfrm>
          <a:prstGeom prst="straightConnector1">
            <a:avLst/>
          </a:prstGeom>
          <a:ln w="19050">
            <a:solidFill>
              <a:srgbClr val="704EA6"/>
            </a:solidFill>
            <a:prstDash val="solid"/>
            <a:tailEnd type="triangle" w="sm" len="sm"/>
          </a:ln>
        </p:spPr>
      </p:cxnSp>
      <p:cxnSp>
        <p:nvCxnSpPr>
          <p:cNvPr id="17" name="Straight Arrow Connector 16"/>
          <p:cNvCxnSpPr>
            <a:cxnSpLocks/>
            <a:stCxn id="5" idx="3"/>
            <a:endCxn id="6" idx="1"/>
          </p:cNvCxnSpPr>
          <p:nvPr/>
        </p:nvCxnSpPr>
        <p:spPr>
          <a:xfrm>
            <a:off x="4667250" y="2714626"/>
            <a:ext cx="381000" cy="0"/>
          </a:xfrm>
          <a:prstGeom prst="straightConnector1">
            <a:avLst/>
          </a:prstGeom>
          <a:ln w="19050">
            <a:solidFill>
              <a:srgbClr val="704EA6"/>
            </a:solidFill>
            <a:prstDash val="solid"/>
            <a:tailEnd type="triangle" w="sm" len="sm"/>
          </a:ln>
        </p:spPr>
      </p:cxnSp>
      <p:cxnSp>
        <p:nvCxnSpPr>
          <p:cNvPr id="18" name="Straight Arrow Connector 17"/>
          <p:cNvCxnSpPr>
            <a:cxnSpLocks/>
            <a:stCxn id="4" idx="3"/>
            <a:endCxn id="5" idx="1"/>
          </p:cNvCxnSpPr>
          <p:nvPr/>
        </p:nvCxnSpPr>
        <p:spPr>
          <a:xfrm>
            <a:off x="2476500" y="2636798"/>
            <a:ext cx="381000" cy="77828"/>
          </a:xfrm>
          <a:prstGeom prst="straightConnector1">
            <a:avLst/>
          </a:prstGeom>
          <a:ln w="19050">
            <a:solidFill>
              <a:srgbClr val="704EA6"/>
            </a:solidFill>
            <a:prstDash val="solid"/>
            <a:tailEnd type="triangle" w="sm" len="sm"/>
          </a:ln>
        </p:spPr>
      </p:cxnSp>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normAutofit/>
          </a:bodyPr>
          <a:lstStyle/>
          <a:p>
            <a:pPr algn="ctr">
              <a:defRPr sz="3150" b="1">
                <a:solidFill>
                  <a:srgbClr val="704EA6"/>
                </a:solidFill>
                <a:latin typeface="Calibri"/>
                <a:ea typeface="Calibri"/>
                <a:cs typeface="Calibri"/>
              </a:defRPr>
            </a:pPr>
            <a:r>
              <a:rPr sz="4800" b="1" dirty="0">
                <a:solidFill>
                  <a:srgbClr val="704EA6"/>
                </a:solidFill>
                <a:latin typeface="Calibri"/>
                <a:ea typeface="Calibri"/>
                <a:cs typeface="Calibri"/>
              </a:rPr>
              <a:t>Architectural workflow</a:t>
            </a:r>
          </a:p>
        </p:txBody>
      </p:sp>
      <p:sp>
        <p:nvSpPr>
          <p:cNvPr id="4" name="Rectangle: Rounded Corners 3">
            <a:extLst>
              <a:ext uri="{FF2B5EF4-FFF2-40B4-BE49-F238E27FC236}">
                <a16:creationId xmlns:a16="http://schemas.microsoft.com/office/drawing/2014/main" id="{D9EAE452-362C-436A-A45F-EEC3030E4998}"/>
              </a:ext>
            </a:extLst>
          </p:cNvPr>
          <p:cNvSpPr>
            <a:spLocks noGrp="1"/>
          </p:cNvSpPr>
          <p:nvPr/>
        </p:nvSpPr>
        <p:spPr>
          <a:xfrm>
            <a:off x="666750" y="2333625"/>
            <a:ext cx="1809750" cy="606345"/>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1">
                <a:solidFill>
                  <a:srgbClr val="14142B"/>
                </a:solidFill>
                <a:latin typeface="Calibri"/>
                <a:ea typeface="Calibri"/>
                <a:cs typeface="Calibri"/>
              </a:defRPr>
            </a:pPr>
            <a:r>
              <a:rPr sz="1350" b="1" dirty="0">
                <a:solidFill>
                  <a:srgbClr val="14142B"/>
                </a:solidFill>
                <a:latin typeface="Calibri"/>
                <a:ea typeface="Calibri"/>
                <a:cs typeface="Calibri"/>
              </a:rPr>
              <a:t>Raw complaint</a:t>
            </a:r>
          </a:p>
          <a:p>
            <a:pPr algn="ctr">
              <a:defRPr sz="1350" b="1">
                <a:solidFill>
                  <a:srgbClr val="14142B"/>
                </a:solidFill>
                <a:latin typeface="Calibri"/>
                <a:ea typeface="Calibri"/>
                <a:cs typeface="Calibri"/>
              </a:defRPr>
            </a:pPr>
            <a:r>
              <a:rPr sz="1350" b="1" dirty="0">
                <a:solidFill>
                  <a:srgbClr val="14142B"/>
                </a:solidFill>
                <a:latin typeface="Calibri"/>
                <a:ea typeface="Calibri"/>
                <a:cs typeface="Calibri"/>
              </a:rPr>
              <a:t>+ optional SIIS text</a:t>
            </a:r>
          </a:p>
        </p:txBody>
      </p:sp>
      <p:sp>
        <p:nvSpPr>
          <p:cNvPr id="5" name="Rectangle: Rounded Corners 4">
            <a:extLst>
              <a:ext uri="{FF2B5EF4-FFF2-40B4-BE49-F238E27FC236}">
                <a16:creationId xmlns:a16="http://schemas.microsoft.com/office/drawing/2014/main" id="{F4DC49AE-11A7-4261-9AF3-B63496B822EF}"/>
              </a:ext>
            </a:extLst>
          </p:cNvPr>
          <p:cNvSpPr>
            <a:spLocks noGrp="1"/>
          </p:cNvSpPr>
          <p:nvPr/>
        </p:nvSpPr>
        <p:spPr>
          <a:xfrm>
            <a:off x="2857500" y="2333626"/>
            <a:ext cx="1809750" cy="762000"/>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Stage 1 model</a:t>
            </a:r>
          </a:p>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issue structure +</a:t>
            </a:r>
          </a:p>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8–10 paraphrases</a:t>
            </a:r>
          </a:p>
        </p:txBody>
      </p:sp>
      <p:sp>
        <p:nvSpPr>
          <p:cNvPr id="6" name="Rectangle: Rounded Corners 5">
            <a:extLst>
              <a:ext uri="{FF2B5EF4-FFF2-40B4-BE49-F238E27FC236}">
                <a16:creationId xmlns:a16="http://schemas.microsoft.com/office/drawing/2014/main" id="{446D72D3-C493-467A-82F6-3EF6DAAABBFB}"/>
              </a:ext>
            </a:extLst>
          </p:cNvPr>
          <p:cNvSpPr>
            <a:spLocks noGrp="1"/>
          </p:cNvSpPr>
          <p:nvPr/>
        </p:nvSpPr>
        <p:spPr>
          <a:xfrm>
            <a:off x="5048250" y="2333626"/>
            <a:ext cx="1809750" cy="762000"/>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Hybrid retrieval</a:t>
            </a:r>
          </a:p>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reference text +</a:t>
            </a:r>
          </a:p>
          <a:p>
            <a:pPr algn="ctr">
              <a:defRPr sz="1350" b="0">
                <a:solidFill>
                  <a:srgbClr val="14142B"/>
                </a:solidFill>
                <a:latin typeface="Calibri"/>
                <a:ea typeface="Calibri"/>
                <a:cs typeface="Calibri"/>
              </a:defRPr>
            </a:pPr>
            <a:r>
              <a:rPr sz="1350" b="0" dirty="0" err="1">
                <a:solidFill>
                  <a:srgbClr val="14142B"/>
                </a:solidFill>
                <a:latin typeface="Calibri"/>
                <a:ea typeface="Calibri"/>
                <a:cs typeface="Calibri"/>
              </a:rPr>
              <a:t>deeplink</a:t>
            </a:r>
            <a:r>
              <a:rPr sz="1350" b="0" dirty="0">
                <a:solidFill>
                  <a:srgbClr val="14142B"/>
                </a:solidFill>
                <a:latin typeface="Calibri"/>
                <a:ea typeface="Calibri"/>
                <a:cs typeface="Calibri"/>
              </a:rPr>
              <a:t> candidates</a:t>
            </a:r>
          </a:p>
        </p:txBody>
      </p:sp>
      <p:sp>
        <p:nvSpPr>
          <p:cNvPr id="7" name="Rectangle: Rounded Corners 6">
            <a:extLst>
              <a:ext uri="{FF2B5EF4-FFF2-40B4-BE49-F238E27FC236}">
                <a16:creationId xmlns:a16="http://schemas.microsoft.com/office/drawing/2014/main" id="{CC986482-44B9-4767-9D3C-8CC5B82BCCBB}"/>
              </a:ext>
            </a:extLst>
          </p:cNvPr>
          <p:cNvSpPr>
            <a:spLocks noGrp="1"/>
          </p:cNvSpPr>
          <p:nvPr/>
        </p:nvSpPr>
        <p:spPr>
          <a:xfrm>
            <a:off x="7239000" y="2333626"/>
            <a:ext cx="1809750" cy="762000"/>
          </a:xfrm>
          <a:prstGeom prst="roundRect">
            <a:avLst>
              <a:gd name="adj" fmla="val 11429"/>
            </a:avLst>
          </a:prstGeom>
          <a:solidFill>
            <a:srgbClr val="F5F2FB"/>
          </a:solidFill>
          <a:ln w="11430">
            <a:solidFill>
              <a:srgbClr val="D9D3F0"/>
            </a:solidFill>
            <a:prstDash val="solid"/>
          </a:ln>
        </p:spPr>
        <p:txBody>
          <a:bodyPr>
            <a:normAutofit/>
          </a:bodyPr>
          <a:lstStyle/>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Stage 2 model</a:t>
            </a:r>
          </a:p>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actions, steps,</a:t>
            </a:r>
          </a:p>
          <a:p>
            <a:pPr algn="ctr">
              <a:defRPr sz="1350" b="0">
                <a:solidFill>
                  <a:srgbClr val="14142B"/>
                </a:solidFill>
                <a:latin typeface="Calibri"/>
                <a:ea typeface="Calibri"/>
                <a:cs typeface="Calibri"/>
              </a:defRPr>
            </a:pPr>
            <a:r>
              <a:rPr sz="1350" b="0" dirty="0">
                <a:solidFill>
                  <a:srgbClr val="14142B"/>
                </a:solidFill>
                <a:latin typeface="Calibri"/>
                <a:ea typeface="Calibri"/>
                <a:cs typeface="Calibri"/>
              </a:rPr>
              <a:t>allowed catalog URIs</a:t>
            </a:r>
          </a:p>
        </p:txBody>
      </p:sp>
      <p:sp>
        <p:nvSpPr>
          <p:cNvPr id="8" name="Rectangle: Rounded Corners 7">
            <a:extLst>
              <a:ext uri="{FF2B5EF4-FFF2-40B4-BE49-F238E27FC236}">
                <a16:creationId xmlns:a16="http://schemas.microsoft.com/office/drawing/2014/main" id="{0E53C378-4402-4DE3-BDCD-6B7C4B183EF7}"/>
              </a:ext>
            </a:extLst>
          </p:cNvPr>
          <p:cNvSpPr>
            <a:spLocks noGrp="1"/>
          </p:cNvSpPr>
          <p:nvPr/>
        </p:nvSpPr>
        <p:spPr>
          <a:xfrm>
            <a:off x="9429750" y="2270327"/>
            <a:ext cx="2095500" cy="762000"/>
          </a:xfrm>
          <a:prstGeom prst="roundRect">
            <a:avLst>
              <a:gd name="adj" fmla="val 11429"/>
            </a:avLst>
          </a:prstGeom>
          <a:solidFill>
            <a:srgbClr val="EEF8F3"/>
          </a:solidFill>
          <a:ln w="11430">
            <a:solidFill>
              <a:srgbClr val="99CDB8"/>
            </a:solidFill>
            <a:prstDash val="solid"/>
          </a:ln>
        </p:spPr>
        <p:txBody>
          <a:bodyPr>
            <a:normAutofit/>
          </a:bodyPr>
          <a:lstStyle/>
          <a:p>
            <a:pPr algn="ctr">
              <a:defRPr sz="1350" b="1">
                <a:solidFill>
                  <a:srgbClr val="14142B"/>
                </a:solidFill>
                <a:latin typeface="Calibri"/>
                <a:ea typeface="Calibri"/>
                <a:cs typeface="Calibri"/>
              </a:defRPr>
            </a:pPr>
            <a:r>
              <a:rPr sz="1350" b="1" dirty="0">
                <a:solidFill>
                  <a:srgbClr val="14142B"/>
                </a:solidFill>
                <a:latin typeface="Calibri"/>
                <a:ea typeface="Calibri"/>
                <a:cs typeface="Calibri"/>
              </a:rPr>
              <a:t>Validation gate</a:t>
            </a:r>
          </a:p>
          <a:p>
            <a:pPr algn="ctr">
              <a:defRPr sz="1350" b="1">
                <a:solidFill>
                  <a:srgbClr val="14142B"/>
                </a:solidFill>
                <a:latin typeface="Calibri"/>
                <a:ea typeface="Calibri"/>
                <a:cs typeface="Calibri"/>
              </a:defRPr>
            </a:pPr>
            <a:r>
              <a:rPr sz="1350" b="1" dirty="0">
                <a:solidFill>
                  <a:srgbClr val="14142B"/>
                </a:solidFill>
                <a:latin typeface="Calibri"/>
                <a:ea typeface="Calibri"/>
                <a:cs typeface="Calibri"/>
              </a:rPr>
              <a:t>verified plan or</a:t>
            </a:r>
          </a:p>
          <a:p>
            <a:pPr algn="ctr">
              <a:defRPr sz="1350" b="1">
                <a:solidFill>
                  <a:srgbClr val="14142B"/>
                </a:solidFill>
                <a:latin typeface="Calibri"/>
                <a:ea typeface="Calibri"/>
                <a:cs typeface="Calibri"/>
              </a:defRPr>
            </a:pPr>
            <a:r>
              <a:rPr sz="1350" b="1" dirty="0">
                <a:solidFill>
                  <a:srgbClr val="14142B"/>
                </a:solidFill>
                <a:latin typeface="Calibri"/>
                <a:ea typeface="Calibri"/>
                <a:cs typeface="Calibri"/>
              </a:rPr>
              <a:t>named fallback</a:t>
            </a:r>
          </a:p>
        </p:txBody>
      </p:sp>
      <p:sp>
        <p:nvSpPr>
          <p:cNvPr id="13" name="Rectangle: Rounded Corners 12">
            <a:extLst>
              <a:ext uri="{FF2B5EF4-FFF2-40B4-BE49-F238E27FC236}">
                <a16:creationId xmlns:a16="http://schemas.microsoft.com/office/drawing/2014/main" id="{978B84A4-08B1-46D0-9C3C-8B1AC4B1EB75}"/>
              </a:ext>
            </a:extLst>
          </p:cNvPr>
          <p:cNvSpPr>
            <a:spLocks noGrp="1"/>
          </p:cNvSpPr>
          <p:nvPr/>
        </p:nvSpPr>
        <p:spPr>
          <a:xfrm>
            <a:off x="2857500" y="3667125"/>
            <a:ext cx="6191250" cy="762000"/>
          </a:xfrm>
          <a:prstGeom prst="roundRect">
            <a:avLst>
              <a:gd name="adj" fmla="val 15000"/>
            </a:avLst>
          </a:prstGeom>
          <a:solidFill>
            <a:srgbClr val="F5F2FB"/>
          </a:solidFill>
          <a:ln w="11430">
            <a:solidFill>
              <a:srgbClr val="D9D3F0"/>
            </a:solidFill>
            <a:prstDash val="solid"/>
          </a:ln>
        </p:spPr>
        <p:txBody>
          <a:bodyPr>
            <a:normAutofit/>
          </a:bodyPr>
          <a:lstStyle/>
          <a:p>
            <a:pPr algn="ctr">
              <a:defRPr sz="1500" b="1">
                <a:solidFill>
                  <a:srgbClr val="14142B"/>
                </a:solidFill>
                <a:latin typeface="Calibri"/>
                <a:ea typeface="Calibri"/>
                <a:cs typeface="Calibri"/>
              </a:defRPr>
            </a:pPr>
            <a:r>
              <a:rPr sz="1500" b="1" dirty="0">
                <a:solidFill>
                  <a:srgbClr val="14142B"/>
                </a:solidFill>
                <a:latin typeface="Calibri"/>
                <a:ea typeface="Calibri"/>
                <a:cs typeface="Calibri"/>
              </a:rPr>
              <a:t>Fast path: only validated plans are admitted. Exact and semantic paraphrase matches return without another model call.</a:t>
            </a:r>
          </a:p>
        </p:txBody>
      </p:sp>
      <p:sp>
        <p:nvSpPr>
          <p:cNvPr id="14" name="Rectangle 13">
            <a:extLst>
              <a:ext uri="{FF2B5EF4-FFF2-40B4-BE49-F238E27FC236}">
                <a16:creationId xmlns:a16="http://schemas.microsoft.com/office/drawing/2014/main" id="{E1C726D5-D1F9-41A4-B878-5BDD372B6858}"/>
              </a:ext>
            </a:extLst>
          </p:cNvPr>
          <p:cNvSpPr>
            <a:spLocks noGrp="1"/>
          </p:cNvSpPr>
          <p:nvPr/>
        </p:nvSpPr>
        <p:spPr>
          <a:xfrm>
            <a:off x="2857500" y="4526063"/>
            <a:ext cx="6191250" cy="571500"/>
          </a:xfrm>
          <a:prstGeom prst="rect">
            <a:avLst/>
          </a:prstGeom>
          <a:noFill/>
          <a:ln w="0">
            <a:noFill/>
          </a:ln>
        </p:spPr>
        <p:txBody>
          <a:bodyPr>
            <a:normAutofit/>
          </a:bodyPr>
          <a:lstStyle/>
          <a:p>
            <a:pPr algn="ctr">
              <a:defRPr sz="1275" b="0">
                <a:solidFill>
                  <a:srgbClr val="4E5068"/>
                </a:solidFill>
                <a:latin typeface="Calibri"/>
                <a:ea typeface="Calibri"/>
                <a:cs typeface="Calibri"/>
              </a:defRPr>
            </a:pPr>
            <a:r>
              <a:rPr sz="1275" b="0" dirty="0">
                <a:solidFill>
                  <a:srgbClr val="4E5068"/>
                </a:solidFill>
                <a:latin typeface="Calibri"/>
                <a:ea typeface="Calibri"/>
                <a:cs typeface="Calibri"/>
              </a:rPr>
              <a:t>A configured model performs issue structuring and evidence-constrained plan generation. The deterministic gate stays authoritative.</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382447" y="371843"/>
            <a:ext cx="10515600" cy="1325563"/>
          </a:xfrm>
        </p:spPr>
        <p:txBody>
          <a:bodyPr>
            <a:normAutofit/>
          </a:bodyPr>
          <a:lstStyle/>
          <a:p>
            <a:pPr>
              <a:defRPr sz="3150" b="1">
                <a:solidFill>
                  <a:srgbClr val="704EA6"/>
                </a:solidFill>
                <a:latin typeface="Calibri"/>
                <a:ea typeface="Calibri"/>
                <a:cs typeface="Calibri"/>
              </a:defRPr>
            </a:pPr>
            <a:r>
              <a:rPr sz="4000" b="1" dirty="0">
                <a:solidFill>
                  <a:srgbClr val="704EA6"/>
                </a:solidFill>
                <a:latin typeface="Calibri"/>
                <a:ea typeface="Calibri"/>
                <a:cs typeface="Calibri"/>
              </a:rPr>
              <a:t>Working prototype walkthrough</a:t>
            </a:r>
          </a:p>
        </p:txBody>
      </p:sp>
      <p:pic>
        <p:nvPicPr>
          <p:cNvPr id="9" name="Picture 8"/>
          <p:cNvPicPr>
            <a:picLocks noChangeAspect="1"/>
          </p:cNvPicPr>
          <p:nvPr/>
        </p:nvPicPr>
        <p:blipFill>
          <a:blip r:embed="rId3"/>
          <a:stretch/>
        </p:blipFill>
        <p:spPr>
          <a:xfrm>
            <a:off x="8113853" y="267494"/>
            <a:ext cx="3695700" cy="6274992"/>
          </a:xfrm>
          <a:prstGeom prst="rect">
            <a:avLst/>
          </a:prstGeom>
        </p:spPr>
      </p:pic>
      <p:sp>
        <p:nvSpPr>
          <p:cNvPr id="5" name="Rectangle 4">
            <a:extLst>
              <a:ext uri="{FF2B5EF4-FFF2-40B4-BE49-F238E27FC236}">
                <a16:creationId xmlns:a16="http://schemas.microsoft.com/office/drawing/2014/main" id="{875F10DA-FA88-472B-A91B-8A6C44781B1E}"/>
              </a:ext>
            </a:extLst>
          </p:cNvPr>
          <p:cNvSpPr>
            <a:spLocks noGrp="1"/>
          </p:cNvSpPr>
          <p:nvPr/>
        </p:nvSpPr>
        <p:spPr>
          <a:xfrm>
            <a:off x="838199" y="1697406"/>
            <a:ext cx="5667375" cy="523875"/>
          </a:xfrm>
          <a:prstGeom prst="rect">
            <a:avLst/>
          </a:prstGeom>
          <a:noFill/>
          <a:ln w="0">
            <a:noFill/>
          </a:ln>
        </p:spPr>
        <p:txBody>
          <a:bodyPr>
            <a:noAutofit/>
          </a:bodyPr>
          <a:lstStyle/>
          <a:p>
            <a:pPr algn="ctr">
              <a:defRPr sz="1875" b="1">
                <a:solidFill>
                  <a:srgbClr val="704EA6"/>
                </a:solidFill>
                <a:latin typeface="Calibri"/>
                <a:ea typeface="Calibri"/>
                <a:cs typeface="Calibri"/>
              </a:defRPr>
            </a:pPr>
            <a:r>
              <a:rPr sz="2400" b="1" dirty="0">
                <a:solidFill>
                  <a:srgbClr val="704EA6"/>
                </a:solidFill>
                <a:latin typeface="Calibri"/>
                <a:ea typeface="Calibri"/>
                <a:cs typeface="Calibri"/>
              </a:rPr>
              <a:t>Demo sequence</a:t>
            </a:r>
          </a:p>
        </p:txBody>
      </p:sp>
      <p:sp>
        <p:nvSpPr>
          <p:cNvPr id="6" name="Rectangle 5">
            <a:extLst>
              <a:ext uri="{FF2B5EF4-FFF2-40B4-BE49-F238E27FC236}">
                <a16:creationId xmlns:a16="http://schemas.microsoft.com/office/drawing/2014/main" id="{C55FC328-92AC-40A1-8D58-6F5347BFC9E2}"/>
              </a:ext>
            </a:extLst>
          </p:cNvPr>
          <p:cNvSpPr>
            <a:spLocks noGrp="1"/>
          </p:cNvSpPr>
          <p:nvPr/>
        </p:nvSpPr>
        <p:spPr>
          <a:xfrm>
            <a:off x="838200" y="2318338"/>
            <a:ext cx="5667375" cy="3364831"/>
          </a:xfrm>
          <a:prstGeom prst="rect">
            <a:avLst/>
          </a:prstGeom>
          <a:noFill/>
          <a:ln w="0">
            <a:noFill/>
          </a:ln>
        </p:spPr>
        <p:txBody>
          <a:bodyPr>
            <a:noAutofit/>
          </a:bodyPr>
          <a:lstStyle/>
          <a:p>
            <a:pPr algn="ctr">
              <a:defRPr sz="1500" b="0">
                <a:solidFill>
                  <a:srgbClr val="4E5068"/>
                </a:solidFill>
                <a:latin typeface="Calibri"/>
                <a:ea typeface="Calibri"/>
                <a:cs typeface="Calibri"/>
              </a:defRPr>
            </a:pPr>
            <a:r>
              <a:rPr sz="2000" b="0" dirty="0">
                <a:solidFill>
                  <a:srgbClr val="4E5068"/>
                </a:solidFill>
                <a:latin typeface="Calibri"/>
                <a:ea typeface="Calibri"/>
                <a:cs typeface="Calibri"/>
              </a:rPr>
              <a:t>1  Enter one vague or multi-issue complaint</a:t>
            </a:r>
          </a:p>
          <a:p>
            <a:pPr algn="ctr"/>
            <a:endParaRPr sz="2000" b="0" dirty="0">
              <a:solidFill>
                <a:srgbClr val="4E5068"/>
              </a:solidFill>
              <a:latin typeface="Calibri"/>
              <a:ea typeface="Calibri"/>
              <a:cs typeface="Calibri"/>
            </a:endParaRPr>
          </a:p>
          <a:p>
            <a:pPr algn="ctr">
              <a:defRPr sz="1500" b="0">
                <a:solidFill>
                  <a:srgbClr val="4E5068"/>
                </a:solidFill>
                <a:latin typeface="Calibri"/>
                <a:ea typeface="Calibri"/>
                <a:cs typeface="Calibri"/>
              </a:defRPr>
            </a:pPr>
            <a:r>
              <a:rPr sz="2000" b="0" dirty="0">
                <a:solidFill>
                  <a:srgbClr val="4E5068"/>
                </a:solidFill>
                <a:latin typeface="Calibri"/>
                <a:ea typeface="Calibri"/>
                <a:cs typeface="Calibri"/>
              </a:rPr>
              <a:t>2  Inspect normalized terms and evidence trace</a:t>
            </a:r>
          </a:p>
          <a:p>
            <a:pPr algn="ctr"/>
            <a:endParaRPr sz="2000" b="0" dirty="0">
              <a:solidFill>
                <a:srgbClr val="4E5068"/>
              </a:solidFill>
              <a:latin typeface="Calibri"/>
              <a:ea typeface="Calibri"/>
              <a:cs typeface="Calibri"/>
            </a:endParaRPr>
          </a:p>
          <a:p>
            <a:pPr algn="ctr">
              <a:defRPr sz="1500" b="0">
                <a:solidFill>
                  <a:srgbClr val="4E5068"/>
                </a:solidFill>
                <a:latin typeface="Calibri"/>
                <a:ea typeface="Calibri"/>
                <a:cs typeface="Calibri"/>
              </a:defRPr>
            </a:pPr>
            <a:r>
              <a:rPr sz="2000" b="0" dirty="0">
                <a:solidFill>
                  <a:srgbClr val="4E5068"/>
                </a:solidFill>
                <a:latin typeface="Calibri"/>
                <a:ea typeface="Calibri"/>
                <a:cs typeface="Calibri"/>
              </a:rPr>
              <a:t>3  Open one-tap Settings </a:t>
            </a:r>
            <a:r>
              <a:rPr sz="2000" b="0" dirty="0" err="1">
                <a:solidFill>
                  <a:srgbClr val="4E5068"/>
                </a:solidFill>
                <a:latin typeface="Calibri"/>
                <a:ea typeface="Calibri"/>
                <a:cs typeface="Calibri"/>
              </a:rPr>
              <a:t>deeplinks</a:t>
            </a:r>
            <a:r>
              <a:rPr sz="2000" b="0" dirty="0">
                <a:solidFill>
                  <a:srgbClr val="4E5068"/>
                </a:solidFill>
                <a:latin typeface="Calibri"/>
                <a:ea typeface="Calibri"/>
                <a:cs typeface="Calibri"/>
              </a:rPr>
              <a:t> in JSON</a:t>
            </a:r>
          </a:p>
          <a:p>
            <a:pPr algn="ctr"/>
            <a:endParaRPr sz="2000" b="0" dirty="0">
              <a:solidFill>
                <a:srgbClr val="4E5068"/>
              </a:solidFill>
              <a:latin typeface="Calibri"/>
              <a:ea typeface="Calibri"/>
              <a:cs typeface="Calibri"/>
            </a:endParaRPr>
          </a:p>
          <a:p>
            <a:pPr algn="ctr">
              <a:defRPr sz="1500" b="0">
                <a:solidFill>
                  <a:srgbClr val="4E5068"/>
                </a:solidFill>
                <a:latin typeface="Calibri"/>
                <a:ea typeface="Calibri"/>
                <a:cs typeface="Calibri"/>
              </a:defRPr>
            </a:pPr>
            <a:r>
              <a:rPr sz="2000" b="0" dirty="0">
                <a:solidFill>
                  <a:srgbClr val="4E5068"/>
                </a:solidFill>
                <a:latin typeface="Calibri"/>
                <a:ea typeface="Calibri"/>
                <a:cs typeface="Calibri"/>
              </a:rPr>
              <a:t>4  Repeat a paraphrase for the validated fast path</a:t>
            </a:r>
          </a:p>
          <a:p>
            <a:pPr algn="ctr"/>
            <a:endParaRPr sz="2000" b="0" dirty="0">
              <a:solidFill>
                <a:srgbClr val="4E5068"/>
              </a:solidFill>
              <a:latin typeface="Calibri"/>
              <a:ea typeface="Calibri"/>
              <a:cs typeface="Calibri"/>
            </a:endParaRPr>
          </a:p>
          <a:p>
            <a:pPr algn="ctr">
              <a:defRPr sz="1500" b="0">
                <a:solidFill>
                  <a:srgbClr val="4E5068"/>
                </a:solidFill>
                <a:latin typeface="Calibri"/>
                <a:ea typeface="Calibri"/>
                <a:cs typeface="Calibri"/>
              </a:defRPr>
            </a:pPr>
            <a:r>
              <a:rPr sz="2000" b="0" dirty="0">
                <a:solidFill>
                  <a:srgbClr val="4E5068"/>
                </a:solidFill>
                <a:latin typeface="Calibri"/>
                <a:ea typeface="Calibri"/>
                <a:cs typeface="Calibri"/>
              </a:rPr>
              <a:t>5  Submit an unknown query and verify fail-closed behavior</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pPr algn="ctr">
              <a:defRPr sz="3150" b="1">
                <a:solidFill>
                  <a:srgbClr val="704EA6"/>
                </a:solidFill>
                <a:latin typeface="Calibri"/>
                <a:ea typeface="Calibri"/>
                <a:cs typeface="Calibri"/>
              </a:defRPr>
            </a:pPr>
            <a:r>
              <a:rPr sz="4000" b="1" dirty="0">
                <a:solidFill>
                  <a:srgbClr val="704EA6"/>
                </a:solidFill>
                <a:latin typeface="Calibri"/>
                <a:ea typeface="Calibri"/>
                <a:cs typeface="Calibri"/>
              </a:rPr>
              <a:t>Technology stack</a:t>
            </a:r>
            <a:endParaRPr sz="4000" b="1" dirty="0">
              <a:solidFill>
                <a:srgbClr val="704EA6"/>
              </a:solidFill>
            </a:endParaRPr>
          </a:p>
        </p:txBody>
      </p:sp>
      <p:sp>
        <p:nvSpPr>
          <p:cNvPr id="4" name="Rectangle: Rounded Corners 3">
            <a:extLst>
              <a:ext uri="{FF2B5EF4-FFF2-40B4-BE49-F238E27FC236}">
                <a16:creationId xmlns:a16="http://schemas.microsoft.com/office/drawing/2014/main" id="{285D5CD2-B335-442F-A085-C62A56E40C3C}"/>
              </a:ext>
            </a:extLst>
          </p:cNvPr>
          <p:cNvSpPr>
            <a:spLocks noGrp="1"/>
          </p:cNvSpPr>
          <p:nvPr/>
        </p:nvSpPr>
        <p:spPr>
          <a:xfrm>
            <a:off x="857250" y="1714500"/>
            <a:ext cx="5103712" cy="1136972"/>
          </a:xfrm>
          <a:prstGeom prst="roundRect">
            <a:avLst>
              <a:gd name="adj" fmla="val 10714"/>
            </a:avLst>
          </a:prstGeom>
          <a:solidFill>
            <a:srgbClr val="F7F5FB"/>
          </a:solidFill>
          <a:ln w="11430">
            <a:solidFill>
              <a:srgbClr val="D9D3F0"/>
            </a:solidFill>
            <a:prstDash val="solid"/>
          </a:ln>
        </p:spPr>
        <p:txBody>
          <a:bodyPr>
            <a:normAutofit/>
          </a:bodyPr>
          <a:lstStyle/>
          <a:p>
            <a:pPr algn="ctr">
              <a:defRPr sz="1425" b="0">
                <a:solidFill>
                  <a:srgbClr val="14142B"/>
                </a:solidFill>
                <a:latin typeface="Calibri"/>
                <a:ea typeface="Calibri"/>
                <a:cs typeface="Calibri"/>
              </a:defRPr>
            </a:pPr>
            <a:r>
              <a:rPr sz="2400" b="0" dirty="0">
                <a:solidFill>
                  <a:srgbClr val="14142B"/>
                </a:solidFill>
                <a:latin typeface="Calibri"/>
                <a:ea typeface="Calibri"/>
                <a:cs typeface="Calibri"/>
              </a:rPr>
              <a:t>API and schema</a:t>
            </a:r>
          </a:p>
          <a:p>
            <a:pPr algn="ctr">
              <a:defRPr sz="1425" b="0">
                <a:solidFill>
                  <a:srgbClr val="14142B"/>
                </a:solidFill>
                <a:latin typeface="Calibri"/>
                <a:ea typeface="Calibri"/>
                <a:cs typeface="Calibri"/>
              </a:defRPr>
            </a:pPr>
            <a:r>
              <a:rPr sz="1600" b="0" dirty="0">
                <a:solidFill>
                  <a:srgbClr val="14142B"/>
                </a:solidFill>
                <a:latin typeface="Calibri"/>
                <a:ea typeface="Calibri"/>
                <a:cs typeface="Calibri"/>
              </a:rPr>
              <a:t>Python 3.10–3.12, </a:t>
            </a:r>
            <a:r>
              <a:rPr sz="1600" b="0" dirty="0" err="1">
                <a:solidFill>
                  <a:srgbClr val="14142B"/>
                </a:solidFill>
                <a:latin typeface="Calibri"/>
                <a:ea typeface="Calibri"/>
                <a:cs typeface="Calibri"/>
              </a:rPr>
              <a:t>stdlib</a:t>
            </a:r>
            <a:r>
              <a:rPr sz="1600" b="0" dirty="0">
                <a:solidFill>
                  <a:srgbClr val="14142B"/>
                </a:solidFill>
                <a:latin typeface="Calibri"/>
                <a:ea typeface="Calibri"/>
                <a:cs typeface="Calibri"/>
              </a:rPr>
              <a:t> threaded HTTP server, </a:t>
            </a:r>
            <a:r>
              <a:rPr sz="1600" b="0" dirty="0" err="1">
                <a:solidFill>
                  <a:srgbClr val="14142B"/>
                </a:solidFill>
                <a:latin typeface="Calibri"/>
                <a:ea typeface="Calibri"/>
                <a:cs typeface="Calibri"/>
              </a:rPr>
              <a:t>Pydantic</a:t>
            </a:r>
            <a:r>
              <a:rPr sz="1600" b="0" dirty="0">
                <a:solidFill>
                  <a:srgbClr val="14142B"/>
                </a:solidFill>
                <a:latin typeface="Calibri"/>
                <a:ea typeface="Calibri"/>
                <a:cs typeface="Calibri"/>
              </a:rPr>
              <a:t> v2</a:t>
            </a:r>
          </a:p>
        </p:txBody>
      </p:sp>
      <p:sp>
        <p:nvSpPr>
          <p:cNvPr id="5" name="Rectangle: Rounded Corners 4">
            <a:extLst>
              <a:ext uri="{FF2B5EF4-FFF2-40B4-BE49-F238E27FC236}">
                <a16:creationId xmlns:a16="http://schemas.microsoft.com/office/drawing/2014/main" id="{01B259E2-CF89-42E7-B629-B4B084C549AD}"/>
              </a:ext>
            </a:extLst>
          </p:cNvPr>
          <p:cNvSpPr>
            <a:spLocks noGrp="1"/>
          </p:cNvSpPr>
          <p:nvPr/>
        </p:nvSpPr>
        <p:spPr>
          <a:xfrm>
            <a:off x="6191250" y="1714500"/>
            <a:ext cx="5103712" cy="1136972"/>
          </a:xfrm>
          <a:prstGeom prst="roundRect">
            <a:avLst>
              <a:gd name="adj" fmla="val 10714"/>
            </a:avLst>
          </a:prstGeom>
          <a:solidFill>
            <a:srgbClr val="F7F5FB"/>
          </a:solidFill>
          <a:ln w="11430">
            <a:solidFill>
              <a:srgbClr val="D9D3F0"/>
            </a:solidFill>
            <a:prstDash val="solid"/>
          </a:ln>
        </p:spPr>
        <p:txBody>
          <a:bodyPr>
            <a:normAutofit/>
          </a:bodyPr>
          <a:lstStyle/>
          <a:p>
            <a:pPr algn="ctr">
              <a:defRPr sz="1425" b="0">
                <a:solidFill>
                  <a:srgbClr val="14142B"/>
                </a:solidFill>
                <a:latin typeface="Calibri"/>
                <a:ea typeface="Calibri"/>
                <a:cs typeface="Calibri"/>
              </a:defRPr>
            </a:pPr>
            <a:r>
              <a:rPr sz="2400" b="0" dirty="0">
                <a:solidFill>
                  <a:srgbClr val="14142B"/>
                </a:solidFill>
                <a:latin typeface="Calibri"/>
                <a:ea typeface="Calibri"/>
                <a:cs typeface="Calibri"/>
              </a:rPr>
              <a:t>Retrieval</a:t>
            </a:r>
          </a:p>
          <a:p>
            <a:pPr algn="ctr">
              <a:defRPr sz="1425" b="0">
                <a:solidFill>
                  <a:srgbClr val="14142B"/>
                </a:solidFill>
                <a:latin typeface="Calibri"/>
                <a:ea typeface="Calibri"/>
                <a:cs typeface="Calibri"/>
              </a:defRPr>
            </a:pPr>
            <a:r>
              <a:rPr sz="1600" b="0" dirty="0">
                <a:solidFill>
                  <a:srgbClr val="14142B"/>
                </a:solidFill>
                <a:latin typeface="Calibri"/>
                <a:ea typeface="Calibri"/>
                <a:cs typeface="Calibri"/>
              </a:rPr>
              <a:t>BM25-style lexical scoring, concept overlap, replaceable dense index adapter</a:t>
            </a:r>
          </a:p>
        </p:txBody>
      </p:sp>
      <p:sp>
        <p:nvSpPr>
          <p:cNvPr id="6" name="Rectangle: Rounded Corners 5">
            <a:extLst>
              <a:ext uri="{FF2B5EF4-FFF2-40B4-BE49-F238E27FC236}">
                <a16:creationId xmlns:a16="http://schemas.microsoft.com/office/drawing/2014/main" id="{355B5E3A-236E-4660-BE5A-4962395EE68C}"/>
              </a:ext>
            </a:extLst>
          </p:cNvPr>
          <p:cNvSpPr>
            <a:spLocks noGrp="1"/>
          </p:cNvSpPr>
          <p:nvPr/>
        </p:nvSpPr>
        <p:spPr>
          <a:xfrm>
            <a:off x="857250" y="3095625"/>
            <a:ext cx="5103712" cy="1136972"/>
          </a:xfrm>
          <a:prstGeom prst="roundRect">
            <a:avLst>
              <a:gd name="adj" fmla="val 10714"/>
            </a:avLst>
          </a:prstGeom>
          <a:solidFill>
            <a:srgbClr val="FFFFFF"/>
          </a:solidFill>
          <a:ln w="11430">
            <a:solidFill>
              <a:srgbClr val="D9D3F0"/>
            </a:solidFill>
            <a:prstDash val="solid"/>
          </a:ln>
        </p:spPr>
        <p:txBody>
          <a:bodyPr>
            <a:normAutofit/>
          </a:bodyPr>
          <a:lstStyle/>
          <a:p>
            <a:pPr algn="ctr">
              <a:defRPr sz="1425" b="0">
                <a:solidFill>
                  <a:srgbClr val="14142B"/>
                </a:solidFill>
                <a:latin typeface="Calibri"/>
                <a:ea typeface="Calibri"/>
                <a:cs typeface="Calibri"/>
              </a:defRPr>
            </a:pPr>
            <a:r>
              <a:rPr sz="2400" b="0" dirty="0">
                <a:solidFill>
                  <a:srgbClr val="14142B"/>
                </a:solidFill>
                <a:latin typeface="Calibri"/>
                <a:ea typeface="Calibri"/>
                <a:cs typeface="Calibri"/>
              </a:rPr>
              <a:t>Safety</a:t>
            </a:r>
          </a:p>
          <a:p>
            <a:pPr algn="ctr">
              <a:defRPr sz="1425" b="0">
                <a:solidFill>
                  <a:srgbClr val="14142B"/>
                </a:solidFill>
                <a:latin typeface="Calibri"/>
                <a:ea typeface="Calibri"/>
                <a:cs typeface="Calibri"/>
              </a:defRPr>
            </a:pPr>
            <a:r>
              <a:rPr sz="1600" b="0" dirty="0">
                <a:solidFill>
                  <a:srgbClr val="14142B"/>
                </a:solidFill>
                <a:latin typeface="Calibri"/>
                <a:ea typeface="Calibri"/>
                <a:cs typeface="Calibri"/>
              </a:rPr>
              <a:t>Exact catalog lookup, evidence check, URL rejection, action hierarchy validation</a:t>
            </a:r>
          </a:p>
        </p:txBody>
      </p:sp>
      <p:sp>
        <p:nvSpPr>
          <p:cNvPr id="7" name="Rectangle: Rounded Corners 6">
            <a:extLst>
              <a:ext uri="{FF2B5EF4-FFF2-40B4-BE49-F238E27FC236}">
                <a16:creationId xmlns:a16="http://schemas.microsoft.com/office/drawing/2014/main" id="{EC1B7687-6901-4CA8-8A32-6A70F7552F2A}"/>
              </a:ext>
            </a:extLst>
          </p:cNvPr>
          <p:cNvSpPr>
            <a:spLocks noGrp="1"/>
          </p:cNvSpPr>
          <p:nvPr/>
        </p:nvSpPr>
        <p:spPr>
          <a:xfrm>
            <a:off x="6191250" y="3095625"/>
            <a:ext cx="5103712" cy="1136972"/>
          </a:xfrm>
          <a:prstGeom prst="roundRect">
            <a:avLst>
              <a:gd name="adj" fmla="val 10714"/>
            </a:avLst>
          </a:prstGeom>
          <a:solidFill>
            <a:srgbClr val="FFFFFF"/>
          </a:solidFill>
          <a:ln w="11430">
            <a:solidFill>
              <a:srgbClr val="D9D3F0"/>
            </a:solidFill>
            <a:prstDash val="solid"/>
          </a:ln>
        </p:spPr>
        <p:txBody>
          <a:bodyPr>
            <a:normAutofit/>
          </a:bodyPr>
          <a:lstStyle/>
          <a:p>
            <a:pPr algn="ctr">
              <a:defRPr sz="1425" b="0">
                <a:solidFill>
                  <a:srgbClr val="14142B"/>
                </a:solidFill>
                <a:latin typeface="Calibri"/>
                <a:ea typeface="Calibri"/>
                <a:cs typeface="Calibri"/>
              </a:defRPr>
            </a:pPr>
            <a:r>
              <a:rPr sz="2400" b="0" dirty="0">
                <a:solidFill>
                  <a:srgbClr val="14142B"/>
                </a:solidFill>
                <a:latin typeface="Calibri"/>
                <a:ea typeface="Calibri"/>
                <a:cs typeface="Calibri"/>
              </a:rPr>
              <a:t>Fast path</a:t>
            </a:r>
          </a:p>
          <a:p>
            <a:pPr algn="ctr">
              <a:defRPr sz="1425" b="0">
                <a:solidFill>
                  <a:srgbClr val="14142B"/>
                </a:solidFill>
                <a:latin typeface="Calibri"/>
                <a:ea typeface="Calibri"/>
                <a:cs typeface="Calibri"/>
              </a:defRPr>
            </a:pPr>
            <a:r>
              <a:rPr sz="1600" b="0" dirty="0">
                <a:solidFill>
                  <a:srgbClr val="14142B"/>
                </a:solidFill>
                <a:latin typeface="Calibri"/>
                <a:ea typeface="Calibri"/>
                <a:cs typeface="Calibri"/>
              </a:rPr>
              <a:t>Thread-safe semantic cache prewarmed with validated paraphrases</a:t>
            </a:r>
          </a:p>
        </p:txBody>
      </p:sp>
      <p:sp>
        <p:nvSpPr>
          <p:cNvPr id="8" name="Rectangle: Rounded Corners 7">
            <a:extLst>
              <a:ext uri="{FF2B5EF4-FFF2-40B4-BE49-F238E27FC236}">
                <a16:creationId xmlns:a16="http://schemas.microsoft.com/office/drawing/2014/main" id="{6D08071E-17C9-4FB6-948C-CF138BC43513}"/>
              </a:ext>
            </a:extLst>
          </p:cNvPr>
          <p:cNvSpPr>
            <a:spLocks noGrp="1"/>
          </p:cNvSpPr>
          <p:nvPr/>
        </p:nvSpPr>
        <p:spPr>
          <a:xfrm>
            <a:off x="857250" y="4476750"/>
            <a:ext cx="5103712" cy="1136972"/>
          </a:xfrm>
          <a:prstGeom prst="roundRect">
            <a:avLst>
              <a:gd name="adj" fmla="val 10714"/>
            </a:avLst>
          </a:prstGeom>
          <a:solidFill>
            <a:srgbClr val="F7F5FB"/>
          </a:solidFill>
          <a:ln w="11430">
            <a:solidFill>
              <a:srgbClr val="D9D3F0"/>
            </a:solidFill>
            <a:prstDash val="solid"/>
          </a:ln>
        </p:spPr>
        <p:txBody>
          <a:bodyPr>
            <a:normAutofit/>
          </a:bodyPr>
          <a:lstStyle/>
          <a:p>
            <a:pPr algn="ctr">
              <a:defRPr sz="1425" b="0">
                <a:solidFill>
                  <a:srgbClr val="14142B"/>
                </a:solidFill>
                <a:latin typeface="Calibri"/>
                <a:ea typeface="Calibri"/>
                <a:cs typeface="Calibri"/>
              </a:defRPr>
            </a:pPr>
            <a:r>
              <a:rPr sz="2400" b="0" dirty="0">
                <a:solidFill>
                  <a:srgbClr val="14142B"/>
                </a:solidFill>
                <a:latin typeface="Calibri"/>
                <a:ea typeface="Calibri"/>
                <a:cs typeface="Calibri"/>
              </a:rPr>
              <a:t>Interface</a:t>
            </a:r>
          </a:p>
          <a:p>
            <a:pPr algn="ctr">
              <a:defRPr sz="1425" b="0">
                <a:solidFill>
                  <a:srgbClr val="14142B"/>
                </a:solidFill>
                <a:latin typeface="Calibri"/>
                <a:ea typeface="Calibri"/>
                <a:cs typeface="Calibri"/>
              </a:defRPr>
            </a:pPr>
            <a:r>
              <a:rPr sz="1600" b="0" dirty="0">
                <a:solidFill>
                  <a:srgbClr val="14142B"/>
                </a:solidFill>
                <a:latin typeface="Calibri"/>
                <a:ea typeface="Calibri"/>
                <a:cs typeface="Calibri"/>
              </a:rPr>
              <a:t>Responsive HTML, CSS, and JavaScript using the same REST endpoint</a:t>
            </a:r>
          </a:p>
        </p:txBody>
      </p:sp>
      <p:sp>
        <p:nvSpPr>
          <p:cNvPr id="9" name="Rectangle: Rounded Corners 8">
            <a:extLst>
              <a:ext uri="{FF2B5EF4-FFF2-40B4-BE49-F238E27FC236}">
                <a16:creationId xmlns:a16="http://schemas.microsoft.com/office/drawing/2014/main" id="{9A47F157-7EDA-4EB7-B87F-AAE058167FF8}"/>
              </a:ext>
            </a:extLst>
          </p:cNvPr>
          <p:cNvSpPr>
            <a:spLocks noGrp="1"/>
          </p:cNvSpPr>
          <p:nvPr/>
        </p:nvSpPr>
        <p:spPr>
          <a:xfrm>
            <a:off x="6191250" y="4476750"/>
            <a:ext cx="5103712" cy="1136972"/>
          </a:xfrm>
          <a:prstGeom prst="roundRect">
            <a:avLst>
              <a:gd name="adj" fmla="val 10714"/>
            </a:avLst>
          </a:prstGeom>
          <a:solidFill>
            <a:srgbClr val="F7F5FB"/>
          </a:solidFill>
          <a:ln w="11430">
            <a:solidFill>
              <a:srgbClr val="D9D3F0"/>
            </a:solidFill>
            <a:prstDash val="solid"/>
          </a:ln>
        </p:spPr>
        <p:txBody>
          <a:bodyPr>
            <a:normAutofit/>
          </a:bodyPr>
          <a:lstStyle/>
          <a:p>
            <a:pPr algn="ctr">
              <a:defRPr sz="1425" b="0">
                <a:solidFill>
                  <a:srgbClr val="14142B"/>
                </a:solidFill>
                <a:latin typeface="Calibri"/>
                <a:ea typeface="Calibri"/>
                <a:cs typeface="Calibri"/>
              </a:defRPr>
            </a:pPr>
            <a:r>
              <a:rPr sz="2400" b="0" dirty="0">
                <a:solidFill>
                  <a:srgbClr val="14142B"/>
                </a:solidFill>
                <a:latin typeface="Calibri"/>
                <a:ea typeface="Calibri"/>
                <a:cs typeface="Calibri"/>
              </a:rPr>
              <a:t>Delivery</a:t>
            </a:r>
          </a:p>
          <a:p>
            <a:pPr algn="ctr">
              <a:defRPr sz="1425" b="0">
                <a:solidFill>
                  <a:srgbClr val="14142B"/>
                </a:solidFill>
                <a:latin typeface="Calibri"/>
                <a:ea typeface="Calibri"/>
                <a:cs typeface="Calibri"/>
              </a:defRPr>
            </a:pPr>
            <a:r>
              <a:rPr sz="1600" b="0" dirty="0">
                <a:solidFill>
                  <a:srgbClr val="14142B"/>
                </a:solidFill>
                <a:latin typeface="Calibri"/>
                <a:ea typeface="Calibri"/>
                <a:cs typeface="Calibri"/>
              </a:rPr>
              <a:t>Docker, </a:t>
            </a:r>
            <a:r>
              <a:rPr sz="1600" b="0" dirty="0" err="1">
                <a:solidFill>
                  <a:srgbClr val="14142B"/>
                </a:solidFill>
                <a:latin typeface="Calibri"/>
                <a:ea typeface="Calibri"/>
                <a:cs typeface="Calibri"/>
              </a:rPr>
              <a:t>unittest</a:t>
            </a:r>
            <a:r>
              <a:rPr sz="1600" b="0" dirty="0">
                <a:solidFill>
                  <a:srgbClr val="14142B"/>
                </a:solidFill>
                <a:latin typeface="Calibri"/>
                <a:ea typeface="Calibri"/>
                <a:cs typeface="Calibri"/>
              </a:rPr>
              <a:t> suite, benchmark harness, AI disclosure, 12-slide deck</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pPr algn="ctr">
              <a:defRPr sz="3150" b="1">
                <a:solidFill>
                  <a:srgbClr val="704EA6"/>
                </a:solidFill>
                <a:latin typeface="Calibri"/>
                <a:ea typeface="Calibri"/>
                <a:cs typeface="Calibri"/>
              </a:defRPr>
            </a:pPr>
            <a:r>
              <a:rPr sz="4000" b="1" dirty="0">
                <a:solidFill>
                  <a:srgbClr val="704EA6"/>
                </a:solidFill>
                <a:latin typeface="Calibri"/>
                <a:ea typeface="Calibri"/>
                <a:cs typeface="Calibri"/>
              </a:rPr>
              <a:t>Benefits and measurable value</a:t>
            </a:r>
            <a:endParaRPr sz="4000" b="1" dirty="0">
              <a:solidFill>
                <a:srgbClr val="704EA6"/>
              </a:solidFill>
            </a:endParaRPr>
          </a:p>
        </p:txBody>
      </p:sp>
      <p:sp>
        <p:nvSpPr>
          <p:cNvPr id="4" name="Rectangle: Rounded Corners 3">
            <a:extLst>
              <a:ext uri="{FF2B5EF4-FFF2-40B4-BE49-F238E27FC236}">
                <a16:creationId xmlns:a16="http://schemas.microsoft.com/office/drawing/2014/main" id="{708F3433-310C-4B58-B452-6623A633DE11}"/>
              </a:ext>
            </a:extLst>
          </p:cNvPr>
          <p:cNvSpPr>
            <a:spLocks noGrp="1"/>
          </p:cNvSpPr>
          <p:nvPr/>
        </p:nvSpPr>
        <p:spPr>
          <a:xfrm>
            <a:off x="857250" y="1717150"/>
            <a:ext cx="3143250" cy="1428750"/>
          </a:xfrm>
          <a:prstGeom prst="roundRect">
            <a:avLst>
              <a:gd name="adj" fmla="val 8000"/>
            </a:avLst>
          </a:prstGeom>
          <a:solidFill>
            <a:srgbClr val="F5F2FB"/>
          </a:solidFill>
          <a:ln w="11430">
            <a:solidFill>
              <a:srgbClr val="D9D3F0"/>
            </a:solidFill>
            <a:prstDash val="solid"/>
          </a:ln>
        </p:spPr>
        <p:txBody>
          <a:bodyPr>
            <a:normAutofit/>
          </a:bodyPr>
          <a:lstStyle/>
          <a:p>
            <a:pPr algn="ctr">
              <a:defRPr sz="1575" b="0">
                <a:solidFill>
                  <a:srgbClr val="14142B"/>
                </a:solidFill>
                <a:latin typeface="Calibri"/>
                <a:ea typeface="Calibri"/>
                <a:cs typeface="Calibri"/>
              </a:defRPr>
            </a:pPr>
            <a:r>
              <a:rPr sz="2000" b="0" dirty="0">
                <a:solidFill>
                  <a:srgbClr val="14142B"/>
                </a:solidFill>
                <a:latin typeface="Calibri"/>
                <a:ea typeface="Calibri"/>
                <a:cs typeface="Calibri"/>
              </a:rPr>
              <a:t>Customer benefit</a:t>
            </a:r>
          </a:p>
          <a:p>
            <a:pPr algn="ctr">
              <a:defRPr sz="1575" b="0">
                <a:solidFill>
                  <a:srgbClr val="14142B"/>
                </a:solidFill>
                <a:latin typeface="Calibri"/>
                <a:ea typeface="Calibri"/>
                <a:cs typeface="Calibri"/>
              </a:defRPr>
            </a:pPr>
            <a:r>
              <a:rPr b="0" dirty="0">
                <a:solidFill>
                  <a:srgbClr val="14142B"/>
                </a:solidFill>
                <a:latin typeface="Calibri"/>
                <a:ea typeface="Calibri"/>
                <a:cs typeface="Calibri"/>
              </a:rPr>
              <a:t>Exact Settings routes reduce navigation effort. Multi-issue complaints receive separate ordered plans.</a:t>
            </a:r>
          </a:p>
        </p:txBody>
      </p:sp>
      <p:sp>
        <p:nvSpPr>
          <p:cNvPr id="5" name="Rectangle: Rounded Corners 4">
            <a:extLst>
              <a:ext uri="{FF2B5EF4-FFF2-40B4-BE49-F238E27FC236}">
                <a16:creationId xmlns:a16="http://schemas.microsoft.com/office/drawing/2014/main" id="{2CCD343A-0541-433D-BCE4-FCE69363DE51}"/>
              </a:ext>
            </a:extLst>
          </p:cNvPr>
          <p:cNvSpPr>
            <a:spLocks noGrp="1"/>
          </p:cNvSpPr>
          <p:nvPr/>
        </p:nvSpPr>
        <p:spPr>
          <a:xfrm>
            <a:off x="4524375" y="1717150"/>
            <a:ext cx="3143250" cy="1428750"/>
          </a:xfrm>
          <a:prstGeom prst="roundRect">
            <a:avLst>
              <a:gd name="adj" fmla="val 8000"/>
            </a:avLst>
          </a:prstGeom>
          <a:solidFill>
            <a:srgbClr val="F5F2FB"/>
          </a:solidFill>
          <a:ln w="11430">
            <a:solidFill>
              <a:srgbClr val="D9D3F0"/>
            </a:solidFill>
            <a:prstDash val="solid"/>
          </a:ln>
        </p:spPr>
        <p:txBody>
          <a:bodyPr>
            <a:normAutofit/>
          </a:bodyPr>
          <a:lstStyle/>
          <a:p>
            <a:pPr algn="ctr">
              <a:defRPr sz="1575" b="0">
                <a:solidFill>
                  <a:srgbClr val="14142B"/>
                </a:solidFill>
                <a:latin typeface="Calibri"/>
                <a:ea typeface="Calibri"/>
                <a:cs typeface="Calibri"/>
              </a:defRPr>
            </a:pPr>
            <a:r>
              <a:rPr sz="2000" b="0" dirty="0">
                <a:solidFill>
                  <a:srgbClr val="14142B"/>
                </a:solidFill>
                <a:latin typeface="Calibri"/>
                <a:ea typeface="Calibri"/>
                <a:cs typeface="Calibri"/>
              </a:rPr>
              <a:t>Support benefit</a:t>
            </a:r>
          </a:p>
          <a:p>
            <a:pPr algn="ctr">
              <a:defRPr sz="1575" b="0">
                <a:solidFill>
                  <a:srgbClr val="14142B"/>
                </a:solidFill>
                <a:latin typeface="Calibri"/>
                <a:ea typeface="Calibri"/>
                <a:cs typeface="Calibri"/>
              </a:defRPr>
            </a:pPr>
            <a:r>
              <a:rPr sz="1575" b="0" dirty="0">
                <a:solidFill>
                  <a:srgbClr val="14142B"/>
                </a:solidFill>
                <a:latin typeface="Calibri"/>
                <a:ea typeface="Calibri"/>
                <a:cs typeface="Calibri"/>
              </a:rPr>
              <a:t>Grounded steps improve consistency. Evidence IDs and named fallbacks make every response auditable.</a:t>
            </a:r>
          </a:p>
        </p:txBody>
      </p:sp>
      <p:sp>
        <p:nvSpPr>
          <p:cNvPr id="6" name="Rectangle: Rounded Corners 5">
            <a:extLst>
              <a:ext uri="{FF2B5EF4-FFF2-40B4-BE49-F238E27FC236}">
                <a16:creationId xmlns:a16="http://schemas.microsoft.com/office/drawing/2014/main" id="{C5FECAEE-EF79-4F5F-A2B4-E367371AB175}"/>
              </a:ext>
            </a:extLst>
          </p:cNvPr>
          <p:cNvSpPr>
            <a:spLocks noGrp="1"/>
          </p:cNvSpPr>
          <p:nvPr/>
        </p:nvSpPr>
        <p:spPr>
          <a:xfrm>
            <a:off x="8191500" y="1717150"/>
            <a:ext cx="3143250" cy="1428750"/>
          </a:xfrm>
          <a:prstGeom prst="roundRect">
            <a:avLst>
              <a:gd name="adj" fmla="val 8000"/>
            </a:avLst>
          </a:prstGeom>
          <a:solidFill>
            <a:srgbClr val="F5F2FB"/>
          </a:solidFill>
          <a:ln w="11430">
            <a:solidFill>
              <a:srgbClr val="D9D3F0"/>
            </a:solidFill>
            <a:prstDash val="solid"/>
          </a:ln>
        </p:spPr>
        <p:txBody>
          <a:bodyPr>
            <a:normAutofit/>
          </a:bodyPr>
          <a:lstStyle/>
          <a:p>
            <a:pPr algn="ctr">
              <a:defRPr sz="1575" b="0">
                <a:solidFill>
                  <a:srgbClr val="14142B"/>
                </a:solidFill>
                <a:latin typeface="Calibri"/>
                <a:ea typeface="Calibri"/>
                <a:cs typeface="Calibri"/>
              </a:defRPr>
            </a:pPr>
            <a:r>
              <a:rPr sz="2000" b="0" dirty="0">
                <a:solidFill>
                  <a:srgbClr val="14142B"/>
                </a:solidFill>
                <a:latin typeface="Calibri"/>
                <a:ea typeface="Calibri"/>
                <a:cs typeface="Calibri"/>
              </a:rPr>
              <a:t>Platform benefit</a:t>
            </a:r>
          </a:p>
          <a:p>
            <a:pPr algn="ctr">
              <a:defRPr sz="1575" b="0">
                <a:solidFill>
                  <a:srgbClr val="14142B"/>
                </a:solidFill>
                <a:latin typeface="Calibri"/>
                <a:ea typeface="Calibri"/>
                <a:cs typeface="Calibri"/>
              </a:defRPr>
            </a:pPr>
            <a:r>
              <a:rPr sz="1575" b="0" dirty="0">
                <a:solidFill>
                  <a:srgbClr val="14142B"/>
                </a:solidFill>
                <a:latin typeface="Calibri"/>
                <a:ea typeface="Calibri"/>
                <a:cs typeface="Calibri"/>
              </a:rPr>
              <a:t>Validated caching reduces repeat latency and model usage. The data-driven catalog supports new scenarios without new code paths.</a:t>
            </a:r>
          </a:p>
        </p:txBody>
      </p:sp>
      <p:sp>
        <p:nvSpPr>
          <p:cNvPr id="7" name="Straight Connector 6">
            <a:extLst>
              <a:ext uri="{FF2B5EF4-FFF2-40B4-BE49-F238E27FC236}">
                <a16:creationId xmlns:a16="http://schemas.microsoft.com/office/drawing/2014/main" id="{63335D01-9656-4AAC-BC01-7B5E9A6492E1}"/>
              </a:ext>
            </a:extLst>
          </p:cNvPr>
          <p:cNvSpPr>
            <a:spLocks noGrp="1"/>
          </p:cNvSpPr>
          <p:nvPr/>
        </p:nvSpPr>
        <p:spPr>
          <a:xfrm>
            <a:off x="857250" y="3762375"/>
            <a:ext cx="10477500" cy="0"/>
          </a:xfrm>
          <a:prstGeom prst="line">
            <a:avLst/>
          </a:prstGeom>
          <a:noFill/>
          <a:ln w="19050">
            <a:solidFill>
              <a:srgbClr val="14142B"/>
            </a:solidFill>
            <a:prstDash val="solid"/>
          </a:ln>
        </p:spPr>
        <p:txBody>
          <a:bodyPr/>
          <a:lstStyle/>
          <a:p>
            <a:endParaRPr lang="en-IN"/>
          </a:p>
        </p:txBody>
      </p:sp>
      <p:sp>
        <p:nvSpPr>
          <p:cNvPr id="8" name="Rectangle 7">
            <a:extLst>
              <a:ext uri="{FF2B5EF4-FFF2-40B4-BE49-F238E27FC236}">
                <a16:creationId xmlns:a16="http://schemas.microsoft.com/office/drawing/2014/main" id="{CFC01BB3-0130-4DB6-94EC-FD7A8BB59D2D}"/>
              </a:ext>
            </a:extLst>
          </p:cNvPr>
          <p:cNvSpPr>
            <a:spLocks noGrp="1"/>
          </p:cNvSpPr>
          <p:nvPr/>
        </p:nvSpPr>
        <p:spPr>
          <a:xfrm>
            <a:off x="1483368" y="4475368"/>
            <a:ext cx="5034264" cy="1479137"/>
          </a:xfrm>
          <a:prstGeom prst="rect">
            <a:avLst/>
          </a:prstGeom>
          <a:noFill/>
          <a:ln w="0">
            <a:noFill/>
          </a:ln>
        </p:spPr>
        <p:txBody>
          <a:bodyPr>
            <a:noAutofit/>
          </a:bodyPr>
          <a:lstStyle/>
          <a:p>
            <a:pPr algn="l">
              <a:defRPr sz="1800" b="1">
                <a:solidFill>
                  <a:srgbClr val="704EA6"/>
                </a:solidFill>
                <a:latin typeface="Calibri"/>
                <a:ea typeface="Calibri"/>
                <a:cs typeface="Calibri"/>
              </a:defRPr>
            </a:pPr>
            <a:r>
              <a:rPr sz="4400" b="1" dirty="0">
                <a:solidFill>
                  <a:srgbClr val="704EA6"/>
                </a:solidFill>
                <a:latin typeface="Calibri"/>
                <a:ea typeface="Calibri"/>
                <a:cs typeface="Calibri"/>
              </a:rPr>
              <a:t>What to prove on official data</a:t>
            </a:r>
            <a:r>
              <a:rPr lang="en-US" sz="4400" b="1" dirty="0">
                <a:solidFill>
                  <a:srgbClr val="704EA6"/>
                </a:solidFill>
                <a:latin typeface="Calibri"/>
                <a:ea typeface="Calibri"/>
                <a:cs typeface="Calibri"/>
              </a:rPr>
              <a:t>?</a:t>
            </a:r>
            <a:endParaRPr sz="4400" b="1" dirty="0">
              <a:solidFill>
                <a:srgbClr val="704EA6"/>
              </a:solidFill>
              <a:latin typeface="Calibri"/>
              <a:ea typeface="Calibri"/>
              <a:cs typeface="Calibri"/>
            </a:endParaRPr>
          </a:p>
        </p:txBody>
      </p:sp>
      <p:sp>
        <p:nvSpPr>
          <p:cNvPr id="12" name="Rectangle: Rounded Corners 11">
            <a:extLst>
              <a:ext uri="{FF2B5EF4-FFF2-40B4-BE49-F238E27FC236}">
                <a16:creationId xmlns:a16="http://schemas.microsoft.com/office/drawing/2014/main" id="{4B42BCA6-B69A-4DB9-4654-CDC0D7DDDDFF}"/>
              </a:ext>
            </a:extLst>
          </p:cNvPr>
          <p:cNvSpPr/>
          <p:nvPr/>
        </p:nvSpPr>
        <p:spPr>
          <a:xfrm>
            <a:off x="6776193" y="3999324"/>
            <a:ext cx="3201781" cy="2493551"/>
          </a:xfrm>
          <a:prstGeom prst="roundRect">
            <a:avLst/>
          </a:prstGeom>
          <a:solidFill>
            <a:srgbClr val="F5F2FB"/>
          </a:solidFill>
          <a:ln>
            <a:solidFill>
              <a:srgbClr val="F5F2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939E3897-1C58-4271-9E8C-E77336D5FF5C}"/>
              </a:ext>
            </a:extLst>
          </p:cNvPr>
          <p:cNvSpPr>
            <a:spLocks noGrp="1"/>
          </p:cNvSpPr>
          <p:nvPr/>
        </p:nvSpPr>
        <p:spPr>
          <a:xfrm>
            <a:off x="6676102" y="4285558"/>
            <a:ext cx="3401961" cy="1858755"/>
          </a:xfrm>
          <a:prstGeom prst="rect">
            <a:avLst/>
          </a:prstGeom>
          <a:noFill/>
          <a:ln w="0">
            <a:noFill/>
          </a:ln>
        </p:spPr>
        <p:txBody>
          <a:bodyPr>
            <a:noAutofit/>
          </a:bodyPr>
          <a:lstStyle/>
          <a:p>
            <a:pPr algn="ctr">
              <a:defRPr sz="1650" b="0">
                <a:solidFill>
                  <a:srgbClr val="14142B"/>
                </a:solidFill>
                <a:latin typeface="Calibri"/>
                <a:ea typeface="Calibri"/>
                <a:cs typeface="Calibri"/>
              </a:defRPr>
            </a:pPr>
            <a:r>
              <a:rPr sz="2000" b="0" dirty="0">
                <a:latin typeface="Calibri"/>
                <a:ea typeface="Calibri"/>
                <a:cs typeface="Calibri"/>
              </a:rPr>
              <a:t>Step accuracy 0–3</a:t>
            </a:r>
            <a:br>
              <a:rPr lang="en-US" sz="2000" dirty="0">
                <a:latin typeface="Calibri"/>
                <a:ea typeface="Calibri"/>
                <a:cs typeface="Calibri"/>
              </a:rPr>
            </a:br>
            <a:r>
              <a:rPr sz="2000" b="0" dirty="0">
                <a:latin typeface="Calibri"/>
                <a:ea typeface="Calibri"/>
                <a:cs typeface="Calibri"/>
              </a:rPr>
              <a:t>Deeplink relevance 0–2</a:t>
            </a:r>
            <a:br>
              <a:rPr lang="en-US" sz="2000" b="0" dirty="0">
                <a:latin typeface="Calibri"/>
                <a:ea typeface="Calibri"/>
                <a:cs typeface="Calibri"/>
              </a:rPr>
            </a:br>
            <a:r>
              <a:rPr sz="2000" b="0" dirty="0">
                <a:latin typeface="Calibri"/>
                <a:ea typeface="Calibri"/>
                <a:cs typeface="Calibri"/>
              </a:rPr>
              <a:t>Schema validity ≥99</a:t>
            </a:r>
            <a:r>
              <a:rPr lang="en-US" sz="2000" dirty="0">
                <a:latin typeface="Calibri"/>
                <a:ea typeface="Calibri"/>
                <a:cs typeface="Calibri"/>
              </a:rPr>
              <a:t>%</a:t>
            </a:r>
            <a:br>
              <a:rPr lang="en-US" sz="2000" dirty="0">
                <a:latin typeface="Calibri"/>
                <a:ea typeface="Calibri"/>
                <a:cs typeface="Calibri"/>
              </a:rPr>
            </a:br>
            <a:r>
              <a:rPr sz="2000" b="0" dirty="0">
                <a:latin typeface="Calibri"/>
                <a:ea typeface="Calibri"/>
                <a:cs typeface="Calibri"/>
              </a:rPr>
              <a:t>Cache hit P95 ≤300 </a:t>
            </a:r>
            <a:r>
              <a:rPr sz="2000" b="0" dirty="0" err="1">
                <a:latin typeface="Calibri"/>
                <a:ea typeface="Calibri"/>
                <a:cs typeface="Calibri"/>
              </a:rPr>
              <a:t>ms</a:t>
            </a:r>
            <a:br>
              <a:rPr lang="en-US" sz="2000" dirty="0">
                <a:latin typeface="Calibri"/>
                <a:ea typeface="Calibri"/>
                <a:cs typeface="Calibri"/>
              </a:rPr>
            </a:br>
            <a:r>
              <a:rPr sz="2000" b="0" dirty="0">
                <a:latin typeface="Calibri"/>
                <a:ea typeface="Calibri"/>
                <a:cs typeface="Calibri"/>
              </a:rPr>
              <a:t>Cold path P95 ≤8 s</a:t>
            </a:r>
            <a:br>
              <a:rPr lang="en-US" sz="2000" b="0" dirty="0">
                <a:latin typeface="Calibri"/>
                <a:ea typeface="Calibri"/>
                <a:cs typeface="Calibri"/>
              </a:rPr>
            </a:br>
            <a:r>
              <a:rPr sz="2000" b="0" dirty="0">
                <a:latin typeface="Calibri"/>
                <a:ea typeface="Calibri"/>
                <a:cs typeface="Calibri"/>
              </a:rPr>
              <a:t>Cost per query tracked</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pPr algn="ctr">
              <a:spcAft>
                <a:spcPts val="500"/>
              </a:spcAft>
              <a:buSzPct val="100000"/>
              <a:buNone/>
              <a:defRPr sz="3000" b="1">
                <a:solidFill>
                  <a:srgbClr val="704EA6"/>
                </a:solidFill>
                <a:latin typeface="Calibri"/>
                <a:ea typeface="Calibri"/>
                <a:cs typeface="Calibri"/>
              </a:defRPr>
            </a:pPr>
            <a:r>
              <a:rPr sz="4000" b="1" dirty="0">
                <a:solidFill>
                  <a:srgbClr val="704EA6"/>
                </a:solidFill>
                <a:latin typeface="Calibri"/>
                <a:ea typeface="Calibri"/>
                <a:cs typeface="Calibri"/>
              </a:rPr>
              <a:t>Innovation, current results, and limitations</a:t>
            </a:r>
            <a:endParaRPr sz="4000" b="1" dirty="0">
              <a:solidFill>
                <a:srgbClr val="704EA6"/>
              </a:solidFill>
            </a:endParaRPr>
          </a:p>
        </p:txBody>
      </p:sp>
      <p:sp>
        <p:nvSpPr>
          <p:cNvPr id="13" name="Rectangle: Rounded Corners 12">
            <a:extLst>
              <a:ext uri="{FF2B5EF4-FFF2-40B4-BE49-F238E27FC236}">
                <a16:creationId xmlns:a16="http://schemas.microsoft.com/office/drawing/2014/main" id="{86440A01-1733-31E1-BFE3-18ABE7E7DEF2}"/>
              </a:ext>
            </a:extLst>
          </p:cNvPr>
          <p:cNvSpPr/>
          <p:nvPr/>
        </p:nvSpPr>
        <p:spPr>
          <a:xfrm>
            <a:off x="710384" y="2014229"/>
            <a:ext cx="3201781" cy="2493551"/>
          </a:xfrm>
          <a:prstGeom prst="roundRect">
            <a:avLst/>
          </a:prstGeom>
          <a:solidFill>
            <a:srgbClr val="F5F2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4" name="Rectangle 3">
            <a:extLst>
              <a:ext uri="{FF2B5EF4-FFF2-40B4-BE49-F238E27FC236}">
                <a16:creationId xmlns:a16="http://schemas.microsoft.com/office/drawing/2014/main" id="{4B322A80-995B-4D72-9CBC-C4242C3371C1}"/>
              </a:ext>
            </a:extLst>
          </p:cNvPr>
          <p:cNvSpPr>
            <a:spLocks noGrp="1"/>
          </p:cNvSpPr>
          <p:nvPr/>
        </p:nvSpPr>
        <p:spPr>
          <a:xfrm>
            <a:off x="857250" y="1404766"/>
            <a:ext cx="2857500" cy="381000"/>
          </a:xfrm>
          <a:prstGeom prst="rect">
            <a:avLst/>
          </a:prstGeom>
          <a:noFill/>
          <a:ln w="0">
            <a:noFill/>
          </a:ln>
        </p:spPr>
        <p:txBody>
          <a:bodyPr>
            <a:noAutofit/>
          </a:bodyPr>
          <a:lstStyle/>
          <a:p>
            <a:pPr algn="ctr">
              <a:defRPr sz="1875" b="1">
                <a:solidFill>
                  <a:srgbClr val="704EA6"/>
                </a:solidFill>
                <a:latin typeface="Calibri"/>
                <a:ea typeface="Calibri"/>
                <a:cs typeface="Calibri"/>
              </a:defRPr>
            </a:pPr>
            <a:r>
              <a:rPr sz="2800" b="1" dirty="0">
                <a:solidFill>
                  <a:srgbClr val="704EA6"/>
                </a:solidFill>
                <a:latin typeface="Calibri"/>
                <a:ea typeface="Calibri"/>
                <a:cs typeface="Calibri"/>
              </a:rPr>
              <a:t>Innovation</a:t>
            </a:r>
          </a:p>
        </p:txBody>
      </p:sp>
      <p:sp>
        <p:nvSpPr>
          <p:cNvPr id="5" name="Rectangle 4">
            <a:extLst>
              <a:ext uri="{FF2B5EF4-FFF2-40B4-BE49-F238E27FC236}">
                <a16:creationId xmlns:a16="http://schemas.microsoft.com/office/drawing/2014/main" id="{5EECBC09-BD3E-48B6-BF21-0F6E24A400FE}"/>
              </a:ext>
            </a:extLst>
          </p:cNvPr>
          <p:cNvSpPr>
            <a:spLocks noGrp="1"/>
          </p:cNvSpPr>
          <p:nvPr/>
        </p:nvSpPr>
        <p:spPr>
          <a:xfrm>
            <a:off x="798258" y="2235153"/>
            <a:ext cx="3017274" cy="2051699"/>
          </a:xfrm>
          <a:prstGeom prst="rect">
            <a:avLst/>
          </a:prstGeom>
          <a:noFill/>
          <a:ln w="0">
            <a:solidFill>
              <a:schemeClr val="bg1"/>
            </a:solidFill>
          </a:ln>
        </p:spPr>
        <p:txBody>
          <a:bodyPr>
            <a:noAutofit/>
          </a:bodyPr>
          <a:lstStyle/>
          <a:p>
            <a:pPr algn="ctr">
              <a:defRPr sz="1500" b="0">
                <a:solidFill>
                  <a:srgbClr val="4E5068"/>
                </a:solidFill>
                <a:latin typeface="Calibri"/>
                <a:ea typeface="Calibri"/>
                <a:cs typeface="Calibri"/>
              </a:defRPr>
            </a:pPr>
            <a:r>
              <a:rPr sz="1900" b="0" dirty="0">
                <a:latin typeface="Calibri"/>
                <a:ea typeface="Calibri"/>
                <a:cs typeface="Calibri"/>
              </a:rPr>
              <a:t>Multi-issue complaints can return several grounded contexts. The cache accepts only plans that passed every deterministic check. The model provider remains swappable.</a:t>
            </a:r>
          </a:p>
        </p:txBody>
      </p:sp>
      <p:sp>
        <p:nvSpPr>
          <p:cNvPr id="6" name="Rectangle 5">
            <a:extLst>
              <a:ext uri="{FF2B5EF4-FFF2-40B4-BE49-F238E27FC236}">
                <a16:creationId xmlns:a16="http://schemas.microsoft.com/office/drawing/2014/main" id="{DAC1CBCC-5987-4107-90AE-11CA4F746210}"/>
              </a:ext>
            </a:extLst>
          </p:cNvPr>
          <p:cNvSpPr>
            <a:spLocks noGrp="1"/>
          </p:cNvSpPr>
          <p:nvPr/>
        </p:nvSpPr>
        <p:spPr>
          <a:xfrm>
            <a:off x="4319587" y="1404764"/>
            <a:ext cx="3362325" cy="381000"/>
          </a:xfrm>
          <a:prstGeom prst="rect">
            <a:avLst/>
          </a:prstGeom>
          <a:noFill/>
          <a:ln w="0">
            <a:noFill/>
          </a:ln>
        </p:spPr>
        <p:txBody>
          <a:bodyPr>
            <a:noAutofit/>
          </a:bodyPr>
          <a:lstStyle/>
          <a:p>
            <a:pPr algn="ctr">
              <a:defRPr sz="1875" b="1">
                <a:solidFill>
                  <a:srgbClr val="0D6A4B"/>
                </a:solidFill>
                <a:latin typeface="Calibri"/>
                <a:ea typeface="Calibri"/>
                <a:cs typeface="Calibri"/>
              </a:defRPr>
            </a:pPr>
            <a:r>
              <a:rPr sz="2800" b="1" dirty="0">
                <a:solidFill>
                  <a:srgbClr val="0D6A4B"/>
                </a:solidFill>
                <a:latin typeface="Calibri"/>
                <a:ea typeface="Calibri"/>
                <a:cs typeface="Calibri"/>
              </a:rPr>
              <a:t>Synthetic benchmark</a:t>
            </a:r>
          </a:p>
        </p:txBody>
      </p:sp>
      <p:sp>
        <p:nvSpPr>
          <p:cNvPr id="15" name="Rectangle: Rounded Corners 14">
            <a:extLst>
              <a:ext uri="{FF2B5EF4-FFF2-40B4-BE49-F238E27FC236}">
                <a16:creationId xmlns:a16="http://schemas.microsoft.com/office/drawing/2014/main" id="{80B23861-3BE4-9E21-85A8-C0C542BCC86F}"/>
              </a:ext>
            </a:extLst>
          </p:cNvPr>
          <p:cNvSpPr/>
          <p:nvPr/>
        </p:nvSpPr>
        <p:spPr>
          <a:xfrm>
            <a:off x="4467070" y="1998706"/>
            <a:ext cx="3068432" cy="2509075"/>
          </a:xfrm>
          <a:prstGeom prst="roundRect">
            <a:avLst/>
          </a:prstGeom>
          <a:solidFill>
            <a:srgbClr val="F5F2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7" name="Rectangle 6">
            <a:extLst>
              <a:ext uri="{FF2B5EF4-FFF2-40B4-BE49-F238E27FC236}">
                <a16:creationId xmlns:a16="http://schemas.microsoft.com/office/drawing/2014/main" id="{85C919AA-592C-4DC4-845A-F8A5BD277FE9}"/>
              </a:ext>
            </a:extLst>
          </p:cNvPr>
          <p:cNvSpPr>
            <a:spLocks noGrp="1"/>
          </p:cNvSpPr>
          <p:nvPr/>
        </p:nvSpPr>
        <p:spPr>
          <a:xfrm>
            <a:off x="4560323" y="2330479"/>
            <a:ext cx="2880852" cy="1724502"/>
          </a:xfrm>
          <a:prstGeom prst="rect">
            <a:avLst/>
          </a:prstGeom>
          <a:noFill/>
          <a:ln w="0">
            <a:solidFill>
              <a:schemeClr val="bg1"/>
            </a:solidFill>
          </a:ln>
        </p:spPr>
        <p:txBody>
          <a:bodyPr>
            <a:noAutofit/>
          </a:bodyPr>
          <a:lstStyle/>
          <a:p>
            <a:pPr algn="ctr">
              <a:defRPr sz="1575" b="0">
                <a:solidFill>
                  <a:srgbClr val="14142B"/>
                </a:solidFill>
                <a:latin typeface="Calibri"/>
                <a:ea typeface="Calibri"/>
                <a:cs typeface="Calibri"/>
              </a:defRPr>
            </a:pPr>
            <a:r>
              <a:rPr sz="1900" b="0" dirty="0">
                <a:latin typeface="Calibri"/>
                <a:ea typeface="Calibri"/>
                <a:cs typeface="Calibri"/>
              </a:rPr>
              <a:t>33 paraphrase scenarios</a:t>
            </a:r>
          </a:p>
          <a:p>
            <a:pPr algn="ctr">
              <a:defRPr sz="1575" b="0">
                <a:solidFill>
                  <a:srgbClr val="14142B"/>
                </a:solidFill>
                <a:latin typeface="Calibri"/>
                <a:ea typeface="Calibri"/>
                <a:cs typeface="Calibri"/>
              </a:defRPr>
            </a:pPr>
            <a:r>
              <a:rPr sz="1900" b="0" dirty="0">
                <a:latin typeface="Calibri"/>
                <a:ea typeface="Calibri"/>
                <a:cs typeface="Calibri"/>
              </a:rPr>
              <a:t>100% top-1 plan match</a:t>
            </a:r>
          </a:p>
          <a:p>
            <a:pPr algn="ctr">
              <a:defRPr sz="1575" b="0">
                <a:solidFill>
                  <a:srgbClr val="14142B"/>
                </a:solidFill>
                <a:latin typeface="Calibri"/>
                <a:ea typeface="Calibri"/>
                <a:cs typeface="Calibri"/>
              </a:defRPr>
            </a:pPr>
            <a:r>
              <a:rPr sz="1900" b="0" dirty="0">
                <a:latin typeface="Calibri"/>
                <a:ea typeface="Calibri"/>
                <a:cs typeface="Calibri"/>
              </a:rPr>
              <a:t>100% schema validity</a:t>
            </a:r>
          </a:p>
          <a:p>
            <a:pPr algn="ctr">
              <a:defRPr sz="1575" b="0">
                <a:solidFill>
                  <a:srgbClr val="14142B"/>
                </a:solidFill>
                <a:latin typeface="Calibri"/>
                <a:ea typeface="Calibri"/>
                <a:cs typeface="Calibri"/>
              </a:defRPr>
            </a:pPr>
            <a:r>
              <a:rPr sz="1900" b="0" dirty="0">
                <a:latin typeface="Calibri"/>
                <a:ea typeface="Calibri"/>
                <a:cs typeface="Calibri"/>
              </a:rPr>
              <a:t>100% catalog-valid </a:t>
            </a:r>
            <a:r>
              <a:rPr sz="1900" b="0" dirty="0" err="1">
                <a:latin typeface="Calibri"/>
                <a:ea typeface="Calibri"/>
                <a:cs typeface="Calibri"/>
              </a:rPr>
              <a:t>deeplinks</a:t>
            </a:r>
            <a:endParaRPr sz="1900" b="0" dirty="0">
              <a:latin typeface="Calibri"/>
              <a:ea typeface="Calibri"/>
              <a:cs typeface="Calibri"/>
            </a:endParaRPr>
          </a:p>
          <a:p>
            <a:pPr algn="ctr">
              <a:defRPr sz="1575" b="0">
                <a:solidFill>
                  <a:srgbClr val="14142B"/>
                </a:solidFill>
                <a:latin typeface="Calibri"/>
                <a:ea typeface="Calibri"/>
                <a:cs typeface="Calibri"/>
              </a:defRPr>
            </a:pPr>
            <a:r>
              <a:rPr sz="1900" b="0" dirty="0">
                <a:latin typeface="Calibri"/>
                <a:ea typeface="Calibri"/>
                <a:cs typeface="Calibri"/>
              </a:rPr>
              <a:t>&lt;1 </a:t>
            </a:r>
            <a:r>
              <a:rPr sz="1900" b="0" dirty="0" err="1">
                <a:latin typeface="Calibri"/>
                <a:ea typeface="Calibri"/>
                <a:cs typeface="Calibri"/>
              </a:rPr>
              <a:t>ms</a:t>
            </a:r>
            <a:r>
              <a:rPr sz="1900" b="0" dirty="0">
                <a:latin typeface="Calibri"/>
                <a:ea typeface="Calibri"/>
                <a:cs typeface="Calibri"/>
              </a:rPr>
              <a:t> local cache P95</a:t>
            </a:r>
          </a:p>
        </p:txBody>
      </p:sp>
      <p:sp>
        <p:nvSpPr>
          <p:cNvPr id="8" name="Rectangle 7">
            <a:extLst>
              <a:ext uri="{FF2B5EF4-FFF2-40B4-BE49-F238E27FC236}">
                <a16:creationId xmlns:a16="http://schemas.microsoft.com/office/drawing/2014/main" id="{E5BB876E-817A-4C6E-8302-446AA46177D0}"/>
              </a:ext>
            </a:extLst>
          </p:cNvPr>
          <p:cNvSpPr>
            <a:spLocks noGrp="1"/>
          </p:cNvSpPr>
          <p:nvPr/>
        </p:nvSpPr>
        <p:spPr>
          <a:xfrm>
            <a:off x="8191500" y="1404764"/>
            <a:ext cx="2857500" cy="381000"/>
          </a:xfrm>
          <a:prstGeom prst="rect">
            <a:avLst/>
          </a:prstGeom>
          <a:noFill/>
          <a:ln w="0">
            <a:noFill/>
          </a:ln>
        </p:spPr>
        <p:txBody>
          <a:bodyPr>
            <a:noAutofit/>
          </a:bodyPr>
          <a:lstStyle/>
          <a:p>
            <a:pPr algn="ctr">
              <a:defRPr sz="1875" b="1">
                <a:solidFill>
                  <a:srgbClr val="A32929"/>
                </a:solidFill>
                <a:latin typeface="Calibri"/>
                <a:ea typeface="Calibri"/>
                <a:cs typeface="Calibri"/>
              </a:defRPr>
            </a:pPr>
            <a:r>
              <a:rPr sz="2800" b="1" dirty="0">
                <a:solidFill>
                  <a:srgbClr val="A32929"/>
                </a:solidFill>
                <a:latin typeface="Calibri"/>
                <a:ea typeface="Calibri"/>
                <a:cs typeface="Calibri"/>
              </a:rPr>
              <a:t>Limitations</a:t>
            </a:r>
          </a:p>
        </p:txBody>
      </p:sp>
      <p:sp>
        <p:nvSpPr>
          <p:cNvPr id="17" name="Rectangle: Rounded Corners 16">
            <a:extLst>
              <a:ext uri="{FF2B5EF4-FFF2-40B4-BE49-F238E27FC236}">
                <a16:creationId xmlns:a16="http://schemas.microsoft.com/office/drawing/2014/main" id="{35A2237C-3B13-5E88-7FB1-CA7ADE131053}"/>
              </a:ext>
            </a:extLst>
          </p:cNvPr>
          <p:cNvSpPr/>
          <p:nvPr/>
        </p:nvSpPr>
        <p:spPr>
          <a:xfrm>
            <a:off x="7905750" y="1993494"/>
            <a:ext cx="3143250" cy="2493548"/>
          </a:xfrm>
          <a:prstGeom prst="roundRect">
            <a:avLst/>
          </a:prstGeom>
          <a:solidFill>
            <a:srgbClr val="F5F2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chemeClr val="bg1"/>
                </a:solidFill>
              </a:ln>
            </a:endParaRPr>
          </a:p>
        </p:txBody>
      </p:sp>
      <p:sp>
        <p:nvSpPr>
          <p:cNvPr id="9" name="Rectangle 8">
            <a:extLst>
              <a:ext uri="{FF2B5EF4-FFF2-40B4-BE49-F238E27FC236}">
                <a16:creationId xmlns:a16="http://schemas.microsoft.com/office/drawing/2014/main" id="{F696D349-04E2-4BB5-98B4-E8504588DA6F}"/>
              </a:ext>
            </a:extLst>
          </p:cNvPr>
          <p:cNvSpPr>
            <a:spLocks noGrp="1"/>
          </p:cNvSpPr>
          <p:nvPr/>
        </p:nvSpPr>
        <p:spPr>
          <a:xfrm>
            <a:off x="7965358" y="2143124"/>
            <a:ext cx="3044314" cy="2143728"/>
          </a:xfrm>
          <a:prstGeom prst="rect">
            <a:avLst/>
          </a:prstGeom>
          <a:noFill/>
          <a:ln w="0">
            <a:solidFill>
              <a:schemeClr val="bg1"/>
            </a:solidFill>
          </a:ln>
        </p:spPr>
        <p:txBody>
          <a:bodyPr>
            <a:noAutofit/>
          </a:bodyPr>
          <a:lstStyle/>
          <a:p>
            <a:pPr algn="ctr">
              <a:defRPr sz="1500" b="0">
                <a:solidFill>
                  <a:srgbClr val="4E5068"/>
                </a:solidFill>
                <a:latin typeface="Calibri"/>
                <a:ea typeface="Calibri"/>
                <a:cs typeface="Calibri"/>
              </a:defRPr>
            </a:pPr>
            <a:r>
              <a:rPr sz="1900" b="0" dirty="0">
                <a:latin typeface="Calibri"/>
                <a:ea typeface="Calibri"/>
                <a:cs typeface="Calibri"/>
              </a:rPr>
              <a:t>Official starter assets were not attached. Current numbers are illustrative and cannot predict hidden-test results. The two-stage path requires a permitted model endpoint for the live demo.</a:t>
            </a:r>
          </a:p>
        </p:txBody>
      </p:sp>
      <p:sp>
        <p:nvSpPr>
          <p:cNvPr id="10" name="Straight Connector 9">
            <a:extLst>
              <a:ext uri="{FF2B5EF4-FFF2-40B4-BE49-F238E27FC236}">
                <a16:creationId xmlns:a16="http://schemas.microsoft.com/office/drawing/2014/main" id="{2BFF151B-2CF5-4A2C-95E8-99CB705732FE}"/>
              </a:ext>
            </a:extLst>
          </p:cNvPr>
          <p:cNvSpPr>
            <a:spLocks noGrp="1"/>
          </p:cNvSpPr>
          <p:nvPr/>
        </p:nvSpPr>
        <p:spPr>
          <a:xfrm>
            <a:off x="857250" y="4789848"/>
            <a:ext cx="10477500" cy="0"/>
          </a:xfrm>
          <a:prstGeom prst="line">
            <a:avLst/>
          </a:prstGeom>
          <a:noFill/>
          <a:ln w="19050">
            <a:solidFill>
              <a:srgbClr val="14142B"/>
            </a:solidFill>
            <a:prstDash val="solid"/>
          </a:ln>
        </p:spPr>
        <p:txBody>
          <a:bodyPr/>
          <a:lstStyle/>
          <a:p>
            <a:endParaRPr lang="en-IN"/>
          </a:p>
        </p:txBody>
      </p:sp>
      <p:sp>
        <p:nvSpPr>
          <p:cNvPr id="11" name="Rectangle 10">
            <a:extLst>
              <a:ext uri="{FF2B5EF4-FFF2-40B4-BE49-F238E27FC236}">
                <a16:creationId xmlns:a16="http://schemas.microsoft.com/office/drawing/2014/main" id="{81197AE1-E8FB-4614-8823-C36CE1186BA7}"/>
              </a:ext>
            </a:extLst>
          </p:cNvPr>
          <p:cNvSpPr>
            <a:spLocks noGrp="1"/>
          </p:cNvSpPr>
          <p:nvPr/>
        </p:nvSpPr>
        <p:spPr>
          <a:xfrm>
            <a:off x="857250" y="4975737"/>
            <a:ext cx="10287000" cy="666750"/>
          </a:xfrm>
          <a:prstGeom prst="rect">
            <a:avLst/>
          </a:prstGeom>
          <a:noFill/>
          <a:ln w="0">
            <a:noFill/>
          </a:ln>
        </p:spPr>
        <p:txBody>
          <a:bodyPr>
            <a:noAutofit/>
          </a:bodyPr>
          <a:lstStyle/>
          <a:p>
            <a:pPr algn="ctr">
              <a:defRPr sz="1650" b="1">
                <a:solidFill>
                  <a:srgbClr val="14142B"/>
                </a:solidFill>
                <a:latin typeface="Calibri"/>
                <a:ea typeface="Calibri"/>
                <a:cs typeface="Calibri"/>
              </a:defRPr>
            </a:pPr>
            <a:r>
              <a:rPr sz="2000" b="1" dirty="0">
                <a:solidFill>
                  <a:srgbClr val="14142B"/>
                </a:solidFill>
                <a:latin typeface="Calibri"/>
                <a:ea typeface="Calibri"/>
                <a:cs typeface="Calibri"/>
              </a:rPr>
              <a:t>Verification: 13 automated tests pass, including two-stage transport, hallucinated URI rejection, official-data normalization, routing, and catalog integrity.</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2183B84-4C84-0024-75D3-3A7823454B32}"/>
              </a:ext>
            </a:extLst>
          </p:cNvPr>
          <p:cNvSpPr/>
          <p:nvPr/>
        </p:nvSpPr>
        <p:spPr>
          <a:xfrm>
            <a:off x="838200" y="2333625"/>
            <a:ext cx="4067174" cy="2809876"/>
          </a:xfrm>
          <a:prstGeom prst="roundRect">
            <a:avLst/>
          </a:prstGeom>
          <a:solidFill>
            <a:srgbClr val="F5F2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pPr algn="ctr">
              <a:spcAft>
                <a:spcPts val="500"/>
              </a:spcAft>
              <a:buSzPct val="100000"/>
              <a:buNone/>
              <a:defRPr sz="3150" b="1">
                <a:solidFill>
                  <a:srgbClr val="704EA6"/>
                </a:solidFill>
                <a:latin typeface="Calibri"/>
                <a:ea typeface="Calibri"/>
                <a:cs typeface="Calibri"/>
              </a:defRPr>
            </a:pPr>
            <a:r>
              <a:rPr sz="4000" b="1" dirty="0">
                <a:solidFill>
                  <a:srgbClr val="704EA6"/>
                </a:solidFill>
                <a:latin typeface="Calibri"/>
                <a:ea typeface="Calibri"/>
                <a:cs typeface="Calibri"/>
              </a:rPr>
              <a:t>Feasibility and viability</a:t>
            </a:r>
            <a:endParaRPr sz="4000" b="1" dirty="0">
              <a:solidFill>
                <a:srgbClr val="704EA6"/>
              </a:solidFill>
            </a:endParaRPr>
          </a:p>
        </p:txBody>
      </p:sp>
      <p:sp>
        <p:nvSpPr>
          <p:cNvPr id="4" name="Rectangle 3">
            <a:extLst>
              <a:ext uri="{FF2B5EF4-FFF2-40B4-BE49-F238E27FC236}">
                <a16:creationId xmlns:a16="http://schemas.microsoft.com/office/drawing/2014/main" id="{45A25CA3-1411-4C39-B624-065285403957}"/>
              </a:ext>
            </a:extLst>
          </p:cNvPr>
          <p:cNvSpPr>
            <a:spLocks noGrp="1"/>
          </p:cNvSpPr>
          <p:nvPr/>
        </p:nvSpPr>
        <p:spPr>
          <a:xfrm>
            <a:off x="544914" y="1714500"/>
            <a:ext cx="4720422" cy="428625"/>
          </a:xfrm>
          <a:prstGeom prst="rect">
            <a:avLst/>
          </a:prstGeom>
          <a:noFill/>
          <a:ln w="0">
            <a:noFill/>
          </a:ln>
        </p:spPr>
        <p:txBody>
          <a:bodyPr>
            <a:noAutofit/>
          </a:bodyPr>
          <a:lstStyle/>
          <a:p>
            <a:pPr algn="ctr">
              <a:defRPr sz="2025" b="1">
                <a:solidFill>
                  <a:srgbClr val="0D6A4B"/>
                </a:solidFill>
                <a:latin typeface="Calibri"/>
                <a:ea typeface="Calibri"/>
                <a:cs typeface="Calibri"/>
              </a:defRPr>
            </a:pPr>
            <a:r>
              <a:rPr sz="2800" b="1" dirty="0">
                <a:solidFill>
                  <a:srgbClr val="0D6A4B"/>
                </a:solidFill>
                <a:latin typeface="Calibri"/>
                <a:ea typeface="Calibri"/>
                <a:cs typeface="Calibri"/>
              </a:rPr>
              <a:t>Technical feasibility</a:t>
            </a:r>
          </a:p>
        </p:txBody>
      </p:sp>
      <p:sp>
        <p:nvSpPr>
          <p:cNvPr id="5" name="Rectangle 4">
            <a:extLst>
              <a:ext uri="{FF2B5EF4-FFF2-40B4-BE49-F238E27FC236}">
                <a16:creationId xmlns:a16="http://schemas.microsoft.com/office/drawing/2014/main" id="{0BAA7151-282F-4646-BFDF-35CDEB4CFC5E}"/>
              </a:ext>
            </a:extLst>
          </p:cNvPr>
          <p:cNvSpPr>
            <a:spLocks noGrp="1"/>
          </p:cNvSpPr>
          <p:nvPr/>
        </p:nvSpPr>
        <p:spPr>
          <a:xfrm>
            <a:off x="910712" y="2737207"/>
            <a:ext cx="3922149" cy="2002709"/>
          </a:xfrm>
          <a:prstGeom prst="rect">
            <a:avLst/>
          </a:prstGeom>
          <a:noFill/>
          <a:ln w="0">
            <a:noFill/>
          </a:ln>
        </p:spPr>
        <p:txBody>
          <a:bodyPr>
            <a:normAutofit/>
          </a:bodyPr>
          <a:lstStyle/>
          <a:p>
            <a:pPr algn="ctr">
              <a:defRPr sz="1650" b="0">
                <a:solidFill>
                  <a:srgbClr val="4E5068"/>
                </a:solidFill>
                <a:latin typeface="Calibri"/>
                <a:ea typeface="Calibri"/>
                <a:cs typeface="Calibri"/>
              </a:defRPr>
            </a:pPr>
            <a:r>
              <a:rPr sz="2000" b="0" dirty="0">
                <a:latin typeface="Calibri"/>
                <a:ea typeface="Calibri"/>
                <a:cs typeface="Calibri"/>
              </a:rPr>
              <a:t>Working REST API and responsive interface</a:t>
            </a:r>
          </a:p>
          <a:p>
            <a:pPr algn="ctr">
              <a:defRPr sz="1650" b="0">
                <a:solidFill>
                  <a:srgbClr val="4E5068"/>
                </a:solidFill>
                <a:latin typeface="Calibri"/>
                <a:ea typeface="Calibri"/>
                <a:cs typeface="Calibri"/>
              </a:defRPr>
            </a:pPr>
            <a:r>
              <a:rPr sz="2000" b="0" dirty="0">
                <a:latin typeface="Calibri"/>
                <a:ea typeface="Calibri"/>
                <a:cs typeface="Calibri"/>
              </a:rPr>
              <a:t>13 automated tests pass</a:t>
            </a:r>
          </a:p>
          <a:p>
            <a:pPr algn="ctr">
              <a:defRPr sz="1650" b="0">
                <a:solidFill>
                  <a:srgbClr val="4E5068"/>
                </a:solidFill>
                <a:latin typeface="Calibri"/>
                <a:ea typeface="Calibri"/>
                <a:cs typeface="Calibri"/>
              </a:defRPr>
            </a:pPr>
            <a:r>
              <a:rPr sz="2000" b="0" dirty="0">
                <a:latin typeface="Calibri"/>
                <a:ea typeface="Calibri"/>
                <a:cs typeface="Calibri"/>
              </a:rPr>
              <a:t>Docker-ready deployment</a:t>
            </a:r>
          </a:p>
          <a:p>
            <a:pPr algn="ctr">
              <a:defRPr sz="1650" b="0">
                <a:solidFill>
                  <a:srgbClr val="4E5068"/>
                </a:solidFill>
                <a:latin typeface="Calibri"/>
                <a:ea typeface="Calibri"/>
                <a:cs typeface="Calibri"/>
              </a:defRPr>
            </a:pPr>
            <a:r>
              <a:rPr sz="2000" b="0" dirty="0">
                <a:latin typeface="Calibri"/>
                <a:ea typeface="Calibri"/>
                <a:cs typeface="Calibri"/>
              </a:rPr>
              <a:t>Official-data normalization utility</a:t>
            </a:r>
          </a:p>
          <a:p>
            <a:pPr algn="ctr">
              <a:defRPr sz="1650" b="0">
                <a:solidFill>
                  <a:srgbClr val="4E5068"/>
                </a:solidFill>
                <a:latin typeface="Calibri"/>
                <a:ea typeface="Calibri"/>
                <a:cs typeface="Calibri"/>
              </a:defRPr>
            </a:pPr>
            <a:r>
              <a:rPr sz="2000" b="0" dirty="0">
                <a:latin typeface="Calibri"/>
                <a:ea typeface="Calibri"/>
                <a:cs typeface="Calibri"/>
              </a:rPr>
              <a:t>Safe fallback without model access</a:t>
            </a:r>
          </a:p>
        </p:txBody>
      </p:sp>
      <p:sp>
        <p:nvSpPr>
          <p:cNvPr id="12" name="Rectangle: Rounded Corners 11">
            <a:extLst>
              <a:ext uri="{FF2B5EF4-FFF2-40B4-BE49-F238E27FC236}">
                <a16:creationId xmlns:a16="http://schemas.microsoft.com/office/drawing/2014/main" id="{091797C9-A2CA-10DE-C9EB-FD430A13423C}"/>
              </a:ext>
            </a:extLst>
          </p:cNvPr>
          <p:cNvSpPr/>
          <p:nvPr/>
        </p:nvSpPr>
        <p:spPr>
          <a:xfrm>
            <a:off x="6548437" y="2333624"/>
            <a:ext cx="4335869" cy="2809877"/>
          </a:xfrm>
          <a:prstGeom prst="roundRect">
            <a:avLst/>
          </a:prstGeom>
          <a:solidFill>
            <a:srgbClr val="F5F2F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356EF33-CE48-45E5-ABFC-3376AD83C3B0}"/>
              </a:ext>
            </a:extLst>
          </p:cNvPr>
          <p:cNvSpPr>
            <a:spLocks noGrp="1"/>
          </p:cNvSpPr>
          <p:nvPr/>
        </p:nvSpPr>
        <p:spPr>
          <a:xfrm>
            <a:off x="6096000" y="1714499"/>
            <a:ext cx="5282377" cy="428625"/>
          </a:xfrm>
          <a:prstGeom prst="rect">
            <a:avLst/>
          </a:prstGeom>
          <a:noFill/>
          <a:ln w="0">
            <a:noFill/>
          </a:ln>
        </p:spPr>
        <p:txBody>
          <a:bodyPr>
            <a:noAutofit/>
          </a:bodyPr>
          <a:lstStyle/>
          <a:p>
            <a:pPr algn="ctr">
              <a:defRPr sz="2025" b="1">
                <a:solidFill>
                  <a:srgbClr val="704EA6"/>
                </a:solidFill>
                <a:latin typeface="Calibri"/>
                <a:ea typeface="Calibri"/>
                <a:cs typeface="Calibri"/>
              </a:defRPr>
            </a:pPr>
            <a:r>
              <a:rPr sz="2800" b="1" dirty="0">
                <a:solidFill>
                  <a:srgbClr val="704EA6"/>
                </a:solidFill>
                <a:latin typeface="Calibri"/>
                <a:ea typeface="Calibri"/>
                <a:cs typeface="Calibri"/>
              </a:rPr>
              <a:t>Operational and business viability</a:t>
            </a:r>
          </a:p>
        </p:txBody>
      </p:sp>
      <p:sp>
        <p:nvSpPr>
          <p:cNvPr id="7" name="Rectangle 6">
            <a:extLst>
              <a:ext uri="{FF2B5EF4-FFF2-40B4-BE49-F238E27FC236}">
                <a16:creationId xmlns:a16="http://schemas.microsoft.com/office/drawing/2014/main" id="{BC096867-26B0-4EFC-A74A-041A93C0D362}"/>
              </a:ext>
            </a:extLst>
          </p:cNvPr>
          <p:cNvSpPr>
            <a:spLocks noGrp="1"/>
          </p:cNvSpPr>
          <p:nvPr/>
        </p:nvSpPr>
        <p:spPr>
          <a:xfrm>
            <a:off x="6569253" y="2438400"/>
            <a:ext cx="4335870" cy="2705101"/>
          </a:xfrm>
          <a:prstGeom prst="rect">
            <a:avLst/>
          </a:prstGeom>
          <a:noFill/>
          <a:ln w="0">
            <a:solidFill>
              <a:schemeClr val="bg1"/>
            </a:solidFill>
          </a:ln>
        </p:spPr>
        <p:txBody>
          <a:bodyPr>
            <a:noAutofit/>
          </a:bodyPr>
          <a:lstStyle/>
          <a:p>
            <a:pPr algn="ctr">
              <a:defRPr sz="1650" b="0">
                <a:solidFill>
                  <a:srgbClr val="4E5068"/>
                </a:solidFill>
                <a:latin typeface="Calibri"/>
                <a:ea typeface="Calibri"/>
                <a:cs typeface="Calibri"/>
              </a:defRPr>
            </a:pPr>
            <a:r>
              <a:rPr sz="1900" b="0" dirty="0">
                <a:latin typeface="Calibri"/>
                <a:ea typeface="Calibri"/>
                <a:cs typeface="Calibri"/>
              </a:rPr>
              <a:t>API boundary fits support and self-service channels</a:t>
            </a:r>
          </a:p>
          <a:p>
            <a:pPr algn="ctr">
              <a:defRPr sz="1650" b="0">
                <a:solidFill>
                  <a:srgbClr val="4E5068"/>
                </a:solidFill>
                <a:latin typeface="Calibri"/>
                <a:ea typeface="Calibri"/>
                <a:cs typeface="Calibri"/>
              </a:defRPr>
            </a:pPr>
            <a:r>
              <a:rPr sz="1900" b="0" dirty="0">
                <a:latin typeface="Calibri"/>
                <a:ea typeface="Calibri"/>
                <a:cs typeface="Calibri"/>
              </a:rPr>
              <a:t>Catalog records add scenarios without code branches</a:t>
            </a:r>
          </a:p>
          <a:p>
            <a:pPr algn="ctr">
              <a:defRPr sz="1650" b="0">
                <a:solidFill>
                  <a:srgbClr val="4E5068"/>
                </a:solidFill>
                <a:latin typeface="Calibri"/>
                <a:ea typeface="Calibri"/>
                <a:cs typeface="Calibri"/>
              </a:defRPr>
            </a:pPr>
            <a:r>
              <a:rPr sz="1900" b="0" dirty="0">
                <a:latin typeface="Calibri"/>
                <a:ea typeface="Calibri"/>
                <a:cs typeface="Calibri"/>
              </a:rPr>
              <a:t>Provider adapter avoids model lock-in</a:t>
            </a:r>
          </a:p>
          <a:p>
            <a:pPr algn="ctr">
              <a:defRPr sz="1650" b="0">
                <a:solidFill>
                  <a:srgbClr val="4E5068"/>
                </a:solidFill>
                <a:latin typeface="Calibri"/>
                <a:ea typeface="Calibri"/>
                <a:cs typeface="Calibri"/>
              </a:defRPr>
            </a:pPr>
            <a:r>
              <a:rPr sz="1900" b="0" dirty="0">
                <a:latin typeface="Calibri"/>
                <a:ea typeface="Calibri"/>
                <a:cs typeface="Calibri"/>
              </a:rPr>
              <a:t>Validated cache controls latency and repeat cost</a:t>
            </a:r>
          </a:p>
          <a:p>
            <a:pPr algn="ctr">
              <a:defRPr sz="1650" b="0">
                <a:solidFill>
                  <a:srgbClr val="4E5068"/>
                </a:solidFill>
                <a:latin typeface="Calibri"/>
                <a:ea typeface="Calibri"/>
                <a:cs typeface="Calibri"/>
              </a:defRPr>
            </a:pPr>
            <a:r>
              <a:rPr sz="1900" b="0" dirty="0">
                <a:latin typeface="Calibri"/>
                <a:ea typeface="Calibri"/>
                <a:cs typeface="Calibri"/>
              </a:rPr>
              <a:t>Metrics expose accuracy, latency, and failures</a:t>
            </a:r>
          </a:p>
        </p:txBody>
      </p:sp>
      <p:sp>
        <p:nvSpPr>
          <p:cNvPr id="8" name="Straight Connector 7">
            <a:extLst>
              <a:ext uri="{FF2B5EF4-FFF2-40B4-BE49-F238E27FC236}">
                <a16:creationId xmlns:a16="http://schemas.microsoft.com/office/drawing/2014/main" id="{A61A4D59-D1A2-4C87-9759-C4532DC9A842}"/>
              </a:ext>
            </a:extLst>
          </p:cNvPr>
          <p:cNvSpPr>
            <a:spLocks noGrp="1"/>
          </p:cNvSpPr>
          <p:nvPr/>
        </p:nvSpPr>
        <p:spPr>
          <a:xfrm>
            <a:off x="5810250" y="1619250"/>
            <a:ext cx="0" cy="3714750"/>
          </a:xfrm>
          <a:prstGeom prst="line">
            <a:avLst/>
          </a:prstGeom>
          <a:noFill/>
          <a:ln w="19050">
            <a:solidFill>
              <a:srgbClr val="14142B"/>
            </a:solidFill>
            <a:prstDash val="solid"/>
          </a:ln>
        </p:spPr>
        <p:txBody>
          <a:bodyPr/>
          <a:lstStyle/>
          <a:p>
            <a:endParaRPr lang="en-IN"/>
          </a:p>
        </p:txBody>
      </p:sp>
      <p:sp>
        <p:nvSpPr>
          <p:cNvPr id="9" name="Rectangle 8">
            <a:extLst>
              <a:ext uri="{FF2B5EF4-FFF2-40B4-BE49-F238E27FC236}">
                <a16:creationId xmlns:a16="http://schemas.microsoft.com/office/drawing/2014/main" id="{C72CFACE-8C2A-4595-B6A3-0BB55867E156}"/>
              </a:ext>
            </a:extLst>
          </p:cNvPr>
          <p:cNvSpPr>
            <a:spLocks noGrp="1"/>
          </p:cNvSpPr>
          <p:nvPr/>
        </p:nvSpPr>
        <p:spPr>
          <a:xfrm>
            <a:off x="838200" y="5710659"/>
            <a:ext cx="9906000" cy="523875"/>
          </a:xfrm>
          <a:prstGeom prst="rect">
            <a:avLst/>
          </a:prstGeom>
          <a:noFill/>
          <a:ln w="0">
            <a:noFill/>
          </a:ln>
        </p:spPr>
        <p:txBody>
          <a:bodyPr>
            <a:noAutofit/>
          </a:bodyPr>
          <a:lstStyle/>
          <a:p>
            <a:pPr algn="ctr">
              <a:defRPr sz="1500" b="1">
                <a:solidFill>
                  <a:srgbClr val="14142B"/>
                </a:solidFill>
                <a:latin typeface="Calibri"/>
                <a:ea typeface="Calibri"/>
                <a:cs typeface="Calibri"/>
              </a:defRPr>
            </a:pPr>
            <a:r>
              <a:rPr sz="2000" b="1" dirty="0">
                <a:solidFill>
                  <a:srgbClr val="14142B"/>
                </a:solidFill>
                <a:latin typeface="Calibri"/>
                <a:ea typeface="Calibri"/>
                <a:cs typeface="Calibri"/>
              </a:rPr>
              <a:t>Current boundary: official assets and an approved model endpoint are still required for competition-scale evaluation.</a:t>
            </a:r>
          </a:p>
        </p:txBody>
      </p:sp>
    </p:spTree>
    <p:extLst>
      <p:ext uri="{BB962C8B-B14F-4D97-AF65-F5344CB8AC3E}">
        <p14:creationId xmlns:p14="http://schemas.microsoft.com/office/powerpoint/2010/main" val="2095517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779</Words>
  <Application>Microsoft Office PowerPoint</Application>
  <DocSecurity>0</DocSecurity>
  <PresentationFormat>Widescreen</PresentationFormat>
  <Paragraphs>101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Theme 02 - Smart Guided Troubleshooting</vt:lpstr>
      <vt:lpstr>Existing approaches leave safety and scale gaps</vt:lpstr>
      <vt:lpstr>Architectural workflow</vt:lpstr>
      <vt:lpstr>Working prototype walkthrough</vt:lpstr>
      <vt:lpstr>Technology stack</vt:lpstr>
      <vt:lpstr>Benefits and measurable value</vt:lpstr>
      <vt:lpstr>Innovation, current results, and limitations</vt:lpstr>
      <vt:lpstr>Feasibility and viability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Akshay Pandey</cp:lastModifiedBy>
  <cp:revision>1</cp:revision>
  <dcterms:created xsi:type="dcterms:W3CDTF">2026-09-30T17:54:35Z</dcterms:created>
  <dcterms:modified xsi:type="dcterms:W3CDTF">2026-09-30T19:12:06Z</dcterms:modified>
</cp:coreProperties>
</file>